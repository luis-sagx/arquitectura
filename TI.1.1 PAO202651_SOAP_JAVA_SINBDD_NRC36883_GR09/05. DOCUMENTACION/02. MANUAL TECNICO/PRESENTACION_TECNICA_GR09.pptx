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9144000"/>
  <p:embeddedFontLst>
    <p:embeddedFont>
      <p:font typeface="Gill Sans" panose="020B0502020104020203"/>
      <p:regular r:id="rId37"/>
      <p:bold r:id="rId38"/>
    </p:embeddedFont>
    <p:embeddedFont>
      <p:font typeface="Cambria" panose="02040503050406030204"/>
      <p:regular r:id="rId39"/>
      <p:bold r:id="rId40"/>
      <p:italic r:id="rId41"/>
      <p:boldItalic r:id="rId42"/>
    </p:embeddedFont>
    <p:embeddedFont>
      <p:font typeface="Calibri" panose="020F0502020204030204"/>
      <p:regular r:id="rId43"/>
      <p:bold r:id="rId44"/>
      <p:italic r:id="rId45"/>
      <p:boldItalic r:id="rId46"/>
    </p:embeddedFont>
  </p:embeddedFontLst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1pPr>
    <a:lvl2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2pPr>
    <a:lvl3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3pPr>
    <a:lvl4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4pPr>
    <a:lvl5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5pPr>
    <a:lvl6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6pPr>
    <a:lvl7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7pPr>
    <a:lvl8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8pPr>
    <a:lvl9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8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font" Target="fonts/font10.fntdata"/><Relationship Id="rId45" Type="http://schemas.openxmlformats.org/officeDocument/2006/relationships/font" Target="fonts/font9.fntdata"/><Relationship Id="rId44" Type="http://schemas.openxmlformats.org/officeDocument/2006/relationships/font" Target="fonts/font8.fntdata"/><Relationship Id="rId43" Type="http://schemas.openxmlformats.org/officeDocument/2006/relationships/font" Target="fonts/font7.fntdata"/><Relationship Id="rId42" Type="http://schemas.openxmlformats.org/officeDocument/2006/relationships/font" Target="fonts/font6.fntdata"/><Relationship Id="rId41" Type="http://schemas.openxmlformats.org/officeDocument/2006/relationships/font" Target="fonts/font5.fntdata"/><Relationship Id="rId40" Type="http://schemas.openxmlformats.org/officeDocument/2006/relationships/font" Target="fonts/font4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3.fntdata"/><Relationship Id="rId38" Type="http://schemas.openxmlformats.org/officeDocument/2006/relationships/font" Target="fonts/font2.fntdata"/><Relationship Id="rId37" Type="http://schemas.openxmlformats.org/officeDocument/2006/relationships/font" Target="fonts/font1.fntdata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portada.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alcance y canales.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propósito y alcance.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04. SERVIDOR/WS_CON_UNI_JAVA_SOAP/README.md; pom.xml; WSConUni.java.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WSConUni.java; WS_CON_UNI_JAVA_SOAP/src/main/resources/WSConUni.wsdl.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ConversorUnidadesServices.java; Respuesta.java; README del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ConversorUnidadesServices.java; README del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Clases ec.edu.monster.pruebas del servidor y PruebaIntegracionSOAP.java.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04. CLICON/CLI_CON_UNI_JAVA_SOAP/README.md; pom.xml.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MainConsola.java; ControladorConsola.java; ClienteSoap.java; RespuestaSoap.java.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VistaConsola.java; ControladorConsola.java.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del cliente de consola; PruebaMenuConsola.java.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04. CLIESC/CLI_ESC_CON_UNI_JAVA_SOAP/README.md; pom.xml.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ControladorConversiones.java; ControladorLogin.java; modelo y vista Swing.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LoginFrame.java; VentanaConversiones.java; GestorPantallas.java.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LoginFrame.java; ControladorLogin.java.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VentanaConversiones.java; ControladorConversiones.java.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04. CLIWEB/CLI_WEB_CON_UNI_JAVA_SOAP/README.md; pom.xml; web.xml.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ConversionServlet.java; ClienteSoap.java; ConversorWebService.java.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AutenticacionServlet.java; FiltroSesion.java; FiltroCsrf.java; login.jsp.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del cliente web; pom.xml.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login.jsp; AutenticacionServlet.java.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conversor.jsp; ConversionServlet.java.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04. CLIMOV/CLI_MOV_CON_UNI_JAVA_SOAP/README.md; app/build.gradle.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 Android; modelo, vista y controladores.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ClienteSoap.java; EjecutorAndroid.java.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LoginActivity.java; ConversionesActivity.java; ControladorLogin.java; ControladorConversiones.java.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 Android; app/src/main/res/values/config.xml.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 los cuatro clientes y del servidor; 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del servidor; README de los cuatro clientes.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Diapositiva de título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5"/>
          <p:cNvSpPr>
            <a:spLocks noGrp="1"/>
          </p:cNvSpPr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Google Shape;16;p45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 panose="020B0502020104020203"/>
              <a:buNone/>
              <a:defRPr sz="36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5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5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5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5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ítulo y objetos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>
            <a:spLocks noGrp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Google Shape;23;p46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6"/>
          <p:cNvSpPr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5" name="Google Shape;25;p46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6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6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Encabezado de sección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>
            <a:spLocks noGrp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Google Shape;30;p47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 panose="020B0502020104020203"/>
              <a:buNone/>
              <a:defRPr sz="3600" b="0" cap="none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7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7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7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7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Dos objetos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>
            <a:spLocks noGrp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Google Shape;37;p48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8"/>
          <p:cNvSpPr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9" name="Google Shape;39;p48"/>
          <p:cNvSpPr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0" name="Google Shape;40;p48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8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8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ación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/>
          <p:cNvSpPr>
            <a:spLocks noGrp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" name="Google Shape;45;p49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9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/>
        </p:txBody>
      </p:sp>
      <p:sp>
        <p:nvSpPr>
          <p:cNvPr id="47" name="Google Shape;47;p49"/>
          <p:cNvSpPr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8" name="Google Shape;48;p49"/>
          <p:cNvSpPr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/>
        </p:txBody>
      </p:sp>
      <p:sp>
        <p:nvSpPr>
          <p:cNvPr id="49" name="Google Shape;49;p49"/>
          <p:cNvSpPr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0" name="Google Shape;50;p49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9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9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Solo el título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0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0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57" name="Google Shape;57;p50"/>
          <p:cNvSpPr>
            <a:spLocks noGrp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8" name="Google Shape;58;p50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En blanco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1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1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ido con título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2"/>
          <p:cNvSpPr>
            <a:spLocks noGrp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5" name="Google Shape;65;p52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 panose="020B0502020104020203"/>
              <a:buNone/>
              <a:defRPr sz="2000" b="0"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2"/>
          <p:cNvSpPr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indent="-3219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indent="-31051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52"/>
          <p:cNvSpPr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68" name="Google Shape;68;p52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2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2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Imagen con título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3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 panose="020B0502020104020203"/>
              <a:buNone/>
              <a:defRPr sz="2400" b="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3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53"/>
          <p:cNvSpPr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5" name="Google Shape;75;p53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3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3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ítulo y texto vertical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/>
          <p:cNvSpPr>
            <a:spLocks noGrp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0" name="Google Shape;80;p54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4"/>
          <p:cNvSpPr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219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2" name="Google Shape;82;p54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4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4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Título vertical y texto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/>
          <p:cNvSpPr>
            <a:spLocks noGrp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7" name="Google Shape;87;p55"/>
          <p:cNvSpPr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5"/>
          <p:cNvSpPr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9" name="Google Shape;89;p55"/>
          <p:cNvSpPr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5"/>
          <p:cNvSpPr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5"/>
          <p:cNvSpPr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  <a:defRPr sz="2800" b="0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/>
        </p:txBody>
      </p:sp>
      <p:sp>
        <p:nvSpPr>
          <p:cNvPr id="7" name="Google Shape;7;p44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marR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914400" marR="0" indent="-3219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1371600" marR="0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1828800" marR="0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2286000" marR="0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2743200" marR="0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3200400" marR="0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3657600" marR="0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4114800" marR="0" indent="-29845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/>
        </p:txBody>
      </p:sp>
      <p:sp>
        <p:nvSpPr>
          <p:cNvPr id="8" name="Google Shape;8;p44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/>
        </p:txBody>
      </p:sp>
      <p:sp>
        <p:nvSpPr>
          <p:cNvPr id="9" name="Google Shape;9;p44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/>
        </p:txBody>
      </p:sp>
      <p:sp>
        <p:nvSpPr>
          <p:cNvPr id="10" name="Google Shape;10;p44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1" name="Google Shape;11;p44"/>
          <p:cNvSpPr>
            <a:spLocks noGrp="1"/>
          </p:cNvSpPr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Google Shape;12;p44"/>
          <p:cNvSpPr>
            <a:spLocks noGrp="1"/>
          </p:cNvSpPr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Google Shape;13;p44"/>
          <p:cNvSpPr>
            <a:spLocks noGrp="1"/>
          </p:cNvSpPr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6.png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9.png"/><Relationship Id="rId2" Type="http://schemas.openxmlformats.org/officeDocument/2006/relationships/image" Target="../media/image82.png"/><Relationship Id="rId1" Type="http://schemas.openxmlformats.org/officeDocument/2006/relationships/image" Target="../media/image8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 fontScale="90345"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 panose="020B0502020104020203"/>
              <a:buNone/>
            </a:pPr>
            <a:r>
              <a:rPr>
                <a:solidFill>
                  <a:schemeClr val="lt1"/>
                </a:solidFill>
              </a:rPr>
              <a:t>MANUAL TÉCNICO</a:t>
            </a:r>
            <a:endParaRPr>
              <a:solidFill>
                <a:schemeClr val="lt1"/>
              </a:solidFill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 panose="020B0502020104020203"/>
              <a:buNone/>
            </a:pPr>
            <a:r>
              <a:rPr>
                <a:solidFill>
                  <a:schemeClr val="lt1"/>
                </a:solidFill>
              </a:rPr>
              <a:t>CONVERSOR DE UNIDADES</a:t>
            </a:r>
            <a:endParaRPr>
              <a:solidFill>
                <a:schemeClr val="lt1"/>
              </a:solidFill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 panose="020B0502020104020203"/>
              <a:buNone/>
            </a:pPr>
            <a:r>
              <a:rPr>
                <a:solidFill>
                  <a:schemeClr val="lt1"/>
                </a:solidFill>
              </a:rPr>
              <a:t>SOAP JAVA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" name="Google Shape;97;p1"/>
          <p:cNvSpPr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t>INTEGRANTES:  Parra Rosales Sebastián Enrique</a:t>
            </a:r>
            <a:endParaRPr b="1">
              <a:solidFill>
                <a:schemeClr val="lt1"/>
              </a:solidFill>
            </a:endParaRPr>
          </a:p>
          <a:p>
            <a:pPr marL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b="1">
                <a:solidFill>
                  <a:schemeClr val="lt1"/>
                </a:solidFill>
              </a:rPr>
              <a:t>Sagnay Pilamunga Luis Eduardo</a:t>
            </a:r>
            <a:endParaRPr>
              <a:solidFill>
                <a:schemeClr val="lt1"/>
              </a:solidFill>
            </a:endParaRPr>
          </a:p>
          <a:p>
            <a:pPr marL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b="1">
                <a:solidFill>
                  <a:schemeClr val="lt1"/>
                </a:solidFill>
              </a:rPr>
              <a:t>Yépez Morán Jefferson David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p1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19597" y="716302"/>
            <a:ext cx="11647502" cy="2193925"/>
          </a:xfrm>
          <a:prstGeom prst="rect">
            <a:avLst/>
          </a:prstGeom>
          <a:ln>
            <a:noFill/>
          </a:ln>
        </p:spPr>
      </p:pic>
      <p:sp>
        <p:nvSpPr>
          <p:cNvPr id="99" name="Google Shape;99;p1"/>
          <p:cNvSpPr>
            <a:spLocks noGrp="1"/>
          </p:cNvSpPr>
          <p:nvPr/>
        </p:nvSpPr>
        <p:spPr>
          <a:xfrm>
            <a:off x="7239000" y="5301806"/>
            <a:ext cx="4572000" cy="123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FECHA:  08/10/2026</a:t>
            </a:r>
            <a:endParaRPr sz="1600" b="0" i="0" u="none" strike="noStrike" cap="none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0" marR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ING: Eduardo Mauricio Campaña Ortega</a:t>
            </a:r>
            <a:endParaRPr sz="1600" b="1" i="0" u="none" strike="noStrike" cap="none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00" name="Google Shape;100;p1"/>
          <p:cNvSpPr>
            <a:spLocks noGrp="1"/>
          </p:cNvSpPr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 panose="020B0502020104020203"/>
              <a:buNone/>
            </a:pPr>
            <a:r>
              <a:rPr sz="2000" b="0" i="0" u="none" strike="noStrike" cap="none">
                <a:solidFill>
                  <a:srgbClr val="0000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>
            <a:spLocks noGrp="1"/>
          </p:cNvSpPr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 panose="020B0502020104020203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06" name="Google Shape;106;p2"/>
          <p:cNvSpPr>
            <a:spLocks noGrp="1"/>
          </p:cNvSpPr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07" name="Google Shape;107;p2"/>
          <p:cNvSpPr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 lnSpcReduction="10000"/>
          </a:bodyPr>
          <a:lstStyle/>
          <a:p>
            <a:pPr marL="306070" lvl="0" indent="-3060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DESARROLLO</a:t>
            </a:r>
            <a:endParaRPr>
              <a:solidFill>
                <a:schemeClr val="lt1"/>
              </a:solidFill>
            </a:endParaRPr>
          </a:p>
          <a:p>
            <a:pPr marL="629920" lvl="1" indent="-320040" algn="l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>
                <a:solidFill>
                  <a:schemeClr val="lt1"/>
                </a:solidFill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629920" lvl="1" indent="-320040" algn="l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>
                <a:solidFill>
                  <a:schemeClr val="lt1"/>
                </a:solidFill>
              </a:rPr>
              <a:t>CREACIÓN DEL SERVIDOR SOAP EN JAVA</a:t>
            </a:r>
            <a:endParaRPr>
              <a:solidFill>
                <a:schemeClr val="lt1"/>
              </a:solidFill>
            </a:endParaRPr>
          </a:p>
          <a:p>
            <a:pPr marL="629920" lvl="1" indent="-320040" algn="l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CONSOLA</a:t>
            </a:r>
            <a:endParaRPr sz="1800">
              <a:solidFill>
                <a:schemeClr val="lt1"/>
              </a:solidFill>
            </a:endParaRPr>
          </a:p>
          <a:p>
            <a:pPr marL="629920" lvl="1" indent="-320040" algn="l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ESCRITORIO</a:t>
            </a:r>
            <a:endParaRPr sz="1800">
              <a:solidFill>
                <a:schemeClr val="lt1"/>
              </a:solidFill>
            </a:endParaRPr>
          </a:p>
          <a:p>
            <a:pPr marL="629920" lvl="1" indent="-320040" algn="l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WEB</a:t>
            </a:r>
            <a:endParaRPr sz="1800">
              <a:solidFill>
                <a:schemeClr val="lt1"/>
              </a:solidFill>
            </a:endParaRPr>
          </a:p>
          <a:p>
            <a:pPr marL="629920" lvl="1" indent="-320040" algn="l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MÓVIL</a:t>
            </a:r>
            <a:endParaRPr sz="1800">
              <a:solidFill>
                <a:schemeClr val="lt1"/>
              </a:solidFill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CONCLUSIONES</a:t>
            </a:r>
            <a:endParaRPr>
              <a:solidFill>
                <a:schemeClr val="lt1"/>
              </a:solidFill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RECOMENDACIONES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9" name="Google Shape;109;p2"/>
          <p:cNvSpPr>
            <a:spLocks noGrp="1"/>
          </p:cNvSpPr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 panose="020B0502020104020203"/>
              <a:buNone/>
            </a:pPr>
            <a:r>
              <a:rPr sz="2000" b="0" i="0" u="none" strike="noStrike" cap="none">
                <a:solidFill>
                  <a:srgbClr val="0000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5305" y="1633855"/>
            <a:ext cx="7677785" cy="37661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115" name="Google Shape;115;p3"/>
          <p:cNvSpPr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1.1  OBJETIVO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342900" marR="0" lvl="0" indent="-23749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457200" lvl="0" indent="-33401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Implementar un servicio SOAP en Java que centralice la autenticación, el catálogo y las conversiones de longitud, masa y temperatura, para que los clientes de consola, escritorio, web y Android utilicen el mismo backend sin base de datos.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16" name="Google Shape;116;p3"/>
          <p:cNvSpPr>
            <a:spLocks noGrp="1"/>
          </p:cNvSpPr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6d00c5bd2_0_0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122" name="Google Shape;122;g2d6d00c5bd2_0_0"/>
          <p:cNvSpPr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342900" marR="0" lvl="0" indent="-358775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sz="1930" b="1">
                <a:latin typeface="Cambria" panose="02040503050406030204"/>
                <a:ea typeface="Cambria" panose="02040503050406030204"/>
                <a:cs typeface="Cambria" panose="02040503050406030204"/>
              </a:rPr>
              <a:t>1.2  SERVIDOR SOAP</a:t>
            </a:r>
            <a:endParaRPr sz="1930" b="1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342900" marR="0" lvl="0" indent="-35052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El servidor Java 21 expone WSConUni como un servicio JAX-WS empaquetado en WAR. Payara publica el endpoint y el WSDL; la lógica de autenticación, catálogo y conversiones se ejecuta en una capa de servicio separada.</a:t>
            </a:r>
            <a:endParaRPr sz="1800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23" name="Google Shape;123;g2d6d00c5bd2_0_0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7" name="image3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4986" y="3724354"/>
            <a:ext cx="3249332" cy="2164222"/>
          </a:xfrm>
          <a:prstGeom prst="rect">
            <a:avLst/>
          </a:prstGeom>
        </p:spPr>
      </p:pic>
      <p:pic>
        <p:nvPicPr>
          <p:cNvPr id="8" name="image4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53500" y="3716772"/>
            <a:ext cx="3480507" cy="2164222"/>
          </a:xfrm>
          <a:prstGeom prst="rect">
            <a:avLst/>
          </a:prstGeom>
        </p:spPr>
      </p:pic>
      <p:pic>
        <p:nvPicPr>
          <p:cNvPr id="9" name="image13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96000" y="3709191"/>
            <a:ext cx="3131854" cy="2179386"/>
          </a:xfrm>
          <a:prstGeom prst="rect">
            <a:avLst/>
          </a:prstGeom>
        </p:spPr>
      </p:pic>
      <p:sp>
        <p:nvSpPr>
          <p:cNvPr id="124" name="Fondo blanco del contenido S4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5" name="Franja superior azul S4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6" name="Acento superior 1 S4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7" name="Acento superior 2 S4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8" name="Acento superior 3 S4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9" name="Título de sección S4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30" name="Título del contenido S4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Servidor SOAP en Java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31" name="Texto del contenido S4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backend Java 21 expone WSConUni mediante JAX-WS y Maven lo empaqueta como WAR. Payara publica el endpoint y el WSDL.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560" y="2595320"/>
            <a:ext cx="3915321" cy="34675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140" name="Google Shape;140;p9"/>
          <p:cNvSpPr>
            <a:spLocks noGrp="1"/>
          </p:cNvSpPr>
          <p:nvPr>
            <p:ph type="body" idx="1"/>
          </p:nvPr>
        </p:nvSpPr>
        <p:spPr>
          <a:xfrm>
            <a:off x="581192" y="2180497"/>
            <a:ext cx="8589441" cy="1248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342900" marR="0" lvl="0" indent="-33147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sz="1350" b="1">
                <a:latin typeface="Cambria" panose="02040503050406030204"/>
                <a:ea typeface="Cambria" panose="02040503050406030204"/>
                <a:cs typeface="Cambria" panose="02040503050406030204"/>
              </a:rPr>
              <a:t>CONTRATO SOAP Y OPERACIONES</a:t>
            </a:r>
            <a:endParaRPr sz="1350" b="1"/>
          </a:p>
          <a:p>
            <a:pPr marL="457200" lvl="0" indent="-33401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endParaRPr sz="1800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457200" lvl="0" indent="-33401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sz="1300">
                <a:latin typeface="Cambria" panose="02040503050406030204"/>
                <a:ea typeface="Cambria" panose="02040503050406030204"/>
                <a:cs typeface="Cambria" panose="02040503050406030204"/>
              </a:rPr>
              <a:t>WSConUni expone autenticar, recuperarClave, obtenerCategorias, obtenerUnidades y convertir. El contrato WSDL define los parámetros y las respuestas estructuradas con estado, código y mensaje. La autenticación entrega un token; las consultas y conversiones requieren ese token.</a:t>
            </a:r>
            <a:endParaRPr sz="1800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41" name="Google Shape;141;p9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7" name="image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16342" y="3401152"/>
            <a:ext cx="2105025" cy="885825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120" y="3429000"/>
            <a:ext cx="5843760" cy="2964849"/>
          </a:xfrm>
          <a:prstGeom prst="rect">
            <a:avLst/>
          </a:prstGeom>
        </p:spPr>
      </p:pic>
      <p:sp>
        <p:nvSpPr>
          <p:cNvPr id="142" name="Fondo blanco del contenido S5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3" name="Franja superior azul S5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4" name="Acento superior 1 S5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5" name="Acento superior 2 S5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6" name="Acento superior 3 S5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7" name="Título de sección S5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48" name="Título del contenido S5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Contrato WSDL y operaciones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49" name="Texto del contenido S5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servicio ofrece autenticar, recuperarClave, obtenerCategorias, obtenerUnidades y convertir. Las respuestas incluyen estado, código y mensaje.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475" y="2117244"/>
            <a:ext cx="4991528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624313899_0_5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149" name="Google Shape;149;g2d624313899_0_5"/>
          <p:cNvSpPr>
            <a:spLocks noGrp="1"/>
          </p:cNvSpPr>
          <p:nvPr>
            <p:ph type="body" idx="1"/>
          </p:nvPr>
        </p:nvSpPr>
        <p:spPr>
          <a:xfrm>
            <a:off x="581200" y="2180500"/>
            <a:ext cx="4557900" cy="3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342900" marR="0" lvl="0" indent="-351155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sz="1675" b="1">
                <a:latin typeface="Cambria" panose="02040503050406030204"/>
                <a:ea typeface="Cambria" panose="02040503050406030204"/>
                <a:cs typeface="Cambria" panose="02040503050406030204"/>
              </a:rPr>
              <a:t>ARQUITECTURA DEL SERVIDOR</a:t>
            </a:r>
            <a:endParaRPr sz="1675" b="1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45720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675" b="1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342900" marR="0" lvl="0" indent="-351155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Noto Sans Symbols"/>
              <a:buChar char="∙"/>
            </a:pPr>
            <a:r>
              <a:rPr sz="1675">
                <a:latin typeface="Cambria" panose="02040503050406030204"/>
                <a:ea typeface="Cambria" panose="02040503050406030204"/>
                <a:cs typeface="Cambria" panose="02040503050406030204"/>
              </a:rPr>
              <a:t>WSConUni publica las operaciones SOAP y delega las reglas de negocio en ConversorUnidadesServices. Respuesta normaliza los resultados y errores. El catálogo y las sesiones se almacenan en memoria, por lo que el sistema funciona sin conexión a una base de datos.</a:t>
            </a:r>
            <a:endParaRPr sz="1675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50" name="Google Shape;150;g2d624313899_0_5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6" name="image5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749937" y="2870106"/>
            <a:ext cx="3268557" cy="2033588"/>
          </a:xfrm>
          <a:prstGeom prst="rect">
            <a:avLst/>
          </a:prstGeom>
        </p:spPr>
      </p:pic>
      <p:sp>
        <p:nvSpPr>
          <p:cNvPr id="151" name="Fondo blanco del contenido S6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2" name="Franja superior azul S6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3" name="Acento superior 1 S6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4" name="Acento superior 2 S6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5" name="Acento superior 3 S6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6" name="Título de sección S6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57" name="Título del contenido S6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Capas del servidor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58" name="Texto del contenido S6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WSConUni recibe las solicitudes SOAP y delega las reglas en ConversorUnidadesServices. Respuesta normaliza resultados y errores. No se usa base de datos.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2619375"/>
            <a:ext cx="4740910" cy="3385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624313899_0_26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165" name="Google Shape;165;g2d624313899_0_26"/>
          <p:cNvSpPr>
            <a:spLocks noGrp="1"/>
          </p:cNvSpPr>
          <p:nvPr>
            <p:ph type="body" idx="1"/>
          </p:nvPr>
        </p:nvSpPr>
        <p:spPr>
          <a:xfrm>
            <a:off x="581192" y="827236"/>
            <a:ext cx="3709200" cy="3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Cambria" panose="02040503050406030204"/>
                <a:ea typeface="Cambria" panose="02040503050406030204"/>
                <a:cs typeface="Cambria" panose="02040503050406030204"/>
              </a:rPr>
              <a:t>LÓGICA Y SEGURIDAD</a:t>
            </a:r>
            <a:endParaRPr sz="1670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90"/>
              <a:buFont typeface="Arial" panose="020B0604020202020204"/>
              <a:buNone/>
            </a:pPr>
            <a:endParaRPr sz="1670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90"/>
              <a:buFont typeface="Arial" panose="020B0604020202020204"/>
              <a:buNone/>
            </a:pPr>
            <a:r>
              <a:rPr sz="1670">
                <a:latin typeface="Cambria" panose="02040503050406030204"/>
                <a:ea typeface="Cambria" panose="02040503050406030204"/>
                <a:cs typeface="Cambria" panose="02040503050406030204"/>
              </a:rPr>
              <a:t>El servicio valida el token antes de consultar el catálogo o convertir. La sesión dura 15 minutos. El catálogo ofrece longitud, masa y temperatura; el servicio valida unidades compatibles y límites físicos antes de calcular.</a:t>
            </a:r>
            <a:endParaRPr sz="1670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66" name="Google Shape;166;g2d624313899_0_26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5414" y="2817286"/>
            <a:ext cx="4441055" cy="3615432"/>
          </a:xfrm>
          <a:prstGeom prst="rect">
            <a:avLst/>
          </a:prstGeom>
        </p:spPr>
      </p:pic>
      <p:sp>
        <p:nvSpPr>
          <p:cNvPr id="167" name="Fondo blanco del contenido S7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8" name="Franja superior azul S7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9" name="Acento superior 1 S7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0" name="Acento superior 2 S7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1" name="Acento superior 3 S7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2" name="Título de sección S7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73" name="Título del contenido S7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Autenticación y sesión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74" name="Texto del contenido S7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servidor valida el token antes de consultar o convertir. La sesión vence a los 15 minutos. El catálogo y las sesiones viven en memoria.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5" y="2322324"/>
            <a:ext cx="5055922" cy="37073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d624313899_0_7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189" name="Google Shape;189;g2d624313899_0_71"/>
          <p:cNvSpPr>
            <a:spLocks noGrp="1"/>
          </p:cNvSpPr>
          <p:nvPr>
            <p:ph type="body" idx="1"/>
          </p:nvPr>
        </p:nvSpPr>
        <p:spPr>
          <a:xfrm>
            <a:off x="684150" y="1921750"/>
            <a:ext cx="60186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4140"/>
              <a:buNone/>
            </a:pPr>
            <a:r>
              <a:rPr sz="1565" b="1">
                <a:latin typeface="Cambria" panose="02040503050406030204"/>
                <a:ea typeface="Cambria" panose="02040503050406030204"/>
                <a:cs typeface="Cambria" panose="02040503050406030204"/>
              </a:rPr>
              <a:t>PRUEBAS DEL SERVIDOR Y DEL CONTRATO SOAP</a:t>
            </a:r>
            <a:endParaRPr sz="1670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90" name="Google Shape;190;g2d624313899_0_71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9" name="image10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79863" y="2724790"/>
            <a:ext cx="3776665" cy="1345186"/>
          </a:xfrm>
          <a:prstGeom prst="rect">
            <a:avLst/>
          </a:prstGeom>
        </p:spPr>
      </p:pic>
      <p:pic>
        <p:nvPicPr>
          <p:cNvPr id="10" name="image1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71319" y="1994161"/>
            <a:ext cx="2849245" cy="2075815"/>
          </a:xfrm>
          <a:prstGeom prst="rect">
            <a:avLst/>
          </a:prstGeom>
        </p:spPr>
      </p:pic>
      <p:pic>
        <p:nvPicPr>
          <p:cNvPr id="11" name="image2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30934" y="4415104"/>
            <a:ext cx="2630216" cy="2008990"/>
          </a:xfrm>
          <a:prstGeom prst="rect">
            <a:avLst/>
          </a:prstGeom>
        </p:spPr>
      </p:pic>
      <p:pic>
        <p:nvPicPr>
          <p:cNvPr id="12" name="image46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961150" y="4415104"/>
            <a:ext cx="2761232" cy="2172650"/>
          </a:xfrm>
          <a:prstGeom prst="rect">
            <a:avLst/>
          </a:prstGeom>
        </p:spPr>
      </p:pic>
      <p:pic>
        <p:nvPicPr>
          <p:cNvPr id="13" name="image28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818100" y="4415104"/>
            <a:ext cx="2808980" cy="2070698"/>
          </a:xfrm>
          <a:prstGeom prst="rect">
            <a:avLst/>
          </a:prstGeom>
        </p:spPr>
      </p:pic>
      <p:sp>
        <p:nvSpPr>
          <p:cNvPr id="191" name="Fondo blanco del contenido S8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2" name="Franja superior azul S8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3" name="Acento superior 1 S8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4" name="Acento superior 2 S8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5" name="Acento superior 3 S8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6" name="Título de sección S8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97" name="Título del contenido S8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Pruebas implementadas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98" name="Texto del contenido S8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repositorio incluye verificaciones de autenticación, catálogo, magnitudes, validaciones, expiración y una prueba de integración SOAP.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2915" y="2117244"/>
            <a:ext cx="5182323" cy="234347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934" y="4839349"/>
            <a:ext cx="8899916" cy="1324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624313899_0_5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221" name="Google Shape;221;g2d624313899_0_51"/>
          <p:cNvSpPr>
            <a:spLocks noGrp="1"/>
          </p:cNvSpPr>
          <p:nvPr>
            <p:ph type="body" idx="1"/>
          </p:nvPr>
        </p:nvSpPr>
        <p:spPr>
          <a:xfrm>
            <a:off x="581200" y="1983000"/>
            <a:ext cx="8245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sz="1565" b="1">
                <a:latin typeface="Cambria" panose="02040503050406030204"/>
                <a:ea typeface="Cambria" panose="02040503050406030204"/>
                <a:cs typeface="Cambria" panose="02040503050406030204"/>
              </a:rPr>
              <a:t>1.3  CLIENTE DE CONSOLA</a:t>
            </a:r>
            <a:endParaRPr sz="1565" b="1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565" b="1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457200" lvl="0" indent="-32766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5"/>
              <a:buFont typeface="Cambria" panose="02040503050406030204"/>
              <a:buChar char="◼"/>
            </a:pPr>
            <a:r>
              <a:rPr sz="1565">
                <a:latin typeface="Cambria" panose="02040503050406030204"/>
                <a:ea typeface="Cambria" panose="02040503050406030204"/>
                <a:cs typeface="Cambria" panose="02040503050406030204"/>
              </a:rPr>
              <a:t>Aplicación Java con Maven. Las clases JAX-WS se generan desde el WSDL local. MainConsola configura el endpoint y conecta la vista de terminal con ControladorConsola, ClienteSoap y RespuestaSoap.</a:t>
            </a:r>
            <a:endParaRPr sz="1565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22" name="Google Shape;222;g2d624313899_0_51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7" name="image8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66506" y="3674580"/>
            <a:ext cx="4144010" cy="2828290"/>
          </a:xfrm>
          <a:prstGeom prst="rect">
            <a:avLst/>
          </a:prstGeom>
        </p:spPr>
      </p:pic>
      <p:pic>
        <p:nvPicPr>
          <p:cNvPr id="8" name="image22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40234" y="3657435"/>
            <a:ext cx="4201160" cy="2845435"/>
          </a:xfrm>
          <a:prstGeom prst="rect">
            <a:avLst/>
          </a:prstGeom>
        </p:spPr>
      </p:pic>
      <p:sp>
        <p:nvSpPr>
          <p:cNvPr id="223" name="Fondo blanco del contenido S9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4" name="Franja superior azul S9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5" name="Acento superior 1 S9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6" name="Acento superior 2 S9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7" name="Acento superior 3 S9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8" name="Título de sección S9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229" name="Título del contenido S9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Cliente de consola Java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30" name="Texto del contenido S9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La aplicación Maven genera el proxy JAX-WS desde el WSDL local. MainConsola configura el endpoint y conecta las capas de consola.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521" y="2540382"/>
            <a:ext cx="4372585" cy="36295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624313899_0_95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239" name="Google Shape;239;g2d624313899_0_95"/>
          <p:cNvSpPr>
            <a:spLocks noGrp="1"/>
          </p:cNvSpPr>
          <p:nvPr>
            <p:ph type="body" idx="1"/>
          </p:nvPr>
        </p:nvSpPr>
        <p:spPr>
          <a:xfrm>
            <a:off x="514824" y="914626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5" b="1">
                <a:latin typeface="Cambria" panose="02040503050406030204"/>
                <a:ea typeface="Cambria" panose="02040503050406030204"/>
                <a:cs typeface="Cambria" panose="02040503050406030204"/>
              </a:rPr>
              <a:t>VISTA Y FLUJO</a:t>
            </a:r>
            <a:endParaRPr sz="1565" b="1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12954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65"/>
              <a:buNone/>
            </a:pPr>
            <a:endParaRPr sz="1670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12954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65"/>
              <a:buNone/>
            </a:pPr>
            <a:r>
              <a:rPr sz="1565" b="1">
                <a:latin typeface="Cambria" panose="02040503050406030204"/>
                <a:ea typeface="Cambria" panose="02040503050406030204"/>
                <a:cs typeface="Cambria" panose="02040503050406030204"/>
              </a:rPr>
              <a:t>VistaConsola muestra el menú, solicita credenciales y recoge los datos de conversión. El recorrido permite iniciar sesión, consultar categorías y unidades, convertir y recuperar la clave.</a:t>
            </a:r>
            <a:endParaRPr sz="1670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40" name="Google Shape;240;g2d624313899_0_95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1" name="Google Shape;241;g2d624313899_0_95"/>
          <p:cNvSpPr>
            <a:spLocks noGrp="1"/>
          </p:cNvSpPr>
          <p:nvPr>
            <p:ph type="body" idx="9999"/>
          </p:nvPr>
        </p:nvSpPr>
        <p:spPr>
          <a:xfrm>
            <a:off x="4759292" y="770066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t>CONTROLADOR Y ADAPTADOR SOAP</a:t>
            </a:r>
            <a:endParaRPr sz="1565" b="1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99"/>
              <a:buFont typeface="Arial" panose="020B0604020202020204"/>
              <a:buNone/>
            </a:pPr>
            <a:endParaRPr sz="1565" b="1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sz="1565" b="1">
                <a:latin typeface="Cambria" panose="02040503050406030204"/>
                <a:ea typeface="Cambria" panose="02040503050406030204"/>
                <a:cs typeface="Cambria" panose="02040503050406030204"/>
              </a:rPr>
              <a:t>ControladorConsola mantiene la sesión y coordina las operaciones. ClienteSoap invoca el puerto JAX-WS y convierte la respuesta del servicio al modelo RespuestaSoap.</a:t>
            </a:r>
            <a:endParaRPr sz="1565" b="1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793" y="4064763"/>
            <a:ext cx="2955257" cy="185048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618" y="4064763"/>
            <a:ext cx="5172027" cy="1777483"/>
          </a:xfrm>
          <a:prstGeom prst="rect">
            <a:avLst/>
          </a:prstGeom>
        </p:spPr>
      </p:pic>
      <p:sp>
        <p:nvSpPr>
          <p:cNvPr id="242" name="Fondo blanco del contenido S10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3" name="Franja superior azul S10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4" name="Acento superior 1 S10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5" name="Acento superior 2 S10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6" name="Acento superior 3 S10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7" name="Título de sección S10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248" name="Título del contenido S10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Controlador y adaptador SOAP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49" name="Texto del contenido S10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ControladorConsola administra el flujo y la sesión. ClienteSoap invoca el puerto JAX-WS y normaliza las respuestas del servidor.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4689635"/>
            <a:ext cx="7640711" cy="204250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137" y="2555922"/>
            <a:ext cx="4184362" cy="18684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d624313899_0_11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249" name="Google Shape;249;g2d624313899_0_111"/>
          <p:cNvSpPr>
            <a:spLocks noGrp="1"/>
          </p:cNvSpPr>
          <p:nvPr>
            <p:ph type="body" idx="1"/>
          </p:nvPr>
        </p:nvSpPr>
        <p:spPr>
          <a:xfrm>
            <a:off x="478225" y="1986150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5" b="1">
                <a:latin typeface="Cambria" panose="02040503050406030204"/>
                <a:ea typeface="Cambria" panose="02040503050406030204"/>
                <a:cs typeface="Cambria" panose="02040503050406030204"/>
              </a:rPr>
              <a:t>MENÚ DE CONSOLA</a:t>
            </a:r>
            <a:endParaRPr sz="1565" b="1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670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r>
              <a:rPr sz="1565" b="1">
                <a:latin typeface="Cambria" panose="02040503050406030204"/>
                <a:ea typeface="Cambria" panose="02040503050406030204"/>
                <a:cs typeface="Cambria" panose="02040503050406030204"/>
              </a:rPr>
              <a:t>La interfaz separa los pasos de conversión: categoría, unidad de origen, unidad de destino y valor. Conserva las selecciones durante el proceso y presenta resultados o errores antes de regresar al menú.</a:t>
            </a:r>
            <a:endParaRPr sz="1670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50" name="Google Shape;250;g2d624313899_0_111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1215" y="2617179"/>
            <a:ext cx="4878473" cy="2609244"/>
          </a:xfrm>
          <a:prstGeom prst="rect">
            <a:avLst/>
          </a:prstGeom>
        </p:spPr>
      </p:pic>
      <p:sp>
        <p:nvSpPr>
          <p:cNvPr id="251" name="Fondo blanco del contenido S11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2" name="Franja superior azul S11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3" name="Acento superior 1 S11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4" name="Acento superior 2 S11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5" name="Acento superior 3 S11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6" name="Título de sección S11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257" name="Título del contenido S11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Menú y flujo de conversión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58" name="Texto del contenido S11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La consola permite acceder, consultar categorías y unidades, convertir y recuperar la clave. El flujo solicita categoría, origen, destino y valor.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457" y="2699635"/>
            <a:ext cx="2943636" cy="33437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d624313899_0_138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257" name="Google Shape;257;g2d624313899_0_138"/>
          <p:cNvSpPr>
            <a:spLocks noGrp="1"/>
          </p:cNvSpPr>
          <p:nvPr>
            <p:ph type="body" idx="1"/>
          </p:nvPr>
        </p:nvSpPr>
        <p:spPr>
          <a:xfrm>
            <a:off x="581200" y="702138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5" b="1">
                <a:latin typeface="Cambria" panose="02040503050406030204"/>
                <a:ea typeface="Cambria" panose="02040503050406030204"/>
                <a:cs typeface="Cambria" panose="02040503050406030204"/>
              </a:rPr>
              <a:t>EJECUCIÓN EN TERMINAL</a:t>
            </a:r>
            <a:endParaRPr sz="1565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565" b="1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r>
              <a:t>El cliente se ejecuta después de desplegar el servidor SOAP. Puede usar el endpoint local predeterminado o recibir otra URL como argumento o propiedad JVM.</a:t>
            </a:r>
            <a:endParaRPr sz="1565" b="1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58" name="Google Shape;258;g2d624313899_0_138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9" name="image1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27647" y="1933668"/>
            <a:ext cx="2868295" cy="803275"/>
          </a:xfrm>
          <a:prstGeom prst="rect">
            <a:avLst/>
          </a:prstGeom>
        </p:spPr>
      </p:pic>
      <p:pic>
        <p:nvPicPr>
          <p:cNvPr id="10" name="image33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11657" y="3004463"/>
            <a:ext cx="2808061" cy="2643675"/>
          </a:xfrm>
          <a:prstGeom prst="rect">
            <a:avLst/>
          </a:prstGeom>
        </p:spPr>
      </p:pic>
      <p:pic>
        <p:nvPicPr>
          <p:cNvPr id="11" name="image47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227647" y="3004463"/>
            <a:ext cx="2808301" cy="2643675"/>
          </a:xfrm>
          <a:prstGeom prst="rect">
            <a:avLst/>
          </a:prstGeom>
        </p:spPr>
      </p:pic>
      <p:pic>
        <p:nvPicPr>
          <p:cNvPr id="12" name="image15.png"/>
          <p:cNvPicPr>
            <a:picLocks noChangeAspect="1"/>
          </p:cNvPicPr>
          <p:nvPr/>
        </p:nvPicPr>
        <p:blipFill>
          <a:blip r:embed="rId4"/>
          <a:srcRect b="17680"/>
          <a:stretch>
            <a:fillRect/>
          </a:stretch>
        </p:blipFill>
        <p:spPr>
          <a:xfrm>
            <a:off x="6143877" y="3004463"/>
            <a:ext cx="2928407" cy="2643675"/>
          </a:xfrm>
          <a:prstGeom prst="rect">
            <a:avLst/>
          </a:prstGeom>
        </p:spPr>
      </p:pic>
      <p:sp>
        <p:nvSpPr>
          <p:cNvPr id="259" name="Fondo blanco del contenido S12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0" name="Franja superior azul S12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1" name="Acento superior 1 S12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2" name="Acento superior 2 S12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3" name="Acento superior 3 S12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4" name="Título de sección S12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265" name="Título del contenido S12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Ejecución en terminal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66" name="Texto del contenido S12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cliente se inicia después de desplegar el servidor. Puede usar el endpoint local o recibir una URL alternativa por argumento.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1949931"/>
            <a:ext cx="4344006" cy="318179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2717" y="4542681"/>
            <a:ext cx="5525271" cy="19624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268" name="Google Shape;268;p27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9" name="Google Shape;269;p27"/>
          <p:cNvSpPr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 fontScale="91256"/>
          </a:bodyPr>
          <a:lstStyle/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9000"/>
              <a:buNone/>
            </a:pPr>
            <a:r>
              <a:rPr b="1">
                <a:latin typeface="Cambria" panose="02040503050406030204"/>
                <a:ea typeface="Cambria" panose="02040503050406030204"/>
                <a:cs typeface="Cambria" panose="02040503050406030204"/>
              </a:rPr>
              <a:t>1.4  CLIENTE DE ESCRITORIO</a:t>
            </a:r>
            <a:endParaRPr b="1"/>
          </a:p>
          <a:p>
            <a:pPr marL="457200" lvl="0" indent="-318135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2000"/>
              <a:buChar char="●"/>
            </a:pP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457200" lvl="0" indent="-318135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2000"/>
              <a:buChar char="●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Aplicación Java Swing con Maven y arquitectura MVC. El cliente usa un adaptador SOAP para conectarse a WSConUni y presenta las funciones de acceso y conversión en ventanas.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6" name="image8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544819" y="3270983"/>
            <a:ext cx="4144010" cy="2828290"/>
          </a:xfrm>
          <a:prstGeom prst="rect">
            <a:avLst/>
          </a:prstGeom>
        </p:spPr>
      </p:pic>
      <p:sp>
        <p:nvSpPr>
          <p:cNvPr id="270" name="Fondo blanco del contenido S13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1" name="Franja superior azul S13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2" name="Acento superior 1 S13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3" name="Acento superior 2 S13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4" name="Acento superior 3 S13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5" name="Título de sección S13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276" name="Título del contenido S13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Cliente de escritorio Swing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77" name="Texto del contenido S13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Aplicación Java 21 con Maven. Swing presenta el acceso y las conversiones, y el adaptador SOAP se conecta al mismo WSConUni.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218" y="2543609"/>
            <a:ext cx="3000794" cy="34866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974b856cc_0_109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301" name="Google Shape;301;g31974b856cc_0_109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2" name="Google Shape;302;g31974b856cc_0_109"/>
          <p:cNvSpPr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El cliente separa las ventanas Swing, los controladores y el consumo del servicio SOAP. GestorPantallas coordina la navegación entre acceso y conversiones.</a:t>
            </a:r>
            <a:endParaRPr sz="1800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6" name="image14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088311" y="2609850"/>
            <a:ext cx="3019425" cy="1028700"/>
          </a:xfrm>
          <a:prstGeom prst="rect">
            <a:avLst/>
          </a:prstGeom>
        </p:spPr>
      </p:pic>
      <p:sp>
        <p:nvSpPr>
          <p:cNvPr id="12" name="CuadroTexto 11"/>
          <p:cNvSpPr>
            <a:spLocks noGrp="1"/>
          </p:cNvSpPr>
          <p:nvPr/>
        </p:nvSpPr>
        <p:spPr>
          <a:xfrm>
            <a:off x="762109" y="3269217"/>
            <a:ext cx="1712150" cy="249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 u="none" strike="noStrike" cap="none" spc="0" baseline="0">
                <a:ln>
                  <a:noFill/>
                </a:ln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MODELO</a:t>
            </a:r>
            <a:endParaRPr sz="1800" b="0" i="0" u="none" strike="noStrike" cap="none" spc="0" baseline="0">
              <a:ln>
                <a:noFill/>
              </a:ln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r>
              <a:t>Sesion, OpcionCatalogo y RespuestaSoap contienen el token, las opciones disponibles y los datos normalizados recibidos del servicio.</a:t>
            </a:r>
          </a:p>
        </p:txBody>
      </p:sp>
      <p:pic>
        <p:nvPicPr>
          <p:cNvPr id="13" name="image3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611811" y="3836431"/>
            <a:ext cx="2476500" cy="342900"/>
          </a:xfrm>
          <a:prstGeom prst="rect">
            <a:avLst/>
          </a:prstGeom>
        </p:spPr>
      </p:pic>
      <p:sp>
        <p:nvSpPr>
          <p:cNvPr id="19" name="CuadroTexto 18"/>
          <p:cNvSpPr>
            <a:spLocks noGrp="1"/>
          </p:cNvSpPr>
          <p:nvPr/>
        </p:nvSpPr>
        <p:spPr>
          <a:xfrm>
            <a:off x="6214191" y="4553152"/>
            <a:ext cx="2633381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 u="none" strike="noStrike" cap="none" spc="0" baseline="0">
                <a:ln>
                  <a:noFill/>
                </a:ln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CONTROLADOR</a:t>
            </a:r>
            <a:endParaRPr sz="1800" b="0" i="0" u="none" strike="noStrike" cap="none" spc="0" baseline="0">
              <a:ln>
                <a:noFill/>
              </a:ln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r>
              <a:rPr sz="1800" b="0" i="0" u="none" strike="noStrike" cap="none" spc="0" baseline="0">
                <a:ln>
                  <a:noFill/>
                </a:ln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ControladorLogin gestiona el acceso y la recuperación de clave. ControladorConversiones consulta el catálogo y solicita conversiones al servicio SOAP.</a:t>
            </a:r>
            <a:endParaRPr sz="1800" b="0" i="0" u="none" strike="noStrike" cap="none" spc="0" baseline="0">
              <a:ln>
                <a:noFill/>
              </a:ln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20" name="image24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25023" y="3893361"/>
            <a:ext cx="2743200" cy="457200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4259" y="4377212"/>
            <a:ext cx="3666875" cy="2355365"/>
          </a:xfrm>
          <a:prstGeom prst="rect">
            <a:avLst/>
          </a:prstGeom>
        </p:spPr>
      </p:pic>
      <p:sp>
        <p:nvSpPr>
          <p:cNvPr id="303" name="Fondo blanco del contenido S14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4" name="Franja superior azul S14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5" name="Acento superior 1 S14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6" name="Acento superior 2 S14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7" name="Acento superior 3 S14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8" name="Título de sección S14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09" name="Título del contenido S14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Organización MVC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10" name="Texto del contenido S14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cliente separa modelo, vista, controlador y servicio. GestorPantallas coordina el cambio entre acceso y conversión.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7056" y="1998106"/>
            <a:ext cx="2050995" cy="81356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7050" y="3043956"/>
            <a:ext cx="4695167" cy="36637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1974b856cc_0_128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309" name="Google Shape;309;g31974b856cc_0_128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0" name="Google Shape;310;g31974b856cc_0_128"/>
          <p:cNvSpPr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sz="1800">
                <a:latin typeface="Calibri" panose="020F0502020204030204"/>
                <a:ea typeface="Calibri" panose="020F0502020204030204"/>
                <a:cs typeface="Calibri" panose="020F0502020204030204"/>
              </a:rPr>
              <a:t>VISTAS SWING</a:t>
            </a:r>
            <a:endParaRPr sz="1800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sz="1800">
                <a:latin typeface="Calibri" panose="020F0502020204030204"/>
                <a:ea typeface="Calibri" panose="020F0502020204030204"/>
                <a:cs typeface="Calibri" panose="020F0502020204030204"/>
              </a:rPr>
              <a:t>LoginFrame presenta el acceso. VentanaConversiones permite elegir magnitud y unidades, ingresar el valor y consultar el resultado.</a:t>
            </a:r>
            <a:endParaRPr sz="1800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248" y="2831802"/>
            <a:ext cx="8424537" cy="3324041"/>
          </a:xfrm>
          <a:prstGeom prst="rect">
            <a:avLst/>
          </a:prstGeom>
        </p:spPr>
      </p:pic>
      <p:sp>
        <p:nvSpPr>
          <p:cNvPr id="311" name="Fondo blanco del contenido S15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2" name="Franja superior azul S15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3" name="Acento superior 1 S15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4" name="Acento superior 2 S15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5" name="Acento superior 3 S15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6" name="Título de sección S15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17" name="Título del contenido S15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Vistas Swing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18" name="Texto del contenido S15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LoginFrame gestiona el acceso y VentanaConversiones presenta el catálogo y los campos de conversión.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2012652"/>
            <a:ext cx="4288345" cy="292074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3814045"/>
            <a:ext cx="4288997" cy="29207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1974b856cc_0_137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317" name="Google Shape;317;g31974b856cc_0_137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8" name="Google Shape;318;g31974b856cc_0_137"/>
          <p:cNvSpPr>
            <a:spLocks noGrp="1"/>
          </p:cNvSpPr>
          <p:nvPr>
            <p:ph type="body" idx="1"/>
          </p:nvPr>
        </p:nvSpPr>
        <p:spPr>
          <a:xfrm>
            <a:off x="6326975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457200" lvl="0" indent="-33401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INICIO DE SESIÓN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457200" lvl="0" indent="-33401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457200" lvl="0" indent="-33401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El usuario ingresa sus credenciales en LoginFrame. ControladorLogin solicita la autenticación al servicio y, si la respuesta es correcta, abre la ventana de conversiones.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6" name="image9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81192" y="2329030"/>
            <a:ext cx="5218973" cy="3336664"/>
          </a:xfrm>
          <a:prstGeom prst="rect">
            <a:avLst/>
          </a:prstGeom>
        </p:spPr>
      </p:pic>
      <p:sp>
        <p:nvSpPr>
          <p:cNvPr id="319" name="Fondo blanco del contenido S16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0" name="Franja superior azul S16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1" name="Acento superior 1 S16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2" name="Acento superior 2 S16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3" name="Acento superior 3 S16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4" name="Título de sección S16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25" name="Título del contenido S16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Inicio de sesión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26" name="Texto del contenido S16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ControladorLogin envía las credenciales al servidor. Si la respuesta es correcta, abre la ventana de conversiones.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390" y="2877228"/>
            <a:ext cx="462711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d6d00c5bd2_2_19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335" name="Google Shape;335;g2d6d00c5bd2_2_19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6" name="Google Shape;336;g2d6d00c5bd2_2_19"/>
          <p:cNvSpPr>
            <a:spLocks noGrp="1"/>
          </p:cNvSpPr>
          <p:nvPr>
            <p:ph type="body" idx="1"/>
          </p:nvPr>
        </p:nvSpPr>
        <p:spPr>
          <a:xfrm>
            <a:off x="5791950" y="2411875"/>
            <a:ext cx="32289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457200" lvl="0" indent="-33401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CONVERSIÓN DE UNIDADES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457200" lvl="0" indent="-33401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457200" lvl="0" indent="-33401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VentanaConversiones carga las categorías y unidades desde WSConUni. El controlador envía los datos al servidor y presenta el resultado o el mensaje de error.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6" name="image2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1103" y="2513572"/>
            <a:ext cx="3898097" cy="3116263"/>
          </a:xfrm>
          <a:prstGeom prst="rect">
            <a:avLst/>
          </a:prstGeom>
        </p:spPr>
      </p:pic>
      <p:sp>
        <p:nvSpPr>
          <p:cNvPr id="337" name="Fondo blanco del contenido S17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8" name="Franja superior azul S17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9" name="Acento superior 1 S17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0" name="Acento superior 2 S17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1" name="Acento superior 3 S17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2" name="Título de sección S17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43" name="Título del contenido S17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Pantalla de conversión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44" name="Texto del contenido S17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La vista consulta categorías y unidades al servicio. El controlador envía el valor y presenta el resultado o el error recibido.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004" y="3143412"/>
            <a:ext cx="5007121" cy="31162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343" name="Google Shape;343;p32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4" name="Google Shape;344;p32"/>
          <p:cNvSpPr>
            <a:spLocks noGrp="1"/>
          </p:cNvSpPr>
          <p:nvPr/>
        </p:nvSpPr>
        <p:spPr>
          <a:xfrm>
            <a:off x="636600" y="1868348"/>
            <a:ext cx="8576700" cy="18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 lnSpcReduction="10000"/>
          </a:bodyPr>
          <a:lstStyle/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/>
              <a:buNone/>
            </a:pPr>
            <a:r>
              <a:rPr sz="1800" b="1" i="0" u="none" strike="noStrike" cap="none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1.5  CLIENTE WEB</a:t>
            </a:r>
            <a:endParaRPr sz="2000" b="0" i="0" u="none" strike="noStrike" cap="none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457200" lvl="0" indent="-307975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ct val="100000"/>
              <a:buFont typeface="Cambria" panose="02040503050406030204"/>
              <a:buChar char="∙"/>
            </a:pPr>
            <a:endParaRPr sz="2000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457200" lvl="0" indent="-307975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ct val="100000"/>
              <a:buFont typeface="Cambria" panose="02040503050406030204"/>
              <a:buChar char="∙"/>
            </a:pPr>
            <a:r>
              <a:rPr sz="2000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Aplicación Java 21 MVC con Servlets y JSP. Se despliega como WAR en Payara. Los proxies SOAP se generan desde el WSDL local, y cada solicitud usa su propio puerto de servicio.</a:t>
            </a:r>
            <a:endParaRPr sz="2000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7" name="image1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211356" y="3839056"/>
            <a:ext cx="2095500" cy="56197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999" y="3524211"/>
            <a:ext cx="4959666" cy="3037954"/>
          </a:xfrm>
          <a:prstGeom prst="rect">
            <a:avLst/>
          </a:prstGeom>
        </p:spPr>
      </p:pic>
      <p:sp>
        <p:nvSpPr>
          <p:cNvPr id="345" name="Fondo blanco del contenido S18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6" name="Franja superior azul S18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7" name="Acento superior 1 S18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8" name="Acento superior 2 S18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9" name="Acento superior 3 S18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0" name="Título de sección S18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51" name="Título del contenido S18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Cliente web Java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52" name="Texto del contenido S18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 dirty="0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</a:t>
            </a:r>
            <a:r>
              <a:rPr sz="1575" dirty="0" err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cliente</a:t>
            </a:r>
            <a:r>
              <a:rPr sz="1575" dirty="0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 </a:t>
            </a:r>
            <a:r>
              <a:rPr sz="1575" dirty="0" err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usa</a:t>
            </a:r>
            <a:r>
              <a:rPr sz="1575" dirty="0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 Java 21, Servlets, JSP y Maven. Payara </a:t>
            </a:r>
            <a:r>
              <a:rPr sz="1575" dirty="0" err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aloja</a:t>
            </a:r>
            <a:r>
              <a:rPr sz="1575" dirty="0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 el WAR y el WSDL local genera </a:t>
            </a:r>
            <a:r>
              <a:rPr sz="1575" dirty="0" err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los</a:t>
            </a:r>
            <a:r>
              <a:rPr sz="1575" dirty="0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 proxies SOAP.</a:t>
            </a:r>
            <a:endParaRPr sz="1575" dirty="0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813" y="1949931"/>
            <a:ext cx="3286584" cy="450595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19782968e5_0_88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377" name="Google Shape;377;g319782968e5_0_88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8" name="Google Shape;378;g319782968e5_0_88"/>
          <p:cNvSpPr>
            <a:spLocks noGrp="1"/>
          </p:cNvSpPr>
          <p:nvPr>
            <p:ph type="body" idx="1"/>
          </p:nvPr>
        </p:nvSpPr>
        <p:spPr>
          <a:xfrm>
            <a:off x="581200" y="19444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 fontScale="87744"/>
          </a:bodyPr>
          <a:lstStyle/>
          <a:p>
            <a:pPr marL="457200" lvl="0" indent="-33401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sz="1800">
                <a:latin typeface="Calibri" panose="020F0502020204030204"/>
                <a:ea typeface="Calibri" panose="020F0502020204030204"/>
                <a:cs typeface="Calibri" panose="020F0502020204030204"/>
              </a:rPr>
              <a:t>VISTAS JSP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457200" lvl="0" indent="-33401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457200" lvl="0" indent="-33401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sz="1800">
                <a:latin typeface="Calibri" panose="020F0502020204030204"/>
                <a:ea typeface="Calibri" panose="020F0502020204030204"/>
                <a:cs typeface="Calibri" panose="020F0502020204030204"/>
              </a:rPr>
              <a:t>login.jsp recoge las credenciales y conversor.jsp muestra el catálogo y el formulario de conversión. Las páginas se ubican bajo WEB-INF/vista y reciben los datos preparados por los Servlets.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168" y="3132944"/>
            <a:ext cx="1448002" cy="90500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277" y="3132944"/>
            <a:ext cx="3959600" cy="3545395"/>
          </a:xfrm>
          <a:prstGeom prst="rect">
            <a:avLst/>
          </a:prstGeom>
        </p:spPr>
      </p:pic>
      <p:sp>
        <p:nvSpPr>
          <p:cNvPr id="13" name="CuadroTexto 12"/>
          <p:cNvSpPr>
            <a:spLocks noGrp="1"/>
          </p:cNvSpPr>
          <p:nvPr/>
        </p:nvSpPr>
        <p:spPr>
          <a:xfrm>
            <a:off x="719417" y="4185628"/>
            <a:ext cx="262441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 u="none" strike="noStrike" cap="none" spc="0" baseline="0">
                <a:ln>
                  <a:noFill/>
                </a:ln>
                <a:solidFill>
                  <a:srgbClr val="3D3D3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FLUJO WEB Y SESIÓN</a:t>
            </a:r>
            <a:endParaRPr sz="1800" b="0" i="0" u="none" strike="noStrike" cap="none" spc="0" baseline="0">
              <a:ln>
                <a:noFill/>
              </a:ln>
              <a:solidFill>
                <a:srgbClr val="3D3D3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/>
          <a:p>
            <a:r>
              <a:rPr sz="1800" b="0" i="0" u="none" strike="noStrike" cap="none" spc="0" baseline="0">
                <a:ln>
                  <a:noFill/>
                </a:ln>
                <a:solidFill>
                  <a:srgbClr val="3D3D3D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Los Servlets procesan el acceso, la recuperación de clave y las conversiones. El token se conserva en la sesión HTTP. Los formularios POST incluyen protección CSRF y las vistas escapan los valores mostrados.</a:t>
            </a:r>
            <a:endParaRPr sz="1800" b="0" i="0" u="none" strike="noStrike" cap="none" spc="0" baseline="0">
              <a:ln>
                <a:noFill/>
              </a:ln>
              <a:solidFill>
                <a:srgbClr val="3D3D3D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79" name="Fondo blanco del contenido S19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0" name="Franja superior azul S19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1" name="Acento superior 1 S19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2" name="Acento superior 2 S19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3" name="Acento superior 3 S19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4" name="Título de sección S19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85" name="Título del contenido S19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Servlets y sesión HTTP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86" name="Texto del contenido S19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Los Servlets gestionan acceso, recuperación y conversiones. El token se guarda en sesión HTTP; los formularios POST usan protección CSRF.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917" y="1995348"/>
            <a:ext cx="3886742" cy="291029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639" y="3745849"/>
            <a:ext cx="3714750" cy="2769995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5299052"/>
            <a:ext cx="5001411" cy="117173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19782968e5_0_73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385" name="Google Shape;385;g319782968e5_0_73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6" name="Google Shape;386;g319782968e5_0_73"/>
          <p:cNvSpPr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 fontScale="94677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ACCESO Y CONTROL DE SESIÓN</a:t>
            </a:r>
            <a:endParaRPr sz="1800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endParaRPr sz="1800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AutenticacionServlet invoca autenticar y guarda el token en la sesión HTTP. FiltroSesion protege las rutas privadas; CerrarSesionServlet elimina la sesión local del navegador.</a:t>
            </a:r>
            <a:endParaRPr sz="1800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4070" y="2850777"/>
            <a:ext cx="4143559" cy="3708703"/>
          </a:xfrm>
          <a:prstGeom prst="rect">
            <a:avLst/>
          </a:prstGeom>
        </p:spPr>
      </p:pic>
      <p:sp>
        <p:nvSpPr>
          <p:cNvPr id="387" name="Fondo blanco del contenido S20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8" name="Franja superior azul S20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9" name="Acento superior 1 S20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0" name="Acento superior 2 S20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1" name="Acento superior 3 S20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2" name="Título de sección S20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93" name="Título del contenido S20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Vistas JSP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94" name="Texto del contenido S20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login.jsp recibe las credenciales. conversor.jsp presenta las categorías, unidades, formulario y respuesta.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5" y="2242972"/>
            <a:ext cx="4967708" cy="237205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21" y="3761137"/>
            <a:ext cx="3458282" cy="294760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19782968e5_0_112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401" name="Google Shape;401;g319782968e5_0_112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2" name="Google Shape;402;g319782968e5_0_112"/>
          <p:cNvSpPr>
            <a:spLocks noGrp="1"/>
          </p:cNvSpPr>
          <p:nvPr>
            <p:ph type="body" idx="1"/>
          </p:nvPr>
        </p:nvSpPr>
        <p:spPr>
          <a:xfrm>
            <a:off x="1039100" y="1913200"/>
            <a:ext cx="8038500" cy="18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457200" lvl="0" indent="-33401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 panose="02040503050406030204"/>
              <a:buChar char="●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DESPLIEGUE Y EJECUCIÓN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457200" lvl="0" indent="-33401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 panose="02040503050406030204"/>
              <a:buChar char="●"/>
            </a:pP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457200" lvl="0" indent="-33401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 panose="02040503050406030204"/>
              <a:buChar char="●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Primero se despliega WS_CON_UNI_JAVA_SOAP en Payara. Luego se compila el cliente web con Maven, se despliega el archivo WAR y se abre el contexto de la aplicación en el navegador.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5268" y="3257334"/>
            <a:ext cx="3200847" cy="3086531"/>
          </a:xfrm>
          <a:prstGeom prst="rect">
            <a:avLst/>
          </a:prstGeom>
        </p:spPr>
      </p:pic>
      <p:sp>
        <p:nvSpPr>
          <p:cNvPr id="403" name="Fondo blanco del contenido S21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4" name="Franja superior azul S21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5" name="Acento superior 1 S21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6" name="Acento superior 2 S21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7" name="Acento superior 3 S21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8" name="Título de sección S21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09" name="Título del contenido S21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Despliegue en Payara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10" name="Texto del contenido S21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Primero se despliega el servidor SOAP. Después se compila el cliente con Maven, se despliega su WAR y se abre el contexto web.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774" y="3829475"/>
            <a:ext cx="7081763" cy="171607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19782968e5_0_135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411" name="Google Shape;411;g319782968e5_0_135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2" name="Google Shape;412;g319782968e5_0_135"/>
          <p:cNvSpPr>
            <a:spLocks noGrp="1"/>
          </p:cNvSpPr>
          <p:nvPr>
            <p:ph type="body" idx="1"/>
          </p:nvPr>
        </p:nvSpPr>
        <p:spPr>
          <a:xfrm>
            <a:off x="6326975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457200" lvl="0" indent="-33401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 panose="02040503050406030204"/>
              <a:buChar char="●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PANTALLA DE ACCESO WEB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45720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45720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>El formulario envía las credenciales al Servlet de autenticación. Las credenciales iniciales se configuran en el servidor y no deben aparecer en las capturas de evidencia.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6" name="image30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03359" y="2804085"/>
            <a:ext cx="5399405" cy="2755900"/>
          </a:xfrm>
          <a:prstGeom prst="rect">
            <a:avLst/>
          </a:prstGeom>
        </p:spPr>
      </p:pic>
      <p:sp>
        <p:nvSpPr>
          <p:cNvPr id="413" name="Fondo blanco del contenido S22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4" name="Franja superior azul S22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5" name="Acento superior 1 S22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6" name="Acento superior 2 S22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7" name="Acento superior 3 S22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8" name="Título de sección S22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19" name="Título del contenido S22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Acceso web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20" name="Texto del contenido S22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AutenticacionServlet invoca el servicio y guarda el token en sesión HTTP. FiltroSesion protege las rutas privadas.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617" y="3429000"/>
            <a:ext cx="6559883" cy="33702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19782968e5_0_123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419" name="Google Shape;419;g319782968e5_0_123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0" name="Google Shape;420;g319782968e5_0_123"/>
          <p:cNvSpPr>
            <a:spLocks noGrp="1"/>
          </p:cNvSpPr>
          <p:nvPr>
            <p:ph type="body" idx="1"/>
          </p:nvPr>
        </p:nvSpPr>
        <p:spPr>
          <a:xfrm>
            <a:off x="581200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457200" lvl="0" indent="-33401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PANTALLA DE CONVERSIÓN WEB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457200" lvl="0" indent="-33401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457200" lvl="0" indent="-33401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El usuario selecciona la categoría y las unidades de origen y destino, ingresa el valor y envía la operación al cliente SOAP.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6" name="image50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686896" y="2718547"/>
            <a:ext cx="5399405" cy="2819400"/>
          </a:xfrm>
          <a:prstGeom prst="rect">
            <a:avLst/>
          </a:prstGeom>
        </p:spPr>
      </p:pic>
      <p:sp>
        <p:nvSpPr>
          <p:cNvPr id="421" name="Fondo blanco del contenido S23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2" name="Franja superior azul S23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3" name="Acento superior 1 S23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4" name="Acento superior 2 S23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5" name="Acento superior 3 S23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6" name="Título de sección S23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27" name="Título del contenido S23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Conversor web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28" name="Texto del contenido S23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usuario selecciona categoría y unidades, ingresa el valor y envía la conversión al servicio SOAP.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813" y="3591635"/>
            <a:ext cx="6096000" cy="29470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7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427" name="Google Shape;427;p37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8" name="Google Shape;428;p37"/>
          <p:cNvSpPr>
            <a:spLocks noGrp="1"/>
          </p:cNvSpPr>
          <p:nvPr/>
        </p:nvSpPr>
        <p:spPr>
          <a:xfrm>
            <a:off x="406975" y="1921878"/>
            <a:ext cx="85767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sz="1800" b="1" i="0" u="none" strike="noStrike" cap="none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1.6 	CREACIÓN DEL PROYECTO – CLIENTE MÓVIL</a:t>
            </a:r>
            <a:br>
              <a:rPr sz="1800" b="1" i="0" u="none" strike="noStrike" cap="none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</a:br>
            <a:endParaRPr sz="1800" b="0" i="0" u="none" strike="noStrike" cap="none">
              <a:solidFill>
                <a:srgbClr val="3D3D3D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29" name="Google Shape;429;p37"/>
          <p:cNvSpPr>
            <a:spLocks noGrp="1"/>
          </p:cNvSpPr>
          <p:nvPr>
            <p:ph type="body" idx="1"/>
          </p:nvPr>
        </p:nvSpPr>
        <p:spPr>
          <a:xfrm>
            <a:off x="581200" y="2253923"/>
            <a:ext cx="41781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t>CLIENTE ANDROID EN JAVA</a:t>
            </a:r>
            <a:endParaRPr sz="1565" b="1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565" b="1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sz="1565">
                <a:latin typeface="Cambria" panose="02040503050406030204"/>
                <a:ea typeface="Cambria" panose="02040503050406030204"/>
                <a:cs typeface="Cambria" panose="02040503050406030204"/>
              </a:rPr>
              <a:t>La aplicación usa Android Studio, Gradle y Java 21. El proyecto configura compileSdk 35 y minSdk 26. Android no incluye JAX-WS, por eso el cliente construye y procesa SOAP 1.1 directamente.</a:t>
            </a:r>
            <a:endParaRPr sz="1565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430" name="Google Shape;430;p37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18749" y="2402189"/>
            <a:ext cx="1606875" cy="1691850"/>
          </a:xfrm>
          <a:prstGeom prst="rect">
            <a:avLst/>
          </a:prstGeom>
          <a:ln>
            <a:noFill/>
          </a:ln>
        </p:spPr>
      </p:pic>
      <p:pic>
        <p:nvPicPr>
          <p:cNvPr id="431" name="Google Shape;431;p37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410937" y="4209124"/>
            <a:ext cx="3622500" cy="1917800"/>
          </a:xfrm>
          <a:prstGeom prst="rect">
            <a:avLst/>
          </a:prstGeom>
          <a:ln>
            <a:noFill/>
          </a:ln>
        </p:spPr>
      </p:pic>
      <p:pic>
        <p:nvPicPr>
          <p:cNvPr id="432" name="Google Shape;432;p37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04275" y="5528800"/>
            <a:ext cx="4335775" cy="599550"/>
          </a:xfrm>
          <a:prstGeom prst="rect">
            <a:avLst/>
          </a:prstGeom>
          <a:ln>
            <a:noFill/>
          </a:ln>
        </p:spPr>
      </p:pic>
      <p:sp>
        <p:nvSpPr>
          <p:cNvPr id="433" name="Fondo blanco del contenido S24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4" name="Franja superior azul S24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5" name="Acento superior 1 S24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6" name="Acento superior 2 S24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7" name="Acento superior 3 S24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8" name="Título de sección S24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39" name="Título del contenido S24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Aplicación Android en Java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40" name="Texto del contenido S24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cliente usa Android Studio, Gradle y Java. Configura compileSdk 35 y minSdk 26, y procesa SOAP 1.1 sin JAX-WS.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0263" y="2069208"/>
            <a:ext cx="3620349" cy="460407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d624313899_0_157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438" name="Google Shape;438;g2d624313899_0_157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9" name="Google Shape;439;g2d624313899_0_157"/>
          <p:cNvSpPr>
            <a:spLocks noGrp="1"/>
          </p:cNvSpPr>
          <p:nvPr>
            <p:ph type="body" idx="1"/>
          </p:nvPr>
        </p:nvSpPr>
        <p:spPr>
          <a:xfrm>
            <a:off x="581200" y="2253925"/>
            <a:ext cx="3644100" cy="3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000"/>
              <a:buNone/>
            </a:pPr>
            <a:r>
              <a:rPr sz="1565" b="1">
                <a:latin typeface="Cambria" panose="02040503050406030204"/>
                <a:ea typeface="Cambria" panose="02040503050406030204"/>
                <a:cs typeface="Cambria" panose="02040503050406030204"/>
              </a:rPr>
              <a:t>ESTRUCTURA MVC</a:t>
            </a:r>
            <a:endParaRPr sz="1565" b="1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000"/>
              <a:buNone/>
            </a:pPr>
            <a:endParaRPr sz="1565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000"/>
              <a:buNone/>
            </a:pPr>
            <a:r>
              <a:rPr sz="1565">
                <a:latin typeface="Cambria" panose="02040503050406030204"/>
                <a:ea typeface="Cambria" panose="02040503050406030204"/>
                <a:cs typeface="Cambria" panose="02040503050406030204"/>
              </a:rPr>
              <a:t>El modelo mantiene sesión, opciones de catálogo y respuestas. Las vistas usan LoginActivity y ConversionesActivity. Los controladores gestionan acceso, recuperación de clave y conversiones.</a:t>
            </a:r>
            <a:endParaRPr sz="1565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6" name="image39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741537" y="2559253"/>
            <a:ext cx="3225165" cy="3159760"/>
          </a:xfrm>
          <a:prstGeom prst="rect">
            <a:avLst/>
          </a:prstGeom>
        </p:spPr>
      </p:pic>
      <p:sp>
        <p:nvSpPr>
          <p:cNvPr id="440" name="Fondo blanco del contenido S25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1" name="Franja superior azul S25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2" name="Acento superior 1 S25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3" name="Acento superior 2 S25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4" name="Acento superior 3 S25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5" name="Título de sección S25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46" name="Título del contenido S25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MVC en Android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47" name="Texto del contenido S25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modelo contiene sesión y respuestas. Las Activities presentan las vistas; los controladores coordinan acceso, catálogo y conversiones.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394" y="3463897"/>
            <a:ext cx="5117721" cy="293690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d624313899_0_172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446" name="Google Shape;446;g2d624313899_0_172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47" name="Google Shape;447;g2d624313899_0_172"/>
          <p:cNvSpPr>
            <a:spLocks noGrp="1"/>
          </p:cNvSpPr>
          <p:nvPr>
            <p:ph type="body" idx="1"/>
          </p:nvPr>
        </p:nvSpPr>
        <p:spPr>
          <a:xfrm>
            <a:off x="491075" y="129425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t>SERVICIO SOAP</a:t>
            </a:r>
            <a:endParaRPr sz="1565" b="1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5" b="1">
                <a:latin typeface="Cambria" panose="02040503050406030204"/>
                <a:ea typeface="Cambria" panose="02040503050406030204"/>
                <a:cs typeface="Cambria" panose="02040503050406030204"/>
              </a:rPr>
              <a:t>ClienteSoap arma el sobre SOAP 1.1, envía la solicitud con HttpURLConnection y procesa el XML con DOM, de acuerdo con el WSDL del servidor.</a:t>
            </a:r>
            <a:endParaRPr sz="1565" b="1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48" name="Google Shape;448;g2d624313899_0_172"/>
          <p:cNvSpPr>
            <a:spLocks noGrp="1"/>
          </p:cNvSpPr>
          <p:nvPr>
            <p:ph type="body" idx="9999"/>
          </p:nvPr>
        </p:nvSpPr>
        <p:spPr>
          <a:xfrm>
            <a:off x="4698075" y="137660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t>EJECUCIÓN ASÍNCRONA</a:t>
            </a:r>
            <a:endParaRPr sz="1565" b="1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sz="1565" b="1">
                <a:latin typeface="Cambria" panose="02040503050406030204"/>
                <a:ea typeface="Cambria" panose="02040503050406030204"/>
                <a:cs typeface="Cambria" panose="02040503050406030204"/>
              </a:rPr>
              <a:t>EjecutorAndroid realiza las llamadas de red en segundo plano. Las vistas reciben el resultado mediante las interfaces que implementan los controladores.</a:t>
            </a:r>
            <a:endParaRPr sz="1565" b="1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075" y="3711388"/>
            <a:ext cx="3478914" cy="2259718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331" y="3429000"/>
            <a:ext cx="3802710" cy="2848362"/>
          </a:xfrm>
          <a:prstGeom prst="rect">
            <a:avLst/>
          </a:prstGeom>
        </p:spPr>
      </p:pic>
      <p:sp>
        <p:nvSpPr>
          <p:cNvPr id="449" name="Fondo blanco del contenido S26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0" name="Franja superior azul S26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1" name="Acento superior 1 S26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2" name="Acento superior 2 S26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3" name="Acento superior 3 S26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4" name="Título de sección S26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55" name="Título del contenido S26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Cliente SOAP para Android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56" name="Texto del contenido S26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ClienteSoap construye el sobre SOAP 1.1, envía HTTP y lee XML con DOM. EjecutorAndroid realiza las llamadas fuera del hilo de interfaz.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413" y="2409825"/>
            <a:ext cx="4950546" cy="254028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39" y="4008785"/>
            <a:ext cx="3627749" cy="258821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d624313899_0_193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456" name="Google Shape;456;g2d624313899_0_193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7" name="Google Shape;457;g2d624313899_0_193"/>
          <p:cNvSpPr>
            <a:spLocks noGrp="1"/>
          </p:cNvSpPr>
          <p:nvPr>
            <p:ph type="body" idx="1"/>
          </p:nvPr>
        </p:nvSpPr>
        <p:spPr>
          <a:xfrm>
            <a:off x="491075" y="129425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t>ACCESO Y RECUPERACIÓN</a:t>
            </a:r>
            <a:endParaRPr sz="1565" b="1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5" b="1">
                <a:latin typeface="Cambria" panose="02040503050406030204"/>
                <a:ea typeface="Cambria" panose="02040503050406030204"/>
                <a:cs typeface="Cambria" panose="02040503050406030204"/>
              </a:rPr>
              <a:t>LoginActivity permite autenticarse y recuperar la clave. El controlador muestra el resultado del servicio y abre la pantalla de conversión tras un acceso correcto.</a:t>
            </a:r>
            <a:endParaRPr sz="1565" b="1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58" name="Google Shape;458;g2d624313899_0_193"/>
          <p:cNvSpPr>
            <a:spLocks noGrp="1"/>
          </p:cNvSpPr>
          <p:nvPr>
            <p:ph type="body" idx="9999"/>
          </p:nvPr>
        </p:nvSpPr>
        <p:spPr>
          <a:xfrm>
            <a:off x="4698075" y="137660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t>CONVERSIÓN EN ANDROID</a:t>
            </a:r>
            <a:endParaRPr sz="1565" b="1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5" b="1">
                <a:latin typeface="Cambria" panose="02040503050406030204"/>
                <a:ea typeface="Cambria" panose="02040503050406030204"/>
                <a:cs typeface="Cambria" panose="02040503050406030204"/>
              </a:rPr>
              <a:t>ConversionesActivity consulta categorías y unidades, recibe el valor y muestra el resultado. El usuario puede intercambiar las unidades de origen y destino.</a:t>
            </a:r>
            <a:endParaRPr sz="1565" b="1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071" y="3523400"/>
            <a:ext cx="3704493" cy="229025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586" y="3395466"/>
            <a:ext cx="3346888" cy="3121255"/>
          </a:xfrm>
          <a:prstGeom prst="rect">
            <a:avLst/>
          </a:prstGeom>
        </p:spPr>
      </p:pic>
      <p:sp>
        <p:nvSpPr>
          <p:cNvPr id="459" name="Fondo blanco del contenido S27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0" name="Franja superior azul S27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1" name="Acento superior 1 S27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2" name="Acento superior 2 S27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3" name="Acento superior 3 S27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4" name="Título de sección S27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65" name="Título del contenido S27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Pantallas Android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66" name="Texto del contenido S27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LoginActivity permite acceder y recuperar la clave. ConversionesActivity muestra el catálogo y el resultado de la operación.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671" y="1892781"/>
            <a:ext cx="2187303" cy="4825125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238" y="2032875"/>
            <a:ext cx="2161162" cy="481704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d6d00c5bd2_3_16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494" name="Google Shape;494;g2d6d00c5bd2_3_16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5" name="Google Shape;495;g2d6d00c5bd2_3_16"/>
          <p:cNvSpPr>
            <a:spLocks noGrp="1"/>
          </p:cNvSpPr>
          <p:nvPr>
            <p:ph type="body" idx="1"/>
          </p:nvPr>
        </p:nvSpPr>
        <p:spPr>
          <a:xfrm>
            <a:off x="581200" y="1984125"/>
            <a:ext cx="8589300" cy="11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 fontScale="87771" lnSpcReduction="10000"/>
          </a:bodyPr>
          <a:lstStyle/>
          <a:p>
            <a:pPr marL="457200" lvl="0" indent="-318135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2000"/>
              <a:buFont typeface="Cambria" panose="02040503050406030204"/>
              <a:buChar char="●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EJECUCIÓN EN EMULADOR O TELÉFONO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914400" lvl="1" indent="-318135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03000"/>
              <a:buFont typeface="Cambria" panose="02040503050406030204"/>
              <a:buChar char="○"/>
            </a:pP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914400" lvl="1" indent="-318135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03000"/>
              <a:buFont typeface="Cambria" panose="02040503050406030204"/>
              <a:buChar char="○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En el emulador, la URL usa 10.0.2.2 para acceder al servidor Payara del computador. En un teléfono físico se configura la IP del computador dentro de la misma red. El token permanece en memoria.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7" name="image51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107289" y="3132225"/>
            <a:ext cx="1720640" cy="3469750"/>
          </a:xfrm>
          <a:prstGeom prst="rect">
            <a:avLst/>
          </a:prstGeom>
        </p:spPr>
      </p:pic>
      <p:pic>
        <p:nvPicPr>
          <p:cNvPr id="8" name="image32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375360" y="3132224"/>
            <a:ext cx="1577205" cy="3469750"/>
          </a:xfrm>
          <a:prstGeom prst="rect">
            <a:avLst/>
          </a:prstGeom>
        </p:spPr>
      </p:pic>
      <p:sp>
        <p:nvSpPr>
          <p:cNvPr id="496" name="Fondo blanco del contenido S28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7" name="Franja superior azul S28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8" name="Acento superior 1 S28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9" name="Acento superior 2 S28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0" name="Acento superior 3 S28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1" name="Título de sección S28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502" name="Título del contenido S28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Ejecución en emulador o teléfono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503" name="Texto del contenido S28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emulador accede al servidor del computador mediante 10.0.2.2. Un teléfono usa la IP local del computador en la misma red.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199" y="1826062"/>
            <a:ext cx="2187303" cy="48251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CONCLUSIONES</a:t>
            </a:r>
          </a:p>
        </p:txBody>
      </p:sp>
      <p:sp>
        <p:nvSpPr>
          <p:cNvPr id="503" name="Google Shape;503;p41"/>
          <p:cNvSpPr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900">
                <a:latin typeface="Cambria" panose="02040503050406030204"/>
                <a:ea typeface="Cambria" panose="02040503050406030204"/>
                <a:cs typeface="Cambria" panose="02040503050406030204"/>
              </a:rPr>
              <a:t>El mismo contrato SOAP sirve a cuatro clientes Java: consola, escritorio, web y Android. El servicio centraliza las reglas de autenticación, catálogo y conversión, por lo que los cálculos se ejecutan en el servidor y no se duplican en cada interfaz.</a:t>
            </a:r>
            <a:endParaRPr sz="1900"/>
          </a:p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900"/>
          </a:p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900">
                <a:latin typeface="Cambria" panose="02040503050406030204"/>
                <a:ea typeface="Cambria" panose="02040503050406030204"/>
                <a:cs typeface="Cambria" panose="02040503050406030204"/>
              </a:rPr>
              <a:t>El proyecto funciona sin base de datos: las credenciales, las sesiones y el catálogo viven en memoria. Las sesiones vencen a los 15 minutos y un reinicio del servidor invalida los tokens.</a:t>
            </a:r>
            <a:endParaRPr sz="1900"/>
          </a:p>
        </p:txBody>
      </p:sp>
      <p:sp>
        <p:nvSpPr>
          <p:cNvPr id="504" name="Google Shape;504;p41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2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RECOMENDACIONES</a:t>
            </a:r>
          </a:p>
        </p:txBody>
      </p:sp>
      <p:sp>
        <p:nvSpPr>
          <p:cNvPr id="510" name="Google Shape;510;p42"/>
          <p:cNvSpPr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457200" lvl="0" indent="-34036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Configurar el endpoint y las credenciales mediante propiedades del servidor para cada entorno.</a:t>
            </a:r>
            <a:endParaRPr sz="1900"/>
          </a:p>
          <a:p>
            <a:pPr marL="457200" lvl="0" indent="-34036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endParaRPr sz="1900"/>
          </a:p>
          <a:p>
            <a:pPr marL="457200" lvl="0" indent="-34036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Usar HTTPS cuando el servicio salga de la red de laboratorio, porque el endpoint actual puede operar sobre HTTP.</a:t>
            </a:r>
            <a:endParaRPr sz="1900"/>
          </a:p>
          <a:p>
            <a:pPr marL="457200" lvl="0" indent="-34036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endParaRPr sz="1900"/>
          </a:p>
          <a:p>
            <a:pPr marL="457200" lvl="0" indent="-34036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Mantener coordinados el WSDL local y el servicio desplegado cuando cambie el contrato.</a:t>
            </a:r>
            <a:endParaRPr sz="1900"/>
          </a:p>
          <a:p>
            <a:pPr marL="457200" lvl="0" indent="-34036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endParaRPr sz="1900"/>
          </a:p>
          <a:p>
            <a:pPr marL="457200" lvl="0" indent="-34036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Ampliar las pruebas de integración para verificar los cuatro clientes contra el mismo servidor antes de cada entrega.</a:t>
            </a:r>
            <a:endParaRPr sz="1900"/>
          </a:p>
        </p:txBody>
      </p:sp>
      <p:sp>
        <p:nvSpPr>
          <p:cNvPr id="511" name="Google Shape;511;p42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17993</Words>
  <Application>WPS Presentation</Application>
  <PresentationFormat>Panorámica</PresentationFormat>
  <Paragraphs>670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2" baseType="lpstr">
      <vt:lpstr>Arial</vt:lpstr>
      <vt:lpstr>SimSun</vt:lpstr>
      <vt:lpstr>Wingdings</vt:lpstr>
      <vt:lpstr>Arial</vt:lpstr>
      <vt:lpstr>Gill Sans</vt:lpstr>
      <vt:lpstr>Noto Sans Symbols</vt:lpstr>
      <vt:lpstr>Segoe Print</vt:lpstr>
      <vt:lpstr>Cambria</vt:lpstr>
      <vt:lpstr>Microsoft YaHei</vt:lpstr>
      <vt:lpstr>Arial Unicode MS</vt:lpstr>
      <vt:lpstr>Calibri</vt:lpstr>
      <vt:lpstr>Dividendo</vt:lpstr>
      <vt:lpstr>SOAP JAVA</vt:lpstr>
      <vt:lpstr>PowerPoint 演示文稿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Sebas Parra</cp:lastModifiedBy>
  <cp:revision>2</cp:revision>
  <dcterms:created xsi:type="dcterms:W3CDTF">2026-10-23T21:16:00Z</dcterms:created>
  <dcterms:modified xsi:type="dcterms:W3CDTF">2026-10-27T13:31:17Z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2058-12.1.0.29162</vt:lpwstr>
  </property>
  <property fmtid="{D5CDD505-2E9C-101B-9397-08002B2CF9AE}" pid="3" name="ICV">
    <vt:lpwstr>0F982D2FBCA0417CA726647A61A0B542_12</vt:lpwstr>
  </property>
</Properties>
</file>