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19952c26f5b45db" /><Relationship Type="http://schemas.openxmlformats.org/officeDocument/2006/relationships/extended-properties" Target="/docProps/app.xml" Id="R78a7c73cc2d24dfb" /><Relationship Type="http://schemas.openxmlformats.org/officeDocument/2006/relationships/officeDocument" Target="/ppt/presentation.xml" Id="Rddafdebfa68c4109" /></Relationships>
</file>

<file path=ppt/presentation.xml><?xml version="1.0" encoding="utf-8"?>
<p:presentation xmlns:p="http://schemas.openxmlformats.org/presentationml/2006/main" embedTrueTypeFonts="1" saveSubsetFonts="1">
  <p:sldMasterIdLst>
    <p:sldMasterId xmlns:r="http://schemas.openxmlformats.org/officeDocument/2006/relationships" id="2147483648" r:id="R0ec2156b25ba4f80"/>
  </p:sldMasterIdLst>
  <p:notesMasterIdLst>
    <p:notesMasterId xmlns:r="http://schemas.openxmlformats.org/officeDocument/2006/relationships" r:id="R5813553308414038"/>
  </p:notesMasterIdLst>
  <p:sldIdLst>
    <p:sldId xmlns:r="http://schemas.openxmlformats.org/officeDocument/2006/relationships" id="256" r:id="R0d72c7f5ab934057"/>
    <p:sldId xmlns:r="http://schemas.openxmlformats.org/officeDocument/2006/relationships" id="257" r:id="Ra68e6f526b464981"/>
    <p:sldId xmlns:r="http://schemas.openxmlformats.org/officeDocument/2006/relationships" id="258" r:id="R78b3e778b2044137"/>
    <p:sldId xmlns:r="http://schemas.openxmlformats.org/officeDocument/2006/relationships" id="259" r:id="R662676a2065f4369"/>
    <p:sldId xmlns:r="http://schemas.openxmlformats.org/officeDocument/2006/relationships" id="260" r:id="R2a0b8f21803b451d"/>
    <p:sldId xmlns:r="http://schemas.openxmlformats.org/officeDocument/2006/relationships" id="261" r:id="R758bad95e5be4b8f"/>
    <p:sldId xmlns:r="http://schemas.openxmlformats.org/officeDocument/2006/relationships" id="262" r:id="R6dd147bd6a4347e2"/>
    <p:sldId xmlns:r="http://schemas.openxmlformats.org/officeDocument/2006/relationships" id="263" r:id="Rd9ff044c26be43c3"/>
    <p:sldId xmlns:r="http://schemas.openxmlformats.org/officeDocument/2006/relationships" id="264" r:id="R0ce3eadaf88345af"/>
    <p:sldId xmlns:r="http://schemas.openxmlformats.org/officeDocument/2006/relationships" id="265" r:id="R9e418dff1b22492e"/>
    <p:sldId xmlns:r="http://schemas.openxmlformats.org/officeDocument/2006/relationships" id="266" r:id="Ra7df344531164bbe"/>
    <p:sldId xmlns:r="http://schemas.openxmlformats.org/officeDocument/2006/relationships" id="267" r:id="R72d7b857829d4f6e"/>
    <p:sldId xmlns:r="http://schemas.openxmlformats.org/officeDocument/2006/relationships" id="268" r:id="Rf8cab462cccf4dbd"/>
    <p:sldId xmlns:r="http://schemas.openxmlformats.org/officeDocument/2006/relationships" id="269" r:id="Rf86b787a63b54e92"/>
    <p:sldId xmlns:r="http://schemas.openxmlformats.org/officeDocument/2006/relationships" id="270" r:id="R64c535f5d9124b05"/>
    <p:sldId xmlns:r="http://schemas.openxmlformats.org/officeDocument/2006/relationships" id="271" r:id="R23a4073a358d407b"/>
    <p:sldId xmlns:r="http://schemas.openxmlformats.org/officeDocument/2006/relationships" id="272" r:id="Rf08fec111cf04d63"/>
    <p:sldId xmlns:r="http://schemas.openxmlformats.org/officeDocument/2006/relationships" id="273" r:id="R44f7cd8211c849bf"/>
    <p:sldId xmlns:r="http://schemas.openxmlformats.org/officeDocument/2006/relationships" id="274" r:id="R00c81020ebeb46db"/>
    <p:sldId xmlns:r="http://schemas.openxmlformats.org/officeDocument/2006/relationships" id="275" r:id="Rae08ea52a3d640d7"/>
    <p:sldId xmlns:r="http://schemas.openxmlformats.org/officeDocument/2006/relationships" id="276" r:id="R0ccf42debec4460e"/>
    <p:sldId xmlns:r="http://schemas.openxmlformats.org/officeDocument/2006/relationships" id="277" r:id="R8e89a982a1324310"/>
    <p:sldId xmlns:r="http://schemas.openxmlformats.org/officeDocument/2006/relationships" id="278" r:id="Rc9672024a06e4da6"/>
    <p:sldId xmlns:r="http://schemas.openxmlformats.org/officeDocument/2006/relationships" id="279" r:id="Rccd24c5483964013"/>
    <p:sldId xmlns:r="http://schemas.openxmlformats.org/officeDocument/2006/relationships" id="280" r:id="R186cc42692564e2c"/>
    <p:sldId xmlns:r="http://schemas.openxmlformats.org/officeDocument/2006/relationships" id="281" r:id="R11a8b92d7ff24b82"/>
    <p:sldId xmlns:r="http://schemas.openxmlformats.org/officeDocument/2006/relationships" id="282" r:id="R060faf5a6b3f4eb4"/>
    <p:sldId xmlns:r="http://schemas.openxmlformats.org/officeDocument/2006/relationships" id="283" r:id="R79fef49715a24940"/>
    <p:sldId xmlns:r="http://schemas.openxmlformats.org/officeDocument/2006/relationships" id="284" r:id="Refb62340e9494942"/>
    <p:sldId xmlns:r="http://schemas.openxmlformats.org/officeDocument/2006/relationships" id="285" r:id="R6cd99b7d7ff2407c"/>
  </p:sldIdLst>
  <p:sldSz cx="12192000" cy="6858000"/>
  <p:notesSz cx="6858000" cy="9144000"/>
  <p:embeddedFontLst>
    <p:embeddedFont>
      <p:font typeface="Calibri"/>
      <p:regular xmlns:r="http://schemas.openxmlformats.org/officeDocument/2006/relationships" r:id="Rad89f2a62a2c44b3"/>
      <p:bold xmlns:r="http://schemas.openxmlformats.org/officeDocument/2006/relationships" r:id="R26adde6a5b7a4d5e"/>
      <p:italic xmlns:r="http://schemas.openxmlformats.org/officeDocument/2006/relationships" r:id="R233120852db14ea0"/>
      <p:boldItalic xmlns:r="http://schemas.openxmlformats.org/officeDocument/2006/relationships" r:id="Re32671baef5448fb"/>
    </p:embeddedFont>
    <p:embeddedFont>
      <p:font typeface="Cambria"/>
      <p:regular xmlns:r="http://schemas.openxmlformats.org/officeDocument/2006/relationships" r:id="Re9f5be77be7945b7"/>
      <p:bold xmlns:r="http://schemas.openxmlformats.org/officeDocument/2006/relationships" r:id="R78649c4b911e4f7c"/>
      <p:italic xmlns:r="http://schemas.openxmlformats.org/officeDocument/2006/relationships" r:id="R9a52c17e3c3f42b2"/>
      <p:boldItalic xmlns:r="http://schemas.openxmlformats.org/officeDocument/2006/relationships" r:id="R256497c88ac44c4b"/>
    </p:embeddedFont>
    <p:embeddedFont>
      <p:font typeface="Gill Sans"/>
      <p:regular xmlns:r="http://schemas.openxmlformats.org/officeDocument/2006/relationships" r:id="R12e9d7925103433a"/>
      <p:bold xmlns:r="http://schemas.openxmlformats.org/officeDocument/2006/relationships" r:id="R8f7e0bf59cdb4075"/>
    </p:embeddedFont>
  </p:embeddedFontLst>
  <p:defaultTextStyle>
    <a:def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None/>
    </a:defPPr>
    <a:lvl1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44a42ce10c84a92" /><Relationship Type="http://schemas.openxmlformats.org/officeDocument/2006/relationships/slideMaster" Target="/ppt/slideMasters/slideMaster1.xml" Id="R0ec2156b25ba4f80" /><Relationship Type="http://schemas.openxmlformats.org/officeDocument/2006/relationships/notesMaster" Target="/ppt/notesMasters/notesMaster1.xml" Id="R5813553308414038" /><Relationship Type="http://schemas.openxmlformats.org/officeDocument/2006/relationships/presProps" Target="/ppt/presProps.xml" Id="Re5e9b15a34ae4294" /><Relationship Type="http://schemas.openxmlformats.org/officeDocument/2006/relationships/viewProps" Target="/ppt/viewProps.xml" Id="Rde8c4cf0ad754297" /><Relationship Type="http://schemas.openxmlformats.org/officeDocument/2006/relationships/tableStyles" Target="/ppt/tableStyles.xml" Id="Rfc597242a3434b7a" /><Relationship Type="http://schemas.openxmlformats.org/officeDocument/2006/relationships/font" Target="/ppt/fonts/font.dat" Id="Rad89f2a62a2c44b3" /><Relationship Type="http://schemas.openxmlformats.org/officeDocument/2006/relationships/font" Target="/ppt/fonts/font2.dat" Id="R26adde6a5b7a4d5e" /><Relationship Type="http://schemas.openxmlformats.org/officeDocument/2006/relationships/font" Target="/ppt/fonts/font3.dat" Id="R233120852db14ea0" /><Relationship Type="http://schemas.openxmlformats.org/officeDocument/2006/relationships/font" Target="/ppt/fonts/font4.dat" Id="Re32671baef5448fb" /><Relationship Type="http://schemas.openxmlformats.org/officeDocument/2006/relationships/font" Target="/ppt/fonts/font5.dat" Id="Re9f5be77be7945b7" /><Relationship Type="http://schemas.openxmlformats.org/officeDocument/2006/relationships/font" Target="/ppt/fonts/font6.dat" Id="R78649c4b911e4f7c" /><Relationship Type="http://schemas.openxmlformats.org/officeDocument/2006/relationships/font" Target="/ppt/fonts/font7.dat" Id="R9a52c17e3c3f42b2" /><Relationship Type="http://schemas.openxmlformats.org/officeDocument/2006/relationships/font" Target="/ppt/fonts/font8.dat" Id="R256497c88ac44c4b" /><Relationship Type="http://schemas.openxmlformats.org/officeDocument/2006/relationships/font" Target="/ppt/fonts/font9.dat" Id="R12e9d7925103433a" /><Relationship Type="http://schemas.openxmlformats.org/officeDocument/2006/relationships/font" Target="/ppt/fonts/font10.dat" Id="R8f7e0bf59cdb4075" /><Relationship Type="http://schemas.openxmlformats.org/officeDocument/2006/relationships/slide" Target="/ppt/slides/slide1.xml" Id="R0d72c7f5ab934057" /><Relationship Type="http://schemas.openxmlformats.org/officeDocument/2006/relationships/slide" Target="/ppt/slides/slide2.xml" Id="Ra68e6f526b464981" /><Relationship Type="http://schemas.openxmlformats.org/officeDocument/2006/relationships/slide" Target="/ppt/slides/slide3.xml" Id="R78b3e778b2044137" /><Relationship Type="http://schemas.openxmlformats.org/officeDocument/2006/relationships/slide" Target="/ppt/slides/slide4.xml" Id="R662676a2065f4369" /><Relationship Type="http://schemas.openxmlformats.org/officeDocument/2006/relationships/slide" Target="/ppt/slides/slide5.xml" Id="R2a0b8f21803b451d" /><Relationship Type="http://schemas.openxmlformats.org/officeDocument/2006/relationships/slide" Target="/ppt/slides/slide6.xml" Id="R758bad95e5be4b8f" /><Relationship Type="http://schemas.openxmlformats.org/officeDocument/2006/relationships/slide" Target="/ppt/slides/slide7.xml" Id="R6dd147bd6a4347e2" /><Relationship Type="http://schemas.openxmlformats.org/officeDocument/2006/relationships/slide" Target="/ppt/slides/slide8.xml" Id="Rd9ff044c26be43c3" /><Relationship Type="http://schemas.openxmlformats.org/officeDocument/2006/relationships/slide" Target="/ppt/slides/slide9.xml" Id="R0ce3eadaf88345af" /><Relationship Type="http://schemas.openxmlformats.org/officeDocument/2006/relationships/slide" Target="/ppt/slides/slide10.xml" Id="R9e418dff1b22492e" /><Relationship Type="http://schemas.openxmlformats.org/officeDocument/2006/relationships/slide" Target="/ppt/slides/slide11.xml" Id="Ra7df344531164bbe" /><Relationship Type="http://schemas.openxmlformats.org/officeDocument/2006/relationships/slide" Target="/ppt/slides/slide12.xml" Id="R72d7b857829d4f6e" /><Relationship Type="http://schemas.openxmlformats.org/officeDocument/2006/relationships/slide" Target="/ppt/slides/slide13.xml" Id="Rf8cab462cccf4dbd" /><Relationship Type="http://schemas.openxmlformats.org/officeDocument/2006/relationships/slide" Target="/ppt/slides/slide14.xml" Id="Rf86b787a63b54e92" /><Relationship Type="http://schemas.openxmlformats.org/officeDocument/2006/relationships/slide" Target="/ppt/slides/slide15.xml" Id="R64c535f5d9124b05" /><Relationship Type="http://schemas.openxmlformats.org/officeDocument/2006/relationships/slide" Target="/ppt/slides/slide16.xml" Id="R23a4073a358d407b" /><Relationship Type="http://schemas.openxmlformats.org/officeDocument/2006/relationships/slide" Target="/ppt/slides/slide17.xml" Id="Rf08fec111cf04d63" /><Relationship Type="http://schemas.openxmlformats.org/officeDocument/2006/relationships/slide" Target="/ppt/slides/slide18.xml" Id="R44f7cd8211c849bf" /><Relationship Type="http://schemas.openxmlformats.org/officeDocument/2006/relationships/slide" Target="/ppt/slides/slide19.xml" Id="R00c81020ebeb46db" /><Relationship Type="http://schemas.openxmlformats.org/officeDocument/2006/relationships/slide" Target="/ppt/slides/slide20.xml" Id="Rae08ea52a3d640d7" /><Relationship Type="http://schemas.openxmlformats.org/officeDocument/2006/relationships/slide" Target="/ppt/slides/slide21.xml" Id="R0ccf42debec4460e" /><Relationship Type="http://schemas.openxmlformats.org/officeDocument/2006/relationships/slide" Target="/ppt/slides/slide22.xml" Id="R8e89a982a1324310" /><Relationship Type="http://schemas.openxmlformats.org/officeDocument/2006/relationships/slide" Target="/ppt/slides/slide23.xml" Id="Rc9672024a06e4da6" /><Relationship Type="http://schemas.openxmlformats.org/officeDocument/2006/relationships/slide" Target="/ppt/slides/slide24.xml" Id="Rccd24c5483964013" /><Relationship Type="http://schemas.openxmlformats.org/officeDocument/2006/relationships/slide" Target="/ppt/slides/slide25.xml" Id="R186cc42692564e2c" /><Relationship Type="http://schemas.openxmlformats.org/officeDocument/2006/relationships/slide" Target="/ppt/slides/slide26.xml" Id="R11a8b92d7ff24b82" /><Relationship Type="http://schemas.openxmlformats.org/officeDocument/2006/relationships/slide" Target="/ppt/slides/slide27.xml" Id="R060faf5a6b3f4eb4" /><Relationship Type="http://schemas.openxmlformats.org/officeDocument/2006/relationships/slide" Target="/ppt/slides/slide28.xml" Id="R79fef49715a24940" /><Relationship Type="http://schemas.openxmlformats.org/officeDocument/2006/relationships/slide" Target="/ppt/slides/slide29.xml" Id="Refb62340e9494942" /><Relationship Type="http://schemas.openxmlformats.org/officeDocument/2006/relationships/slide" Target="/ppt/slides/slide30.xml" Id="R6cd99b7d7ff2407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7b5d01c86f74c1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ividendo">
  <a:themeElements>
    <a:clrScheme name="Dividend">
      <a:dk1>
        <a:srgbClr val="000000"/>
      </a:dk1>
      <a:lt1>
        <a:srgbClr val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d08294f51ea4d65" /><Relationship Type="http://schemas.openxmlformats.org/officeDocument/2006/relationships/notesMaster" Target="/ppt/notesMasters/notesMaster1.xml" Id="R748e163679d047b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0116fcc34f54840" /><Relationship Type="http://schemas.openxmlformats.org/officeDocument/2006/relationships/notesMaster" Target="/ppt/notesMasters/notesMaster1.xml" Id="R6e9a8e437e6b4a7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f32659a6bab4068" /><Relationship Type="http://schemas.openxmlformats.org/officeDocument/2006/relationships/notesMaster" Target="/ppt/notesMasters/notesMaster1.xml" Id="R25f2869ade4849c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e5bdb91c9cc428f" /><Relationship Type="http://schemas.openxmlformats.org/officeDocument/2006/relationships/notesMaster" Target="/ppt/notesMasters/notesMaster1.xml" Id="Ra3e91bf19f844da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82f62463ff2491a" /><Relationship Type="http://schemas.openxmlformats.org/officeDocument/2006/relationships/notesMaster" Target="/ppt/notesMasters/notesMaster1.xml" Id="Ree2c7b4147f449b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cf11a63cbd24c92" /><Relationship Type="http://schemas.openxmlformats.org/officeDocument/2006/relationships/notesMaster" Target="/ppt/notesMasters/notesMaster1.xml" Id="Rfb3b8e8c66c34ea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4989f5951634967" /><Relationship Type="http://schemas.openxmlformats.org/officeDocument/2006/relationships/notesMaster" Target="/ppt/notesMasters/notesMaster1.xml" Id="Rec303cf73a00466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b652efa85f143bf" /><Relationship Type="http://schemas.openxmlformats.org/officeDocument/2006/relationships/notesMaster" Target="/ppt/notesMasters/notesMaster1.xml" Id="Rc5b6d1533d33437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7b88f9475f44a5a" /><Relationship Type="http://schemas.openxmlformats.org/officeDocument/2006/relationships/notesMaster" Target="/ppt/notesMasters/notesMaster1.xml" Id="R42987db77bad42f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0f39d0db3aa4314" /><Relationship Type="http://schemas.openxmlformats.org/officeDocument/2006/relationships/notesMaster" Target="/ppt/notesMasters/notesMaster1.xml" Id="R7c35633f4c6145a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56d50783e044b6b" /><Relationship Type="http://schemas.openxmlformats.org/officeDocument/2006/relationships/notesMaster" Target="/ppt/notesMasters/notesMaster1.xml" Id="R72532c3ae7e6481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d53adc17c8a478e" /><Relationship Type="http://schemas.openxmlformats.org/officeDocument/2006/relationships/notesMaster" Target="/ppt/notesMasters/notesMaster1.xml" Id="R00ff837cc008454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ebc30126ab04bb0" /><Relationship Type="http://schemas.openxmlformats.org/officeDocument/2006/relationships/notesMaster" Target="/ppt/notesMasters/notesMaster1.xml" Id="Rcb2db95a97af4f7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4aefd415b794dcb" /><Relationship Type="http://schemas.openxmlformats.org/officeDocument/2006/relationships/notesMaster" Target="/ppt/notesMasters/notesMaster1.xml" Id="R411356b097454d1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2f803d7734d4ab0" /><Relationship Type="http://schemas.openxmlformats.org/officeDocument/2006/relationships/notesMaster" Target="/ppt/notesMasters/notesMaster1.xml" Id="R45cd2344c4444a1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504b90bf6ce4282" /><Relationship Type="http://schemas.openxmlformats.org/officeDocument/2006/relationships/notesMaster" Target="/ppt/notesMasters/notesMaster1.xml" Id="R2a576517a2034c4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46faba69988423d" /><Relationship Type="http://schemas.openxmlformats.org/officeDocument/2006/relationships/notesMaster" Target="/ppt/notesMasters/notesMaster1.xml" Id="R7b9eaae3992c4fa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fcc655a15764e4f" /><Relationship Type="http://schemas.openxmlformats.org/officeDocument/2006/relationships/notesMaster" Target="/ppt/notesMasters/notesMaster1.xml" Id="R2469d84ae72f400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4c4a700e29b436f" /><Relationship Type="http://schemas.openxmlformats.org/officeDocument/2006/relationships/notesMaster" Target="/ppt/notesMasters/notesMaster1.xml" Id="Rdd4bfea200494a9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0821682fedf4c6e" /><Relationship Type="http://schemas.openxmlformats.org/officeDocument/2006/relationships/notesMaster" Target="/ppt/notesMasters/notesMaster1.xml" Id="R390d5c56af2f41d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41adbdf29364deb" /><Relationship Type="http://schemas.openxmlformats.org/officeDocument/2006/relationships/notesMaster" Target="/ppt/notesMasters/notesMaster1.xml" Id="Rb4d5b4218504497f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ef6db3e6f5fa4e79" /><Relationship Type="http://schemas.openxmlformats.org/officeDocument/2006/relationships/notesMaster" Target="/ppt/notesMasters/notesMaster1.xml" Id="R20699d94cfab4d16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bad6bc325cdb4899" /><Relationship Type="http://schemas.openxmlformats.org/officeDocument/2006/relationships/notesMaster" Target="/ppt/notesMasters/notesMaster1.xml" Id="Rcc0a7b2a026f4ce6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665cc70e023b4394" /><Relationship Type="http://schemas.openxmlformats.org/officeDocument/2006/relationships/notesMaster" Target="/ppt/notesMasters/notesMaster1.xml" Id="R09fef572d87942fe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5e81f91b9ef54fd6" /><Relationship Type="http://schemas.openxmlformats.org/officeDocument/2006/relationships/notesMaster" Target="/ppt/notesMasters/notesMaster1.xml" Id="R1db8f9615c524a74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2307e8d3f5a44e5f" /><Relationship Type="http://schemas.openxmlformats.org/officeDocument/2006/relationships/notesMaster" Target="/ppt/notesMasters/notesMaster1.xml" Id="Rac372eb04649479f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8e8fb92cba0342b4" /><Relationship Type="http://schemas.openxmlformats.org/officeDocument/2006/relationships/notesMaster" Target="/ppt/notesMasters/notesMaster1.xml" Id="R3705f285b1874838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fedba9c83a4541cb" /><Relationship Type="http://schemas.openxmlformats.org/officeDocument/2006/relationships/notesMaster" Target="/ppt/notesMasters/notesMaster1.xml" Id="R9e2cfbb740f44bae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7fe30728da0e4aff" /><Relationship Type="http://schemas.openxmlformats.org/officeDocument/2006/relationships/notesMaster" Target="/ppt/notesMasters/notesMaster1.xml" Id="R32e0467e69894e78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94f9a92d85c24060" /><Relationship Type="http://schemas.openxmlformats.org/officeDocument/2006/relationships/notesMaster" Target="/ppt/notesMasters/notesMaster1.xml" Id="Rcc5ddd9620c547f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Fuente del contenido: ERS_CONVERSION_UNIDADES_SEGURIDAD_COMPLETA (1).docx, portada.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Fuente del contenido: ERS_CONVERSION_UNIDADES_SEGURIDAD_COMPLETA (1).docx, alcance y canales.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Fuente del contenido: ERS_CONVERSION_UNIDADES_SEGURIDAD_COMPLETA (1).docx, propósito y alcance.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Fuente del contenido: 04. SERVIDOR/WS_CON_UNI_JAVA_SOAP/README.md; pom.xml; WSConUni.java.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Fuente del contenido: WSConUni.java; WS_CON_UNI_JAVA_SOAP/src/main/resources/WSConUni.wsdl.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Fuente del contenido: ConversorUnidadesServices.java; Respuesta.java; README del servidor.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Fuente del contenido: ConversorUnidadesServices.java; README del servidor.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Fuente del contenido: Clases ec.edu.monster.pruebas del servidor y PruebaIntegracionSOAP.java.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Fuente del contenido: 04. CLICON/CLI_CON_UNI_JAVA_SOAP/README.md; pom.xml.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Fuente del contenido: MainConsola.java; ControladorConsola.java; ClienteSoap.java; RespuestaSoap.java.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Fuente del contenido: VistaConsola.java; ControladorConsola.java.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Fuente del contenido: README del cliente de consola; PruebaMenuConsola.java.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Fuente del contenido: 04. CLIESC/CLI_ESC_CON_UNI_JAVA_SOAP/README.md; pom.xml.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Fuente del contenido: ControladorConversiones.java; ControladorLogin.java; modelo y vista Swing.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Fuente del contenido: LoginFrame.java; VentanaConversiones.java; GestorPantallas.java.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Fuente del contenido: LoginFrame.java; ControladorLogin.java.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Fuente del contenido: VentanaConversiones.java; ControladorConversiones.java.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Fuente del contenido: 04. CLIWEB/CLI_WEB_CON_UNI_JAVA_SOAP/README.md; pom.xml; web.xml.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Fuente del contenido: ConversionServlet.java; ClienteSoap.java; ConversorWebService.java.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Fuente del contenido: AutenticacionServlet.java; FiltroSesion.java; FiltroCsrf.java; login.jsp.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Fuente del contenido: README del cliente web; pom.xml.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Fuente del contenido: login.jsp; AutenticacionServlet.java.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Fuente del contenido: conversor.jsp; ConversionServlet.java.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Fuente del contenido: 04. CLIMOV/CLI_MOV_CON_UNI_JAVA_SOAP/README.md; app/build.gradle.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Fuente del contenido: README de Android; modelo, vista y controladores.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Fuente del contenido: ClienteSoap.java; EjecutorAndroid.java.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Fuente del contenido: LoginActivity.java; ConversionesActivity.java; ControladorLogin.java; ControladorConversiones.java.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Fuente del contenido: README de Android; app/src/main/res/values/config.xml.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Fuente del contenido: README de los cuatro clientes y del servidor; ERS.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Fuente del contenido: README del servidor; README de los cuatro clientes.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f4a4c990b54d9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8d5c7aaf9c432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4faef02cdc4e4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76b4da0c1e4f8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af9c7c51fd4cc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6912d6f07a4848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d43d7713824c5b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fe4453a4894ccb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cc0c1929994f90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f1299e2a7646ef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aeb169d6f34cb3" /></Relationships>
</file>

<file path=ppt/slideLayouts/slideLayout1.xml><?xml version="1.0" encoding="utf-8"?>
<p:sldLayout xmlns:p="http://schemas.openxmlformats.org/presentationml/2006/main" matchingName="Diapositiva de título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Google Shape;15;p45">
            <a:extLst xmlns:a="http://schemas.openxmlformats.org/drawingml/2006/main">
              <a:ext uri="{FF2B5EF4-FFF2-40B4-BE49-F238E27FC236}">
                <a16:creationId xmlns:a16="http://schemas.microsoft.com/office/drawing/2014/main" id="{81F7DFCF-B0B0-43C9-A25F-44FF7933E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534" y="3085765"/>
            <a:ext cx="11262866" cy="3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Google Shape;16;p45">
            <a:extLst xmlns:a="http://schemas.openxmlformats.org/drawingml/2006/main">
              <a:ext uri="{FF2B5EF4-FFF2-40B4-BE49-F238E27FC236}">
                <a16:creationId xmlns:a16="http://schemas.microsoft.com/office/drawing/2014/main" id="{AECFF515-8A5A-4EE8-A018-C63EEADF9A08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581191" y="1020431"/>
            <a:ext cx="10993549" cy="1475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ill Sans"/>
              <a:buNone/>
              <a:defRPr sz="3600">
                <a:solidFill>
                  <a:schemeClr val="accent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7" name="Google Shape;17;p45">
            <a:extLst xmlns:a="http://schemas.openxmlformats.org/drawingml/2006/main">
              <a:ext uri="{FF2B5EF4-FFF2-40B4-BE49-F238E27FC236}">
                <a16:creationId xmlns:a16="http://schemas.microsoft.com/office/drawing/2014/main" id="{7F0FAADA-8C5F-466B-9914-A15E066F9E3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581194" y="2495445"/>
            <a:ext cx="10993546" cy="5903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472"/>
              <a:buNone/>
              <a:defRPr sz="1600" cap="none">
                <a:solidFill>
                  <a:schemeClr val="accent2"/>
                </a:solidFill>
              </a:defRPr>
            </a:lvl1pPr>
            <a:lvl2pPr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>
                <a:solidFill>
                  <a:srgbClr val="888888"/>
                </a:solidFill>
              </a:defRPr>
            </a:lvl2pPr>
            <a:lvl3pPr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>
                <a:solidFill>
                  <a:srgbClr val="888888"/>
                </a:solidFill>
              </a:defRPr>
            </a:lvl3pPr>
            <a:lvl4pPr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4pPr>
            <a:lvl5pPr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5pPr>
            <a:lvl6pPr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6pPr>
            <a:lvl7pPr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7pPr>
            <a:lvl8pPr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8pPr>
            <a:lvl9pPr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104"/>
              <a:buNone/>
              <a:defRPr>
                <a:solidFill>
                  <a:srgbClr val="888888"/>
                </a:solidFill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8" name="Google Shape;18;p45">
            <a:extLst xmlns:a="http://schemas.openxmlformats.org/drawingml/2006/main">
              <a:ext uri="{FF2B5EF4-FFF2-40B4-BE49-F238E27FC236}">
                <a16:creationId xmlns:a16="http://schemas.microsoft.com/office/drawing/2014/main" id="{907C1668-2893-43C4-9F67-CF18FBDDFA7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7605951" y="5956137"/>
            <a:ext cx="284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9" name="Google Shape;19;p45">
            <a:extLst xmlns:a="http://schemas.openxmlformats.org/drawingml/2006/main">
              <a:ext uri="{FF2B5EF4-FFF2-40B4-BE49-F238E27FC236}">
                <a16:creationId xmlns:a16="http://schemas.microsoft.com/office/drawing/2014/main" id="{E7C77B1B-9B39-4371-9052-4EE8EA8C714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581192" y="5951811"/>
            <a:ext cx="691721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0" name="Google Shape;20;p45">
            <a:extLst xmlns:a="http://schemas.openxmlformats.org/drawingml/2006/main">
              <a:ext uri="{FF2B5EF4-FFF2-40B4-BE49-F238E27FC236}">
                <a16:creationId xmlns:a16="http://schemas.microsoft.com/office/drawing/2014/main" id="{2FCD1942-86CE-4912-B1F4-C8512F89AD0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558300" y="5956137"/>
            <a:ext cx="101644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Título y objetos" type="obj">
  <p:cSld name="OBJE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Google Shape;22;p46">
            <a:extLst xmlns:a="http://schemas.openxmlformats.org/drawingml/2006/main">
              <a:ext uri="{FF2B5EF4-FFF2-40B4-BE49-F238E27FC236}">
                <a16:creationId xmlns:a16="http://schemas.microsoft.com/office/drawing/2014/main" id="{DA2EAED6-10C7-421F-957B-EA4BCD951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286" y="614407"/>
            <a:ext cx="11309338" cy="118929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" name="Google Shape;23;p46">
            <a:extLst xmlns:a="http://schemas.openxmlformats.org/drawingml/2006/main">
              <a:ext uri="{FF2B5EF4-FFF2-40B4-BE49-F238E27FC236}">
                <a16:creationId xmlns:a16="http://schemas.microsoft.com/office/drawing/2014/main" id="{820F1418-23B4-4753-B2ED-EDF7764F58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1192" y="702156"/>
            <a:ext cx="11029616" cy="1013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4" name="Google Shape;24;p46">
            <a:extLst xmlns:a="http://schemas.openxmlformats.org/drawingml/2006/main">
              <a:ext uri="{FF2B5EF4-FFF2-40B4-BE49-F238E27FC236}">
                <a16:creationId xmlns:a16="http://schemas.microsoft.com/office/drawing/2014/main" id="{726DEA27-0080-4940-A41F-93FA0834464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81192" y="2180496"/>
            <a:ext cx="11029615" cy="36783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marL="45720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5" name="Google Shape;25;p46">
            <a:extLst xmlns:a="http://schemas.openxmlformats.org/drawingml/2006/main">
              <a:ext uri="{FF2B5EF4-FFF2-40B4-BE49-F238E27FC236}">
                <a16:creationId xmlns:a16="http://schemas.microsoft.com/office/drawing/2014/main" id="{102D231E-32CF-42DF-82BC-2E9809FD3BF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7605951" y="5956137"/>
            <a:ext cx="2844799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6" name="Google Shape;26;p46">
            <a:extLst xmlns:a="http://schemas.openxmlformats.org/drawingml/2006/main">
              <a:ext uri="{FF2B5EF4-FFF2-40B4-BE49-F238E27FC236}">
                <a16:creationId xmlns:a16="http://schemas.microsoft.com/office/drawing/2014/main" id="{19FCC995-593F-44F5-BE3C-D2EA1607268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581192" y="5951811"/>
            <a:ext cx="691721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7" name="Google Shape;27;p46">
            <a:extLst xmlns:a="http://schemas.openxmlformats.org/drawingml/2006/main">
              <a:ext uri="{FF2B5EF4-FFF2-40B4-BE49-F238E27FC236}">
                <a16:creationId xmlns:a16="http://schemas.microsoft.com/office/drawing/2014/main" id="{1774677B-22F4-47A0-B40A-98F33D27645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558300" y="5956137"/>
            <a:ext cx="1052508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Encabezado de sección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Google Shape;29;p47">
            <a:extLst xmlns:a="http://schemas.openxmlformats.org/drawingml/2006/main">
              <a:ext uri="{FF2B5EF4-FFF2-40B4-BE49-F238E27FC236}">
                <a16:creationId xmlns:a16="http://schemas.microsoft.com/office/drawing/2014/main" id="{A28D9EF3-4C91-4723-9203-6830AB356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817" y="5141974"/>
            <a:ext cx="11290860" cy="125882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" name="Google Shape;30;p47">
            <a:extLst xmlns:a="http://schemas.openxmlformats.org/drawingml/2006/main">
              <a:ext uri="{FF2B5EF4-FFF2-40B4-BE49-F238E27FC236}">
                <a16:creationId xmlns:a16="http://schemas.microsoft.com/office/drawing/2014/main" id="{481B5944-5F49-4025-B4C0-7015B51F09A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1193" y="3043910"/>
            <a:ext cx="11029615" cy="14975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ill Sans"/>
              <a:buNone/>
              <a:defRPr sz="3600" b="0" cap="none">
                <a:solidFill>
                  <a:schemeClr val="accent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31" name="Google Shape;31;p47">
            <a:extLst xmlns:a="http://schemas.openxmlformats.org/drawingml/2006/main">
              <a:ext uri="{FF2B5EF4-FFF2-40B4-BE49-F238E27FC236}">
                <a16:creationId xmlns:a16="http://schemas.microsoft.com/office/drawing/2014/main" id="{C8F05D42-1F7B-431F-8F65-F5BAE32E517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81192" y="4541417"/>
            <a:ext cx="11029615" cy="600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None/>
              <a:defRPr sz="1800" cap="none">
                <a:solidFill>
                  <a:schemeClr val="accent2"/>
                </a:solidFill>
              </a:defRPr>
            </a:lvl1pPr>
            <a:lvl2pPr marL="9144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None/>
              <a:defRPr sz="1800">
                <a:solidFill>
                  <a:srgbClr val="888888"/>
                </a:solidFill>
              </a:defRPr>
            </a:lvl2pPr>
            <a:lvl3pPr marL="13716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>
                <a:solidFill>
                  <a:srgbClr val="888888"/>
                </a:solidFill>
              </a:defRPr>
            </a:lvl3pPr>
            <a:lvl4pPr marL="18288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4pPr>
            <a:lvl5pPr marL="22860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5pPr>
            <a:lvl6pPr marL="27432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6pPr>
            <a:lvl7pPr marL="32004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7pPr>
            <a:lvl8pPr marL="36576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8pPr>
            <a:lvl9pPr marL="4114800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32" name="Google Shape;32;p47">
            <a:extLst xmlns:a="http://schemas.openxmlformats.org/drawingml/2006/main">
              <a:ext uri="{FF2B5EF4-FFF2-40B4-BE49-F238E27FC236}">
                <a16:creationId xmlns:a16="http://schemas.microsoft.com/office/drawing/2014/main" id="{CFFF0A8E-CD25-4A14-8748-E52FAECA427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7605951" y="5956137"/>
            <a:ext cx="2844799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33" name="Google Shape;33;p47">
            <a:extLst xmlns:a="http://schemas.openxmlformats.org/drawingml/2006/main">
              <a:ext uri="{FF2B5EF4-FFF2-40B4-BE49-F238E27FC236}">
                <a16:creationId xmlns:a16="http://schemas.microsoft.com/office/drawing/2014/main" id="{087C1B5E-5074-4CCA-BBCC-E9C9E8D1631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581192" y="5951811"/>
            <a:ext cx="691721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34" name="Google Shape;34;p47">
            <a:extLst xmlns:a="http://schemas.openxmlformats.org/drawingml/2006/main">
              <a:ext uri="{FF2B5EF4-FFF2-40B4-BE49-F238E27FC236}">
                <a16:creationId xmlns:a16="http://schemas.microsoft.com/office/drawing/2014/main" id="{9D6B3F20-2351-4972-A58C-66FC442ACF5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558300" y="5956137"/>
            <a:ext cx="105251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Dos objetos" type="twoObj">
  <p:cSld name="TWO_OBJEC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Google Shape;36;p48">
            <a:extLst xmlns:a="http://schemas.openxmlformats.org/drawingml/2006/main">
              <a:ext uri="{FF2B5EF4-FFF2-40B4-BE49-F238E27FC236}">
                <a16:creationId xmlns:a16="http://schemas.microsoft.com/office/drawing/2014/main" id="{E82128D7-3D14-4383-A20C-51E6333DF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982" y="606554"/>
            <a:ext cx="11300036" cy="125882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" name="Google Shape;37;p48">
            <a:extLst xmlns:a="http://schemas.openxmlformats.org/drawingml/2006/main">
              <a:ext uri="{FF2B5EF4-FFF2-40B4-BE49-F238E27FC236}">
                <a16:creationId xmlns:a16="http://schemas.microsoft.com/office/drawing/2014/main" id="{A5D71FAD-5DDE-447D-9E8C-DF391383A4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1193" y="729658"/>
            <a:ext cx="11029616" cy="9883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38" name="Google Shape;38;p48">
            <a:extLst xmlns:a="http://schemas.openxmlformats.org/drawingml/2006/main">
              <a:ext uri="{FF2B5EF4-FFF2-40B4-BE49-F238E27FC236}">
                <a16:creationId xmlns:a16="http://schemas.microsoft.com/office/drawing/2014/main" id="{534CED20-E911-486D-A46D-8250D6954A0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81193" y="2228003"/>
            <a:ext cx="5422390" cy="36330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marL="45720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39" name="Google Shape;39;p48">
            <a:extLst xmlns:a="http://schemas.openxmlformats.org/drawingml/2006/main">
              <a:ext uri="{FF2B5EF4-FFF2-40B4-BE49-F238E27FC236}">
                <a16:creationId xmlns:a16="http://schemas.microsoft.com/office/drawing/2014/main" id="{152BBE31-7BF2-4878-BC66-EABB333ED61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88417" y="2228003"/>
            <a:ext cx="5422392" cy="36330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marL="45720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40" name="Google Shape;40;p48">
            <a:extLst xmlns:a="http://schemas.openxmlformats.org/drawingml/2006/main">
              <a:ext uri="{FF2B5EF4-FFF2-40B4-BE49-F238E27FC236}">
                <a16:creationId xmlns:a16="http://schemas.microsoft.com/office/drawing/2014/main" id="{E144B5FC-8BA8-42DB-991B-B97D051E981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7605951" y="5956137"/>
            <a:ext cx="2844799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41" name="Google Shape;41;p48">
            <a:extLst xmlns:a="http://schemas.openxmlformats.org/drawingml/2006/main">
              <a:ext uri="{FF2B5EF4-FFF2-40B4-BE49-F238E27FC236}">
                <a16:creationId xmlns:a16="http://schemas.microsoft.com/office/drawing/2014/main" id="{8814986B-B3D5-4023-92DA-5E66FFEEC13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581192" y="5951811"/>
            <a:ext cx="691721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42" name="Google Shape;42;p48">
            <a:extLst xmlns:a="http://schemas.openxmlformats.org/drawingml/2006/main">
              <a:ext uri="{FF2B5EF4-FFF2-40B4-BE49-F238E27FC236}">
                <a16:creationId xmlns:a16="http://schemas.microsoft.com/office/drawing/2014/main" id="{434FFCB9-36F8-4DD2-9F86-F149062B16B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558300" y="5956137"/>
            <a:ext cx="105251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Comparación" type="twoTxTwoObj">
  <p:cSld name="TWO_OBJECTS_WITH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Google Shape;44;p49">
            <a:extLst xmlns:a="http://schemas.openxmlformats.org/drawingml/2006/main">
              <a:ext uri="{FF2B5EF4-FFF2-40B4-BE49-F238E27FC236}">
                <a16:creationId xmlns:a16="http://schemas.microsoft.com/office/drawing/2014/main" id="{A47DCEB2-AFF5-4C93-8459-BA8564085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982" y="606554"/>
            <a:ext cx="11300036" cy="125882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Google Shape;45;p49">
            <a:extLst xmlns:a="http://schemas.openxmlformats.org/drawingml/2006/main">
              <a:ext uri="{FF2B5EF4-FFF2-40B4-BE49-F238E27FC236}">
                <a16:creationId xmlns:a16="http://schemas.microsoft.com/office/drawing/2014/main" id="{96C0BAFD-703C-4798-B264-B1463D8CC7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1193" y="729658"/>
            <a:ext cx="11029616" cy="9883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46" name="Google Shape;46;p49">
            <a:extLst xmlns:a="http://schemas.openxmlformats.org/drawingml/2006/main">
              <a:ext uri="{FF2B5EF4-FFF2-40B4-BE49-F238E27FC236}">
                <a16:creationId xmlns:a16="http://schemas.microsoft.com/office/drawing/2014/main" id="{58CF630C-968B-4DD4-B0C5-8F61CE4BDC2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87219" y="2250892"/>
            <a:ext cx="5087075" cy="536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024"/>
              <a:buNone/>
              <a:defRPr sz="2200" b="0">
                <a:solidFill>
                  <a:schemeClr val="accent2"/>
                </a:solidFill>
              </a:defRPr>
            </a:lvl1pPr>
            <a:lvl2pPr marL="9144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40"/>
              <a:buNone/>
              <a:defRPr sz="2000" b="1"/>
            </a:lvl2pPr>
            <a:lvl3pPr marL="13716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None/>
              <a:defRPr sz="1800" b="1"/>
            </a:lvl3pPr>
            <a:lvl4pPr marL="18288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4pPr>
            <a:lvl5pPr marL="22860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5pPr>
            <a:lvl6pPr marL="27432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6pPr>
            <a:lvl7pPr marL="32004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7pPr>
            <a:lvl8pPr marL="36576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8pPr>
            <a:lvl9pPr marL="4114800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72"/>
              <a:buNone/>
              <a:defRPr sz="1600" b="1"/>
            </a:lvl9pPr>
          </a:lstStyle>
          <a:p xmlns:a="http://schemas.openxmlformats.org/drawingml/2006/main">
            <a:endParaRPr/>
          </a:p>
        </p:txBody>
      </p:sp>
      <p:sp>
        <p:nvSpPr>
          <p:cNvPr id="47" name="Google Shape;47;p49">
            <a:extLst xmlns:a="http://schemas.openxmlformats.org/drawingml/2006/main">
              <a:ext uri="{FF2B5EF4-FFF2-40B4-BE49-F238E27FC236}">
                <a16:creationId xmlns:a16="http://schemas.microsoft.com/office/drawing/2014/main" id="{BA978D04-EBEA-4AB5-B8FA-9CAA19B8AE1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581194" y="2926052"/>
            <a:ext cx="5393100" cy="29349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48" name="Google Shape;48;p49">
            <a:extLst xmlns:a="http://schemas.openxmlformats.org/drawingml/2006/main">
              <a:ext uri="{FF2B5EF4-FFF2-40B4-BE49-F238E27FC236}">
                <a16:creationId xmlns:a16="http://schemas.microsoft.com/office/drawing/2014/main" id="{FB26FA00-50E6-4256-99B3-8A427F6E8F5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523735" y="2250892"/>
            <a:ext cx="5087073" cy="5533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024"/>
              <a:buNone/>
              <a:defRPr sz="2200" b="0">
                <a:solidFill>
                  <a:schemeClr val="accent2"/>
                </a:solidFill>
              </a:defRPr>
            </a:lvl1pPr>
            <a:lvl2pPr marL="9144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40"/>
              <a:buNone/>
              <a:defRPr sz="2000" b="1"/>
            </a:lvl2pPr>
            <a:lvl3pPr marL="13716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None/>
              <a:defRPr sz="1800" b="1"/>
            </a:lvl3pPr>
            <a:lvl4pPr marL="18288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4pPr>
            <a:lvl5pPr marL="22860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5pPr>
            <a:lvl6pPr marL="27432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6pPr>
            <a:lvl7pPr marL="32004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7pPr>
            <a:lvl8pPr marL="36576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8pPr>
            <a:lvl9pPr marL="4114800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72"/>
              <a:buNone/>
              <a:defRPr sz="1600" b="1"/>
            </a:lvl9pPr>
          </a:lstStyle>
          <a:p xmlns:a="http://schemas.openxmlformats.org/drawingml/2006/main">
            <a:endParaRPr/>
          </a:p>
        </p:txBody>
      </p:sp>
      <p:sp>
        <p:nvSpPr>
          <p:cNvPr id="49" name="Google Shape;49;p49">
            <a:extLst xmlns:a="http://schemas.openxmlformats.org/drawingml/2006/main">
              <a:ext uri="{FF2B5EF4-FFF2-40B4-BE49-F238E27FC236}">
                <a16:creationId xmlns:a16="http://schemas.microsoft.com/office/drawing/2014/main" id="{D5D229BD-B398-450E-BD8E-0893B06BD21B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6217709" y="2926052"/>
            <a:ext cx="5393100" cy="29349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50" name="Google Shape;50;p49">
            <a:extLst xmlns:a="http://schemas.openxmlformats.org/drawingml/2006/main">
              <a:ext uri="{FF2B5EF4-FFF2-40B4-BE49-F238E27FC236}">
                <a16:creationId xmlns:a16="http://schemas.microsoft.com/office/drawing/2014/main" id="{E7B022CB-B59B-4D66-B534-784561399AF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7605951" y="5956137"/>
            <a:ext cx="2844799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51" name="Google Shape;51;p49">
            <a:extLst xmlns:a="http://schemas.openxmlformats.org/drawingml/2006/main">
              <a:ext uri="{FF2B5EF4-FFF2-40B4-BE49-F238E27FC236}">
                <a16:creationId xmlns:a16="http://schemas.microsoft.com/office/drawing/2014/main" id="{E9F00149-9248-4461-821A-5B56F9A675B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581192" y="5951811"/>
            <a:ext cx="691721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52" name="Google Shape;52;p49">
            <a:extLst xmlns:a="http://schemas.openxmlformats.org/drawingml/2006/main">
              <a:ext uri="{FF2B5EF4-FFF2-40B4-BE49-F238E27FC236}">
                <a16:creationId xmlns:a16="http://schemas.microsoft.com/office/drawing/2014/main" id="{8FC45D92-E1AD-4496-B594-FDA4CB09C5C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558300" y="5956137"/>
            <a:ext cx="105251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Solo el título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Google Shape;54;p50">
            <a:extLst xmlns:a="http://schemas.openxmlformats.org/drawingml/2006/main">
              <a:ext uri="{FF2B5EF4-FFF2-40B4-BE49-F238E27FC236}">
                <a16:creationId xmlns:a16="http://schemas.microsoft.com/office/drawing/2014/main" id="{CBF91A3E-77E7-481B-A6FA-910CE3EAC90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7605951" y="5956137"/>
            <a:ext cx="2844799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55" name="Google Shape;55;p50">
            <a:extLst xmlns:a="http://schemas.openxmlformats.org/drawingml/2006/main">
              <a:ext uri="{FF2B5EF4-FFF2-40B4-BE49-F238E27FC236}">
                <a16:creationId xmlns:a16="http://schemas.microsoft.com/office/drawing/2014/main" id="{AEA012E0-295D-40C2-A6F1-7F0EC10E7EB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581192" y="5951811"/>
            <a:ext cx="691721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56" name="Google Shape;56;p50">
            <a:extLst xmlns:a="http://schemas.openxmlformats.org/drawingml/2006/main">
              <a:ext uri="{FF2B5EF4-FFF2-40B4-BE49-F238E27FC236}">
                <a16:creationId xmlns:a16="http://schemas.microsoft.com/office/drawing/2014/main" id="{18E12064-317B-4349-BC4E-5A49E5395C2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558300" y="5956137"/>
            <a:ext cx="105251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  <p:sp>
        <p:nvSpPr>
          <p:cNvPr id="57" name="Google Shape;57;p50">
            <a:extLst xmlns:a="http://schemas.openxmlformats.org/drawingml/2006/main">
              <a:ext uri="{FF2B5EF4-FFF2-40B4-BE49-F238E27FC236}">
                <a16:creationId xmlns:a16="http://schemas.microsoft.com/office/drawing/2014/main" id="{1D0858B1-957F-4F3B-A568-2BDCCB1E6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83" y="606554"/>
            <a:ext cx="11300036" cy="125882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" name="Google Shape;58;p50">
            <a:extLst xmlns:a="http://schemas.openxmlformats.org/drawingml/2006/main">
              <a:ext uri="{FF2B5EF4-FFF2-40B4-BE49-F238E27FC236}">
                <a16:creationId xmlns:a16="http://schemas.microsoft.com/office/drawing/2014/main" id="{737991D4-8CBE-493F-ABA6-6CA2F5238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5894" y="729658"/>
            <a:ext cx="11029616" cy="9883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En blanco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" name="Google Shape;60;p51">
            <a:extLst xmlns:a="http://schemas.openxmlformats.org/drawingml/2006/main">
              <a:ext uri="{FF2B5EF4-FFF2-40B4-BE49-F238E27FC236}">
                <a16:creationId xmlns:a16="http://schemas.microsoft.com/office/drawing/2014/main" id="{4CB699C7-DD8D-4B02-B119-B3A046381B6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7605951" y="5956137"/>
            <a:ext cx="2844799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61" name="Google Shape;61;p51">
            <a:extLst xmlns:a="http://schemas.openxmlformats.org/drawingml/2006/main">
              <a:ext uri="{FF2B5EF4-FFF2-40B4-BE49-F238E27FC236}">
                <a16:creationId xmlns:a16="http://schemas.microsoft.com/office/drawing/2014/main" id="{0012E0E8-22D2-4828-96D4-07289747E03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581192" y="5951811"/>
            <a:ext cx="691721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62" name="Google Shape;62;p51">
            <a:extLst xmlns:a="http://schemas.openxmlformats.org/drawingml/2006/main">
              <a:ext uri="{FF2B5EF4-FFF2-40B4-BE49-F238E27FC236}">
                <a16:creationId xmlns:a16="http://schemas.microsoft.com/office/drawing/2014/main" id="{BE212704-F63D-4467-B4D1-E1A05DF28A6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558300" y="5956137"/>
            <a:ext cx="105251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Contenido con título" type="objTx">
  <p:cSld name="OBJECT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4" name="Google Shape;64;p52">
            <a:extLst xmlns:a="http://schemas.openxmlformats.org/drawingml/2006/main">
              <a:ext uri="{FF2B5EF4-FFF2-40B4-BE49-F238E27FC236}">
                <a16:creationId xmlns:a16="http://schemas.microsoft.com/office/drawing/2014/main" id="{4A1B2026-EB38-44EF-A0AF-764273F97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817" y="5141973"/>
            <a:ext cx="11298200" cy="127470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" name="Google Shape;65;p52">
            <a:extLst xmlns:a="http://schemas.openxmlformats.org/drawingml/2006/main">
              <a:ext uri="{FF2B5EF4-FFF2-40B4-BE49-F238E27FC236}">
                <a16:creationId xmlns:a16="http://schemas.microsoft.com/office/drawing/2014/main" id="{DE9E385E-1F19-492B-847A-E036CBF98B7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1192" y="5262296"/>
            <a:ext cx="4909445" cy="6895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58AC"/>
              </a:buClr>
              <a:buSzPts val="2000"/>
              <a:buFont typeface="Gill Sans"/>
              <a:buNone/>
              <a:defRPr sz="2000" b="0">
                <a:solidFill>
                  <a:srgbClr val="2D58AC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66" name="Google Shape;66;p52">
            <a:extLst xmlns:a="http://schemas.openxmlformats.org/drawingml/2006/main">
              <a:ext uri="{FF2B5EF4-FFF2-40B4-BE49-F238E27FC236}">
                <a16:creationId xmlns:a16="http://schemas.microsoft.com/office/drawing/2014/main" id="{1139554F-F0F8-4A5B-B738-EE4DA1C1A4E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47816" y="601200"/>
            <a:ext cx="11292840" cy="42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marL="457200" indent="-34544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40"/>
              <a:buChar char="◼"/>
              <a:defRPr sz="2000">
                <a:solidFill>
                  <a:schemeClr val="dk2"/>
                </a:solidFill>
              </a:defRPr>
            </a:lvl1pPr>
            <a:lvl2pPr marL="9144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 sz="1800">
                <a:solidFill>
                  <a:schemeClr val="dk2"/>
                </a:solidFill>
              </a:defRPr>
            </a:lvl2pPr>
            <a:lvl3pPr marL="1371600" indent="-322072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Char char="◼"/>
              <a:defRPr sz="1600">
                <a:solidFill>
                  <a:schemeClr val="dk2"/>
                </a:solidFill>
              </a:defRPr>
            </a:lvl3pPr>
            <a:lvl4pPr marL="1828800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4pPr>
            <a:lvl5pPr marL="2286000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5pPr>
            <a:lvl6pPr marL="2743200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6pPr>
            <a:lvl7pPr marL="3200400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7pPr>
            <a:lvl8pPr marL="3657600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8pPr>
            <a:lvl9pPr marL="4114800" indent="-310388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67" name="Google Shape;67;p52">
            <a:extLst xmlns:a="http://schemas.openxmlformats.org/drawingml/2006/main">
              <a:ext uri="{FF2B5EF4-FFF2-40B4-BE49-F238E27FC236}">
                <a16:creationId xmlns:a16="http://schemas.microsoft.com/office/drawing/2014/main" id="{DCA3C867-D9A9-44CC-B2AF-39136477F9A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5740823" y="5262296"/>
            <a:ext cx="5869987" cy="6895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marL="457200" indent="-228600" algn="r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SzPts val="1012"/>
              <a:buNone/>
              <a:defRPr sz="1100">
                <a:solidFill>
                  <a:schemeClr val="lt1"/>
                </a:solidFill>
              </a:defRPr>
            </a:lvl1pPr>
            <a:lvl2pPr marL="9144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12"/>
              <a:buNone/>
              <a:defRPr sz="1100"/>
            </a:lvl2pPr>
            <a:lvl3pPr marL="13716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20"/>
              <a:buNone/>
              <a:defRPr sz="1000"/>
            </a:lvl3pPr>
            <a:lvl4pPr marL="18288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4pPr>
            <a:lvl5pPr marL="22860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5pPr>
            <a:lvl6pPr marL="27432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6pPr>
            <a:lvl7pPr marL="32004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7pPr>
            <a:lvl8pPr marL="36576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8pPr>
            <a:lvl9pPr marL="4114800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828"/>
              <a:buNone/>
              <a:defRPr sz="900"/>
            </a:lvl9pPr>
          </a:lstStyle>
          <a:p xmlns:a="http://schemas.openxmlformats.org/drawingml/2006/main">
            <a:endParaRPr/>
          </a:p>
        </p:txBody>
      </p:sp>
      <p:sp>
        <p:nvSpPr>
          <p:cNvPr id="68" name="Google Shape;68;p52">
            <a:extLst xmlns:a="http://schemas.openxmlformats.org/drawingml/2006/main">
              <a:ext uri="{FF2B5EF4-FFF2-40B4-BE49-F238E27FC236}">
                <a16:creationId xmlns:a16="http://schemas.microsoft.com/office/drawing/2014/main" id="{B4E33A82-B0DC-4FF4-BFBF-BF541E648C0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7605951" y="5956137"/>
            <a:ext cx="2844799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69" name="Google Shape;69;p52">
            <a:extLst xmlns:a="http://schemas.openxmlformats.org/drawingml/2006/main">
              <a:ext uri="{FF2B5EF4-FFF2-40B4-BE49-F238E27FC236}">
                <a16:creationId xmlns:a16="http://schemas.microsoft.com/office/drawing/2014/main" id="{71C7612B-45BE-43C6-9BFF-BECCDB1C04A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581192" y="5951811"/>
            <a:ext cx="691721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70" name="Google Shape;70;p52">
            <a:extLst xmlns:a="http://schemas.openxmlformats.org/drawingml/2006/main">
              <a:ext uri="{FF2B5EF4-FFF2-40B4-BE49-F238E27FC236}">
                <a16:creationId xmlns:a16="http://schemas.microsoft.com/office/drawing/2014/main" id="{6D9F8C13-E65B-48CC-9AE4-0E674D01C65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558300" y="5956137"/>
            <a:ext cx="105251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Imagen con título" type="picTx">
  <p:cSld name="PICTURE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2" name="Google Shape;72;p53">
            <a:extLst xmlns:a="http://schemas.openxmlformats.org/drawingml/2006/main">
              <a:ext uri="{FF2B5EF4-FFF2-40B4-BE49-F238E27FC236}">
                <a16:creationId xmlns:a16="http://schemas.microsoft.com/office/drawing/2014/main" id="{FE40F1DB-BF19-412F-99B5-E52B408B86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1193" y="4693389"/>
            <a:ext cx="11029616" cy="5667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Gill Sans"/>
              <a:buNone/>
              <a:defRPr sz="2400" b="0">
                <a:solidFill>
                  <a:schemeClr val="accent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73" name="Google Shape;73;p53">
            <a:extLst xmlns:a="http://schemas.openxmlformats.org/drawingml/2006/main">
              <a:ext uri="{FF2B5EF4-FFF2-40B4-BE49-F238E27FC236}">
                <a16:creationId xmlns:a16="http://schemas.microsoft.com/office/drawing/2014/main" id="{061DACDE-73F5-41D1-A5D0-4175AC1FAEA4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447817" y="599725"/>
            <a:ext cx="11290859" cy="35572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74" name="Google Shape;74;p53">
            <a:extLst xmlns:a="http://schemas.openxmlformats.org/drawingml/2006/main">
              <a:ext uri="{FF2B5EF4-FFF2-40B4-BE49-F238E27FC236}">
                <a16:creationId xmlns:a16="http://schemas.microsoft.com/office/drawing/2014/main" id="{DCE36001-0315-4E88-BBB8-F2243A3545F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81192" y="5260127"/>
            <a:ext cx="11029617" cy="5986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104"/>
              <a:buNone/>
              <a:defRPr sz="1200"/>
            </a:lvl1pPr>
            <a:lvl2pPr marL="9144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 sz="1200"/>
            </a:lvl2pPr>
            <a:lvl3pPr marL="13716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20"/>
              <a:buNone/>
              <a:defRPr sz="1000"/>
            </a:lvl3pPr>
            <a:lvl4pPr marL="18288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4pPr>
            <a:lvl5pPr marL="22860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5pPr>
            <a:lvl6pPr marL="27432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6pPr>
            <a:lvl7pPr marL="32004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7pPr>
            <a:lvl8pPr marL="36576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8pPr>
            <a:lvl9pPr marL="4114800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828"/>
              <a:buNone/>
              <a:defRPr sz="900"/>
            </a:lvl9pPr>
          </a:lstStyle>
          <a:p xmlns:a="http://schemas.openxmlformats.org/drawingml/2006/main">
            <a:endParaRPr/>
          </a:p>
        </p:txBody>
      </p:sp>
      <p:sp>
        <p:nvSpPr>
          <p:cNvPr id="75" name="Google Shape;75;p53">
            <a:extLst xmlns:a="http://schemas.openxmlformats.org/drawingml/2006/main">
              <a:ext uri="{FF2B5EF4-FFF2-40B4-BE49-F238E27FC236}">
                <a16:creationId xmlns:a16="http://schemas.microsoft.com/office/drawing/2014/main" id="{EFB92BCB-7165-46A6-8AE3-5E0B97FDCC1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7605951" y="5956137"/>
            <a:ext cx="2844799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76" name="Google Shape;76;p53">
            <a:extLst xmlns:a="http://schemas.openxmlformats.org/drawingml/2006/main">
              <a:ext uri="{FF2B5EF4-FFF2-40B4-BE49-F238E27FC236}">
                <a16:creationId xmlns:a16="http://schemas.microsoft.com/office/drawing/2014/main" id="{8F0D7E44-3EF0-4FA7-8BDB-5B23F508AE1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581192" y="5951811"/>
            <a:ext cx="691721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77" name="Google Shape;77;p53">
            <a:extLst xmlns:a="http://schemas.openxmlformats.org/drawingml/2006/main">
              <a:ext uri="{FF2B5EF4-FFF2-40B4-BE49-F238E27FC236}">
                <a16:creationId xmlns:a16="http://schemas.microsoft.com/office/drawing/2014/main" id="{42859624-3DA2-4025-8BEE-1EEACB439C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558300" y="5956137"/>
            <a:ext cx="105251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Título y texto vertical" type="vertTx">
  <p:cSld name="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9" name="Google Shape;79;p54">
            <a:extLst xmlns:a="http://schemas.openxmlformats.org/drawingml/2006/main">
              <a:ext uri="{FF2B5EF4-FFF2-40B4-BE49-F238E27FC236}">
                <a16:creationId xmlns:a16="http://schemas.microsoft.com/office/drawing/2014/main" id="{03468C5A-88D6-4A4C-BBDC-77B858D7E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286" y="614407"/>
            <a:ext cx="11309338" cy="118929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0" name="Google Shape;80;p54">
            <a:extLst xmlns:a="http://schemas.openxmlformats.org/drawingml/2006/main">
              <a:ext uri="{FF2B5EF4-FFF2-40B4-BE49-F238E27FC236}">
                <a16:creationId xmlns:a16="http://schemas.microsoft.com/office/drawing/2014/main" id="{C38EF062-CE41-4E56-AA64-0AE8CA85E0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1192" y="702156"/>
            <a:ext cx="11029616" cy="1013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81" name="Google Shape;81;p54">
            <a:extLst xmlns:a="http://schemas.openxmlformats.org/drawingml/2006/main">
              <a:ext uri="{FF2B5EF4-FFF2-40B4-BE49-F238E27FC236}">
                <a16:creationId xmlns:a16="http://schemas.microsoft.com/office/drawing/2014/main" id="{D1C2769B-2F77-494B-B5CE-DF37CC6682D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4334603" y="-1417408"/>
            <a:ext cx="3522794" cy="110296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indent="-322072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Char char="◼"/>
              <a:defRPr/>
            </a:lvl2pPr>
            <a:lvl3pPr marL="1371600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/>
            </a:lvl3pPr>
            <a:lvl4pPr marL="1828800" indent="-298703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Char char="◼"/>
              <a:defRPr/>
            </a:lvl4pPr>
            <a:lvl5pPr marL="2286000" indent="-29870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Char char="◼"/>
              <a:defRPr/>
            </a:lvl5pPr>
            <a:lvl6pPr marL="27432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82" name="Google Shape;82;p54">
            <a:extLst xmlns:a="http://schemas.openxmlformats.org/drawingml/2006/main">
              <a:ext uri="{FF2B5EF4-FFF2-40B4-BE49-F238E27FC236}">
                <a16:creationId xmlns:a16="http://schemas.microsoft.com/office/drawing/2014/main" id="{C0202F61-654C-400D-B437-6BAECD25B84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7605951" y="5956137"/>
            <a:ext cx="2844799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83" name="Google Shape;83;p54">
            <a:extLst xmlns:a="http://schemas.openxmlformats.org/drawingml/2006/main">
              <a:ext uri="{FF2B5EF4-FFF2-40B4-BE49-F238E27FC236}">
                <a16:creationId xmlns:a16="http://schemas.microsoft.com/office/drawing/2014/main" id="{9B1AF221-CF0C-43F5-8ECC-A47C4BE2528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581192" y="5951811"/>
            <a:ext cx="691721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84" name="Google Shape;84;p54">
            <a:extLst xmlns:a="http://schemas.openxmlformats.org/drawingml/2006/main">
              <a:ext uri="{FF2B5EF4-FFF2-40B4-BE49-F238E27FC236}">
                <a16:creationId xmlns:a16="http://schemas.microsoft.com/office/drawing/2014/main" id="{A3B6E066-2920-400B-ABBD-194544AA758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558300" y="5956137"/>
            <a:ext cx="105251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Título vertical y texto" type="vertTitleAndTx">
  <p:cSld name="VERTICAL_TITLE_AND_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6" name="Google Shape;86;p55">
            <a:extLst xmlns:a="http://schemas.openxmlformats.org/drawingml/2006/main">
              <a:ext uri="{FF2B5EF4-FFF2-40B4-BE49-F238E27FC236}">
                <a16:creationId xmlns:a16="http://schemas.microsoft.com/office/drawing/2014/main" id="{E69CB720-1EA3-41DB-B965-7890B9D94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1" y="599725"/>
            <a:ext cx="2906817" cy="58169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7" name="Google Shape;87;p55">
            <a:extLst xmlns:a="http://schemas.openxmlformats.org/drawingml/2006/main">
              <a:ext uri="{FF2B5EF4-FFF2-40B4-BE49-F238E27FC236}">
                <a16:creationId xmlns:a16="http://schemas.microsoft.com/office/drawing/2014/main" id="{03771F2A-C701-4CBC-BECB-8E1FFEC4C4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 rot="5400000">
            <a:off x="7249746" y="2265181"/>
            <a:ext cx="5183073" cy="2004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88" name="Google Shape;88;p55">
            <a:extLst xmlns:a="http://schemas.openxmlformats.org/drawingml/2006/main">
              <a:ext uri="{FF2B5EF4-FFF2-40B4-BE49-F238E27FC236}">
                <a16:creationId xmlns:a16="http://schemas.microsoft.com/office/drawing/2014/main" id="{61209296-AE15-4408-9417-D3E5158E8D9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2131526" y="-680877"/>
            <a:ext cx="5183073" cy="78962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89" name="Google Shape;89;p55">
            <a:extLst xmlns:a="http://schemas.openxmlformats.org/drawingml/2006/main">
              <a:ext uri="{FF2B5EF4-FFF2-40B4-BE49-F238E27FC236}">
                <a16:creationId xmlns:a16="http://schemas.microsoft.com/office/drawing/2014/main" id="{ADEEDEAB-444A-40E8-91D7-939B1C2A5BE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993673" y="5956137"/>
            <a:ext cx="1328141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90" name="Google Shape;90;p55">
            <a:extLst xmlns:a="http://schemas.openxmlformats.org/drawingml/2006/main">
              <a:ext uri="{FF2B5EF4-FFF2-40B4-BE49-F238E27FC236}">
                <a16:creationId xmlns:a16="http://schemas.microsoft.com/office/drawing/2014/main" id="{7502D426-5355-4074-9DC4-A52F04B3B1C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774923" y="5951811"/>
            <a:ext cx="7896279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91" name="Google Shape;91;p55">
            <a:extLst xmlns:a="http://schemas.openxmlformats.org/drawingml/2006/main">
              <a:ext uri="{FF2B5EF4-FFF2-40B4-BE49-F238E27FC236}">
                <a16:creationId xmlns:a16="http://schemas.microsoft.com/office/drawing/2014/main" id="{0DD6D9CD-B23E-42A1-809A-2A59800F78C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446615" y="5956137"/>
            <a:ext cx="1164195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9ced659e44d474a" /><Relationship Type="http://schemas.openxmlformats.org/officeDocument/2006/relationships/slideLayout" Target="/ppt/slideLayouts/slideLayout1.xml" Id="R95173ccf02be4be2" /><Relationship Type="http://schemas.openxmlformats.org/officeDocument/2006/relationships/slideLayout" Target="/ppt/slideLayouts/slideLayout2.xml" Id="R1559176afb61479d" /><Relationship Type="http://schemas.openxmlformats.org/officeDocument/2006/relationships/slideLayout" Target="/ppt/slideLayouts/slideLayout3.xml" Id="R4cb52acb31f3478d" /><Relationship Type="http://schemas.openxmlformats.org/officeDocument/2006/relationships/slideLayout" Target="/ppt/slideLayouts/slideLayout4.xml" Id="R748c15cb2dcb4c0a" /><Relationship Type="http://schemas.openxmlformats.org/officeDocument/2006/relationships/slideLayout" Target="/ppt/slideLayouts/slideLayout5.xml" Id="R30551e17ac8b404b" /><Relationship Type="http://schemas.openxmlformats.org/officeDocument/2006/relationships/slideLayout" Target="/ppt/slideLayouts/slideLayout6.xml" Id="R64de97dfdc604d51" /><Relationship Type="http://schemas.openxmlformats.org/officeDocument/2006/relationships/slideLayout" Target="/ppt/slideLayouts/slideLayout7.xml" Id="Rf171be318d364e3b" /><Relationship Type="http://schemas.openxmlformats.org/officeDocument/2006/relationships/slideLayout" Target="/ppt/slideLayouts/slideLayout8.xml" Id="R1b878d2098ff4c2d" /><Relationship Type="http://schemas.openxmlformats.org/officeDocument/2006/relationships/slideLayout" Target="/ppt/slideLayouts/slideLayout9.xml" Id="R081e4107a2784958" /><Relationship Type="http://schemas.openxmlformats.org/officeDocument/2006/relationships/slideLayout" Target="/ppt/slideLayouts/slideLayout10.xml" Id="Rb2ae4fe06fad4ca8" /><Relationship Type="http://schemas.openxmlformats.org/officeDocument/2006/relationships/slideLayout" Target="/ppt/slideLayouts/slideLayout11.xml" Id="Rf5718f0ec7bc4fbf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 Shape;6;p44">
            <a:extLst xmlns:a="http://schemas.openxmlformats.org/drawingml/2006/main">
              <a:ext uri="{FF2B5EF4-FFF2-40B4-BE49-F238E27FC236}">
                <a16:creationId xmlns:a16="http://schemas.microsoft.com/office/drawing/2014/main" id="{28BC7AC6-7EB3-464A-8784-CB739CBB9F9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1192" y="705124"/>
            <a:ext cx="11029616" cy="11895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  <a:defRPr sz="28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7" name="Google Shape;7;p44">
            <a:extLst xmlns:a="http://schemas.openxmlformats.org/drawingml/2006/main">
              <a:ext uri="{FF2B5EF4-FFF2-40B4-BE49-F238E27FC236}">
                <a16:creationId xmlns:a16="http://schemas.microsoft.com/office/drawing/2014/main" id="{1AE3E04F-CC4F-4463-955A-09E6F3782F3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81192" y="2336003"/>
            <a:ext cx="11029616" cy="35227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marL="457200" marR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8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</a:defRPr>
            </a:lvl1pPr>
            <a:lvl2pPr marL="914400" marR="0" indent="-322072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Noto Sans Symbols"/>
              <a:buChar char="◼"/>
              <a:defRPr sz="16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</a:defRPr>
            </a:lvl2pPr>
            <a:lvl3pPr marL="1371600" marR="0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288"/>
              <a:buFont typeface="Noto Sans Symbols"/>
              <a:buChar char="◼"/>
              <a:defRPr sz="14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</a:defRPr>
            </a:lvl3pPr>
            <a:lvl4pPr marL="1828800" marR="0" indent="-298703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</a:defRPr>
            </a:lvl4pPr>
            <a:lvl5pPr marL="2286000" marR="0" indent="-29870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</a:defRPr>
            </a:lvl5pPr>
            <a:lvl6pPr marL="2743200" marR="0" indent="-29870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</a:defRPr>
            </a:lvl6pPr>
            <a:lvl7pPr marL="3200400" marR="0" indent="-29870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</a:defRPr>
            </a:lvl7pPr>
            <a:lvl8pPr marL="3657600" marR="0" indent="-298703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</a:defRPr>
            </a:lvl8pPr>
            <a:lvl9pPr marL="4114800" marR="0" indent="-298703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8" name="Google Shape;8;p44">
            <a:extLst xmlns:a="http://schemas.openxmlformats.org/drawingml/2006/main">
              <a:ext uri="{FF2B5EF4-FFF2-40B4-BE49-F238E27FC236}">
                <a16:creationId xmlns:a16="http://schemas.microsoft.com/office/drawing/2014/main" id="{AB2F1B22-6333-4C66-AA79-3225A6B627D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7605951" y="5956137"/>
            <a:ext cx="2844799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9" name="Google Shape;9;p44">
            <a:extLst xmlns:a="http://schemas.openxmlformats.org/drawingml/2006/main">
              <a:ext uri="{FF2B5EF4-FFF2-40B4-BE49-F238E27FC236}">
                <a16:creationId xmlns:a16="http://schemas.microsoft.com/office/drawing/2014/main" id="{B72B0364-F582-4558-98B6-6DCD1ADE140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581192" y="5951811"/>
            <a:ext cx="691721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0" name="Google Shape;10;p44">
            <a:extLst xmlns:a="http://schemas.openxmlformats.org/drawingml/2006/main">
              <a:ext uri="{FF2B5EF4-FFF2-40B4-BE49-F238E27FC236}">
                <a16:creationId xmlns:a16="http://schemas.microsoft.com/office/drawing/2014/main" id="{834E625B-5E90-460C-B2A9-8D5293E0F86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558300" y="5956137"/>
            <a:ext cx="105251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  <p:sp>
        <p:nvSpPr>
          <p:cNvPr id="11" name="Google Shape;11;p44">
            <a:extLst xmlns:a="http://schemas.openxmlformats.org/drawingml/2006/main">
              <a:ext uri="{FF2B5EF4-FFF2-40B4-BE49-F238E27FC236}">
                <a16:creationId xmlns:a16="http://schemas.microsoft.com/office/drawing/2014/main" id="{55D2A79D-BCB1-401A-B50E-4CEE4F0A3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534" y="457200"/>
            <a:ext cx="3703320" cy="9499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Google Shape;12;p44">
            <a:extLst xmlns:a="http://schemas.openxmlformats.org/drawingml/2006/main">
              <a:ext uri="{FF2B5EF4-FFF2-40B4-BE49-F238E27FC236}">
                <a16:creationId xmlns:a16="http://schemas.microsoft.com/office/drawing/2014/main" id="{DC4D634B-B635-4B26-B8ED-28068DF4C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2147" y="453643"/>
            <a:ext cx="3703320" cy="9855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" name="Google Shape;13;p44">
            <a:extLst xmlns:a="http://schemas.openxmlformats.org/drawingml/2006/main">
              <a:ext uri="{FF2B5EF4-FFF2-40B4-BE49-F238E27FC236}">
                <a16:creationId xmlns:a16="http://schemas.microsoft.com/office/drawing/2014/main" id="{4A18FF3E-8485-45E6-A6DF-E8B360867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1830" y="457200"/>
            <a:ext cx="3703320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5173ccf02be4be2"/>
    <p:sldLayoutId xmlns:r="http://schemas.openxmlformats.org/officeDocument/2006/relationships" id="2147483650" r:id="R1559176afb61479d"/>
    <p:sldLayoutId xmlns:r="http://schemas.openxmlformats.org/officeDocument/2006/relationships" id="2147483651" r:id="R4cb52acb31f3478d"/>
    <p:sldLayoutId xmlns:r="http://schemas.openxmlformats.org/officeDocument/2006/relationships" id="2147483652" r:id="R748c15cb2dcb4c0a"/>
    <p:sldLayoutId xmlns:r="http://schemas.openxmlformats.org/officeDocument/2006/relationships" id="2147483653" r:id="R30551e17ac8b404b"/>
    <p:sldLayoutId xmlns:r="http://schemas.openxmlformats.org/officeDocument/2006/relationships" id="2147483654" r:id="R64de97dfdc604d51"/>
    <p:sldLayoutId xmlns:r="http://schemas.openxmlformats.org/officeDocument/2006/relationships" id="2147483655" r:id="Rf171be318d364e3b"/>
    <p:sldLayoutId xmlns:r="http://schemas.openxmlformats.org/officeDocument/2006/relationships" id="2147483656" r:id="R1b878d2098ff4c2d"/>
    <p:sldLayoutId xmlns:r="http://schemas.openxmlformats.org/officeDocument/2006/relationships" id="2147483657" r:id="R081e4107a2784958"/>
    <p:sldLayoutId xmlns:r="http://schemas.openxmlformats.org/officeDocument/2006/relationships" id="2147483658" r:id="Rb2ae4fe06fad4ca8"/>
    <p:sldLayoutId xmlns:r="http://schemas.openxmlformats.org/officeDocument/2006/relationships" id="2147483659" r:id="Rf5718f0ec7bc4fbf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Dividendo">
  <a:themeElements>
    <a:clrScheme name="Dividend">
      <a:dk1>
        <a:srgbClr val="000000"/>
      </a:dk1>
      <a:lt1>
        <a:srgbClr val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f097826c224028" /><Relationship Type="http://schemas.openxmlformats.org/officeDocument/2006/relationships/image" Target="/ppt/media/image.png" Id="Rec8b675dfb2248fd" /><Relationship Type="http://schemas.openxmlformats.org/officeDocument/2006/relationships/notesSlide" Target="/ppt/notesSlides/notesSlide1.xml" Id="Rf15f9af1a16f43e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ae5c6aa37c842b8" /><Relationship Type="http://schemas.openxmlformats.org/officeDocument/2006/relationships/image" Target="/ppt/media/image2.png" Id="R28c838331f004b33" /><Relationship Type="http://schemas.openxmlformats.org/officeDocument/2006/relationships/notesSlide" Target="/ppt/notesSlides/notesSlide2.xml" Id="R2261a929be59477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0beaab149fa406c" /><Relationship Type="http://schemas.openxmlformats.org/officeDocument/2006/relationships/notesSlide" Target="/ppt/notesSlides/notesSlide3.xml" Id="R1c8e0a8846004de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b6cab1d0cfa403c" /><Relationship Type="http://schemas.openxmlformats.org/officeDocument/2006/relationships/image" Target="/ppt/media/image3.png" Id="Rd5d3bbc81f0d481e" /><Relationship Type="http://schemas.openxmlformats.org/officeDocument/2006/relationships/image" Target="/ppt/media/image4.png" Id="Re5052dfd00ee4195" /><Relationship Type="http://schemas.openxmlformats.org/officeDocument/2006/relationships/image" Target="/ppt/media/image5.png" Id="R086c254c06824730" /><Relationship Type="http://schemas.openxmlformats.org/officeDocument/2006/relationships/notesSlide" Target="/ppt/notesSlides/notesSlide4.xml" Id="R107a01d52c4a4c5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0fbda7948214e73" /><Relationship Type="http://schemas.openxmlformats.org/officeDocument/2006/relationships/image" Target="/ppt/media/image6.png" Id="Rac2382d5f4cd4162" /><Relationship Type="http://schemas.openxmlformats.org/officeDocument/2006/relationships/image" Target="/ppt/media/image7.png" Id="Rfea51a6d94e64e72" /><Relationship Type="http://schemas.openxmlformats.org/officeDocument/2006/relationships/notesSlide" Target="/ppt/notesSlides/notesSlide5.xml" Id="R1fc19bcd3e8c4d5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36712ae4ff1407e" /><Relationship Type="http://schemas.openxmlformats.org/officeDocument/2006/relationships/image" Target="/ppt/media/image8.png" Id="R0b51d27f2f4c4824" /><Relationship Type="http://schemas.openxmlformats.org/officeDocument/2006/relationships/notesSlide" Target="/ppt/notesSlides/notesSlide6.xml" Id="R5fac8e44ba6c4da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2da3f3d135b43ea" /><Relationship Type="http://schemas.openxmlformats.org/officeDocument/2006/relationships/image" Target="/ppt/media/image9.png" Id="Rfd8e33fb8d2a4381" /><Relationship Type="http://schemas.openxmlformats.org/officeDocument/2006/relationships/notesSlide" Target="/ppt/notesSlides/notesSlide7.xml" Id="Rcac23ae9ad514c6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ab59312fb654959" /><Relationship Type="http://schemas.openxmlformats.org/officeDocument/2006/relationships/image" Target="/ppt/media/image10.png" Id="R4e9f70b949164643" /><Relationship Type="http://schemas.openxmlformats.org/officeDocument/2006/relationships/image" Target="/ppt/media/image11.png" Id="R0633fedf90fb4bd4" /><Relationship Type="http://schemas.openxmlformats.org/officeDocument/2006/relationships/image" Target="/ppt/media/image12.png" Id="R6e3f254adc7f47ab" /><Relationship Type="http://schemas.openxmlformats.org/officeDocument/2006/relationships/image" Target="/ppt/media/image13.png" Id="Rc4cb22cc0dfd4261" /><Relationship Type="http://schemas.openxmlformats.org/officeDocument/2006/relationships/image" Target="/ppt/media/image14.png" Id="R335ce263b4c04169" /><Relationship Type="http://schemas.openxmlformats.org/officeDocument/2006/relationships/notesSlide" Target="/ppt/notesSlides/notesSlide8.xml" Id="R929b45db2c034d9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f1672d1ce9d44b7" /><Relationship Type="http://schemas.openxmlformats.org/officeDocument/2006/relationships/image" Target="/ppt/media/image15.png" Id="R931d40046bbf4f9c" /><Relationship Type="http://schemas.openxmlformats.org/officeDocument/2006/relationships/image" Target="/ppt/media/image16.png" Id="R8e06cb91256949d1" /><Relationship Type="http://schemas.openxmlformats.org/officeDocument/2006/relationships/notesSlide" Target="/ppt/notesSlides/notesSlide9.xml" Id="R7536629338a5452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7c14d73b3934ad9" /><Relationship Type="http://schemas.openxmlformats.org/officeDocument/2006/relationships/image" Target="/ppt/media/image17.png" Id="Re676b04948564214" /><Relationship Type="http://schemas.openxmlformats.org/officeDocument/2006/relationships/image" Target="/ppt/media/image18.png" Id="Raca5b530b96e48e7" /><Relationship Type="http://schemas.openxmlformats.org/officeDocument/2006/relationships/notesSlide" Target="/ppt/notesSlides/notesSlide10.xml" Id="R347d450d6ad5457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258f6a8b81a48b5" /><Relationship Type="http://schemas.openxmlformats.org/officeDocument/2006/relationships/image" Target="/ppt/media/image19.png" Id="R32c56587bdc04614" /><Relationship Type="http://schemas.openxmlformats.org/officeDocument/2006/relationships/notesSlide" Target="/ppt/notesSlides/notesSlide11.xml" Id="Rcdf0137fbbdc429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63d0649e2ae4765" /><Relationship Type="http://schemas.openxmlformats.org/officeDocument/2006/relationships/image" Target="/ppt/media/image20.png" Id="R30b0043819ff4209" /><Relationship Type="http://schemas.openxmlformats.org/officeDocument/2006/relationships/image" Target="/ppt/media/image21.png" Id="Rad82e751dd4d44a7" /><Relationship Type="http://schemas.openxmlformats.org/officeDocument/2006/relationships/image" Target="/ppt/media/image22.png" Id="R506d478d01b346fd" /><Relationship Type="http://schemas.openxmlformats.org/officeDocument/2006/relationships/image" Target="/ppt/media/image23.png" Id="R4868496c92f1431d" /><Relationship Type="http://schemas.openxmlformats.org/officeDocument/2006/relationships/notesSlide" Target="/ppt/notesSlides/notesSlide12.xml" Id="R2ced1e777fd34e6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13a93a99e4c49fe" /><Relationship Type="http://schemas.openxmlformats.org/officeDocument/2006/relationships/image" Target="/ppt/media/image15.png" Id="Rd883cd014c4c4d73" /><Relationship Type="http://schemas.openxmlformats.org/officeDocument/2006/relationships/notesSlide" Target="/ppt/notesSlides/notesSlide13.xml" Id="R990423821bb54d9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d2fca127f154608" /><Relationship Type="http://schemas.openxmlformats.org/officeDocument/2006/relationships/image" Target="/ppt/media/image24.png" Id="R81e6a4d4827d4492" /><Relationship Type="http://schemas.openxmlformats.org/officeDocument/2006/relationships/image" Target="/ppt/media/image25.png" Id="Rf11fbc060fa34122" /><Relationship Type="http://schemas.openxmlformats.org/officeDocument/2006/relationships/image" Target="/ppt/media/image26.png" Id="Rd1171455aed540fc" /><Relationship Type="http://schemas.openxmlformats.org/officeDocument/2006/relationships/image" Target="/ppt/media/image27.png" Id="R353aa0d4eff14b74" /><Relationship Type="http://schemas.openxmlformats.org/officeDocument/2006/relationships/notesSlide" Target="/ppt/notesSlides/notesSlide14.xml" Id="R086ee6eb1dff4f8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6ecfc4cb38e4161" /><Relationship Type="http://schemas.openxmlformats.org/officeDocument/2006/relationships/image" Target="/ppt/media/image28.png" Id="R6940653fbf1e4adb" /><Relationship Type="http://schemas.openxmlformats.org/officeDocument/2006/relationships/notesSlide" Target="/ppt/notesSlides/notesSlide15.xml" Id="R03a3326f3359410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1a22e5d193249e5" /><Relationship Type="http://schemas.openxmlformats.org/officeDocument/2006/relationships/image" Target="/ppt/media/image29.png" Id="Rccbed6981cbd4094" /><Relationship Type="http://schemas.openxmlformats.org/officeDocument/2006/relationships/notesSlide" Target="/ppt/notesSlides/notesSlide16.xml" Id="R16ccf53bd83b448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5a52ab39c054e01" /><Relationship Type="http://schemas.openxmlformats.org/officeDocument/2006/relationships/image" Target="/ppt/media/image30.png" Id="R1009a739923749c0" /><Relationship Type="http://schemas.openxmlformats.org/officeDocument/2006/relationships/notesSlide" Target="/ppt/notesSlides/notesSlide17.xml" Id="Rafbac3c652724ca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f1f129ad38c4108" /><Relationship Type="http://schemas.openxmlformats.org/officeDocument/2006/relationships/image" Target="/ppt/media/image31.png" Id="R7cffee4d3a6c418d" /><Relationship Type="http://schemas.openxmlformats.org/officeDocument/2006/relationships/image" Target="/ppt/media/image32.png" Id="R9e46029edfe24922" /><Relationship Type="http://schemas.openxmlformats.org/officeDocument/2006/relationships/notesSlide" Target="/ppt/notesSlides/notesSlide18.xml" Id="Rad822444057e47a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ff9f4ec82c447ce" /><Relationship Type="http://schemas.openxmlformats.org/officeDocument/2006/relationships/image" Target="/ppt/media/image33.png" Id="Rd12af267155e4dff" /><Relationship Type="http://schemas.openxmlformats.org/officeDocument/2006/relationships/image" Target="/ppt/media/image34.png" Id="Rb389491cc6ed485d" /><Relationship Type="http://schemas.openxmlformats.org/officeDocument/2006/relationships/notesSlide" Target="/ppt/notesSlides/notesSlide19.xml" Id="Rb019c6554bf3489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8d4fae84beb4c4c" /><Relationship Type="http://schemas.openxmlformats.org/officeDocument/2006/relationships/image" Target="/ppt/media/image35.png" Id="R46e4107c136545e0" /><Relationship Type="http://schemas.openxmlformats.org/officeDocument/2006/relationships/notesSlide" Target="/ppt/notesSlides/notesSlide20.xml" Id="Rb20fd7cd465e47c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b079522a5564a2a" /><Relationship Type="http://schemas.openxmlformats.org/officeDocument/2006/relationships/image" Target="/ppt/media/image36.png" Id="Rd2bcce7b0446454f" /><Relationship Type="http://schemas.openxmlformats.org/officeDocument/2006/relationships/notesSlide" Target="/ppt/notesSlides/notesSlide21.xml" Id="Re7bb711e28ca4779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469e709ade24598" /><Relationship Type="http://schemas.openxmlformats.org/officeDocument/2006/relationships/image" Target="/ppt/media/image37.png" Id="Rb44173acdf624bcb" /><Relationship Type="http://schemas.openxmlformats.org/officeDocument/2006/relationships/notesSlide" Target="/ppt/notesSlides/notesSlide22.xml" Id="R584f731b58bc483f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87ab1e550294e67" /><Relationship Type="http://schemas.openxmlformats.org/officeDocument/2006/relationships/image" Target="/ppt/media/image38.png" Id="Rbe0122d025764f82" /><Relationship Type="http://schemas.openxmlformats.org/officeDocument/2006/relationships/notesSlide" Target="/ppt/notesSlides/notesSlide23.xml" Id="R3e661b1862a44f54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a4dd7550d684c36" /><Relationship Type="http://schemas.openxmlformats.org/officeDocument/2006/relationships/image" Target="/ppt/media/image39.png" Id="Rda758a5aca38497b" /><Relationship Type="http://schemas.openxmlformats.org/officeDocument/2006/relationships/image" Target="/ppt/media/image40.png" Id="Re3a29f16ad0141ca" /><Relationship Type="http://schemas.openxmlformats.org/officeDocument/2006/relationships/image" Target="/ppt/media/image41.png" Id="R595a486ccf2a44ce" /><Relationship Type="http://schemas.openxmlformats.org/officeDocument/2006/relationships/notesSlide" Target="/ppt/notesSlides/notesSlide24.xml" Id="R06b185196c644d10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aad8cbc62064036" /><Relationship Type="http://schemas.openxmlformats.org/officeDocument/2006/relationships/image" Target="/ppt/media/image42.png" Id="R50793a3836ef4570" /><Relationship Type="http://schemas.openxmlformats.org/officeDocument/2006/relationships/notesSlide" Target="/ppt/notesSlides/notesSlide25.xml" Id="Rcf6ea67ac2724c94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3037a1515474170" /><Relationship Type="http://schemas.openxmlformats.org/officeDocument/2006/relationships/image" Target="/ppt/media/image43.png" Id="R349977e7c95043ef" /><Relationship Type="http://schemas.openxmlformats.org/officeDocument/2006/relationships/image" Target="/ppt/media/image44.png" Id="Rce6e6eed2ccc4fe1" /><Relationship Type="http://schemas.openxmlformats.org/officeDocument/2006/relationships/notesSlide" Target="/ppt/notesSlides/notesSlide26.xml" Id="Rd8c5f49a9d424fe9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545693c06944b28" /><Relationship Type="http://schemas.openxmlformats.org/officeDocument/2006/relationships/image" Target="/ppt/media/image45.png" Id="R9288d68af4814990" /><Relationship Type="http://schemas.openxmlformats.org/officeDocument/2006/relationships/image" Target="/ppt/media/image46.png" Id="Rdd7c53a1c920477a" /><Relationship Type="http://schemas.openxmlformats.org/officeDocument/2006/relationships/notesSlide" Target="/ppt/notesSlides/notesSlide27.xml" Id="R3e68be492fd84903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2fbdf1e33234542" /><Relationship Type="http://schemas.openxmlformats.org/officeDocument/2006/relationships/image" Target="/ppt/media/image47.png" Id="R9f800599c6414d7a" /><Relationship Type="http://schemas.openxmlformats.org/officeDocument/2006/relationships/image" Target="/ppt/media/image48.png" Id="R4075aa9ba59f4715" /><Relationship Type="http://schemas.openxmlformats.org/officeDocument/2006/relationships/notesSlide" Target="/ppt/notesSlides/notesSlide28.xml" Id="Reb8ab0c108544096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30d6820c6b84277" /><Relationship Type="http://schemas.openxmlformats.org/officeDocument/2006/relationships/notesSlide" Target="/ppt/notesSlides/notesSlide29.xml" Id="R1b7d7fec5d51416e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0210ac942ae440a" /><Relationship Type="http://schemas.openxmlformats.org/officeDocument/2006/relationships/notesSlide" Target="/ppt/notesSlides/notesSlide30.xml" Id="R55674307b82c40c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6" name="Google Shape;96;p1">
            <a:extLst xmlns:a="http://schemas.openxmlformats.org/drawingml/2006/main">
              <a:ext uri="{FF2B5EF4-FFF2-40B4-BE49-F238E27FC236}">
                <a16:creationId xmlns:a16="http://schemas.microsoft.com/office/drawing/2014/main" id="{A3D3BC27-38C9-4577-B9CA-B341FC71572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599226" y="3158569"/>
            <a:ext cx="10993549" cy="15784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 fontScale="90345"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Gill Sans"/>
              <a:buNone/>
            </a:pPr>
            <a:r>
              <a:rPr>
                <a:solidFill>
                  <a:schemeClr val="lt1"/>
                </a:solidFill>
              </a:rPr>
              <a:t>MANUAL TÉCNICO</a:t>
            </a:r>
            <a:endParaRPr/>
          </a:p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Gill Sans"/>
              <a:buNone/>
            </a:pPr>
            <a:r>
              <a:rPr>
                <a:solidFill>
                  <a:schemeClr val="lt1"/>
                </a:solidFill>
              </a:rPr>
              <a:t>CONVERSOR DE UNIDADES</a:t>
            </a:r>
            <a:endParaRPr/>
          </a:p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Gill Sans"/>
              <a:buNone/>
            </a:pPr>
            <a:r>
              <a:rPr>
                <a:solidFill>
                  <a:schemeClr val="lt1"/>
                </a:solidFill>
              </a:rPr>
              <a:t>SOAP JAVA</a:t>
            </a:r>
            <a:endParaRPr/>
          </a:p>
        </p:txBody>
      </p:sp>
      <p:sp>
        <p:nvSpPr>
          <p:cNvPr id="97" name="Google Shape;97;p1">
            <a:extLst xmlns:a="http://schemas.openxmlformats.org/drawingml/2006/main">
              <a:ext uri="{FF2B5EF4-FFF2-40B4-BE49-F238E27FC236}">
                <a16:creationId xmlns:a16="http://schemas.microsoft.com/office/drawing/2014/main" id="{B45318DE-2B33-4B0F-9B21-BCBF45B8DED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599226" y="4572000"/>
            <a:ext cx="4261531" cy="18127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72"/>
              <a:buNone/>
            </a:pPr>
            <a:r>
              <a:t>INTEGRANTES:  Parra Rosales Sebastián Enrique</a:t>
            </a:r>
            <a:endParaRPr b="1">
              <a:solidFill>
                <a:schemeClr val="lt1"/>
              </a:solidFill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920"/>
              </a:spcBef>
              <a:spcAft>
                <a:spcPts val="0"/>
              </a:spcAft>
              <a:buSzPts val="1472"/>
              <a:buNone/>
            </a:pPr>
            <a:r>
              <a:rPr b="1">
                <a:solidFill>
                  <a:schemeClr val="lt1"/>
                </a:solidFill>
              </a:rPr>
              <a:t>Sagnay Pilamunga Luis Eduardo</a:t>
            </a:r>
            <a:endParaRPr>
              <a:solidFill>
                <a:schemeClr val="lt1"/>
              </a:solidFill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920"/>
              </a:spcBef>
              <a:spcAft>
                <a:spcPts val="0"/>
              </a:spcAft>
              <a:buSzPts val="1472"/>
              <a:buNone/>
            </a:pPr>
            <a:r>
              <a:rPr b="1">
                <a:solidFill>
                  <a:schemeClr val="lt1"/>
                </a:solidFill>
              </a:rPr>
              <a:t>Yépez Morán Jefferson David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98" name="Google Shape;98;p1">
            <a:extLst xmlns:a="http://schemas.openxmlformats.org/drawingml/2006/main">
              <a:ext uri="{FF2B5EF4-FFF2-40B4-BE49-F238E27FC236}">
                <a16:creationId xmlns:a16="http://schemas.microsoft.com/office/drawing/2014/main" id="{CF0005BE-44E9-4814-B7A8-B47DC0217A3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c8b675dfb2248f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19597" y="716302"/>
            <a:ext cx="11647502" cy="21939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99" name="Google Shape;99;p1">
            <a:extLst xmlns:a="http://schemas.openxmlformats.org/drawingml/2006/main">
              <a:ext uri="{FF2B5EF4-FFF2-40B4-BE49-F238E27FC236}">
                <a16:creationId xmlns:a16="http://schemas.microsoft.com/office/drawing/2014/main" id="{9CD1E8BB-8354-4AD6-B770-62910AE30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301806"/>
            <a:ext cx="4572000" cy="12353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472"/>
              <a:buFont typeface="Noto Sans Symbols"/>
              <a:buNone/>
            </a:pPr>
            <a:r>
              <a:rPr sz="1600" b="1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</a:rPr>
              <a:t>FECHA:  08/10/2026</a:t>
            </a:r>
            <a:endParaRPr sz="1600" b="0" i="0" u="none" strike="noStrike" cap="none">
              <a:solidFill>
                <a:srgbClr val="FFFFFF"/>
              </a:solidFill>
              <a:latin typeface="Gill Sans"/>
              <a:ea typeface="Gill Sans"/>
              <a:cs typeface="Gill Sans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920"/>
              </a:spcBef>
              <a:spcAft>
                <a:spcPts val="0"/>
              </a:spcAft>
              <a:buClr>
                <a:srgbClr val="4590B8"/>
              </a:buClr>
              <a:buSzPts val="1472"/>
              <a:buFont typeface="Noto Sans Symbols"/>
              <a:buNone/>
            </a:pPr>
            <a:r>
              <a:rPr sz="1600" b="1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</a:rPr>
              <a:t>ING: Eduardo Mauricio Campaña Ortega</a:t>
            </a:r>
            <a:endParaRPr sz="1600" b="1" i="0" u="none" strike="noStrike" cap="none">
              <a:solidFill>
                <a:srgbClr val="FFFFFF"/>
              </a:solidFill>
              <a:latin typeface="Gill Sans"/>
              <a:ea typeface="Gill Sans"/>
              <a:cs typeface="Gill Sans"/>
            </a:endParaRPr>
          </a:p>
        </p:txBody>
      </p:sp>
      <p:sp>
        <p:nvSpPr>
          <p:cNvPr id="100" name="Google Shape;100;p1">
            <a:extLst xmlns:a="http://schemas.openxmlformats.org/drawingml/2006/main">
              <a:ext uri="{FF2B5EF4-FFF2-40B4-BE49-F238E27FC236}">
                <a16:creationId xmlns:a16="http://schemas.microsoft.com/office/drawing/2014/main" id="{111340CB-9A53-468E-BAB9-D0074805D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7675" y="6474048"/>
            <a:ext cx="374325" cy="4001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Gill Sans"/>
              <a:buNone/>
            </a:pPr>
            <a:r>
              <a:rPr sz="20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4941774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5" name="Google Shape;105;p2">
            <a:extLst xmlns:a="http://schemas.openxmlformats.org/drawingml/2006/main">
              <a:ext uri="{FF2B5EF4-FFF2-40B4-BE49-F238E27FC236}">
                <a16:creationId xmlns:a16="http://schemas.microsoft.com/office/drawing/2014/main" id="{BFEC824B-B37F-4C9F-9487-AFC41E7CB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4406"/>
            <a:ext cx="12192000" cy="624359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ill Sans"/>
              <a:buNone/>
            </a:pPr>
            <a:endParaRPr sz="1800" b="0" i="0" u="none" strike="noStrike" cap="none">
              <a:solidFill>
                <a:srgbClr val="FFFFFF"/>
              </a:solidFill>
              <a:latin typeface="Gill Sans"/>
              <a:ea typeface="Gill Sans"/>
              <a:cs typeface="Gill Sans"/>
            </a:endParaRPr>
          </a:p>
        </p:txBody>
      </p:sp>
      <p:sp>
        <p:nvSpPr>
          <p:cNvPr id="106" name="Google Shape;106;p2">
            <a:extLst xmlns:a="http://schemas.openxmlformats.org/drawingml/2006/main">
              <a:ext uri="{FF2B5EF4-FFF2-40B4-BE49-F238E27FC236}">
                <a16:creationId xmlns:a16="http://schemas.microsoft.com/office/drawing/2014/main" id="{108AD997-5CC0-4B49-9372-403A26D0F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377" y="614407"/>
            <a:ext cx="3707477" cy="561177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</a:endParaRPr>
          </a:p>
        </p:txBody>
      </p:sp>
      <p:sp>
        <p:nvSpPr>
          <p:cNvPr id="107" name="Google Shape;107;p2">
            <a:extLst xmlns:a="http://schemas.openxmlformats.org/drawingml/2006/main">
              <a:ext uri="{FF2B5EF4-FFF2-40B4-BE49-F238E27FC236}">
                <a16:creationId xmlns:a16="http://schemas.microsoft.com/office/drawing/2014/main" id="{7219CC9D-242A-4E8E-93F5-D852BED951C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96348" y="701336"/>
            <a:ext cx="3389726" cy="54242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 fontScale="100000" lnSpcReduction="10000"/>
          </a:bodyPr>
          <a:lstStyle xmlns:a="http://schemas.openxmlformats.org/drawingml/2006/main"/>
          <a:p xmlns:a="http://schemas.openxmlformats.org/drawingml/2006/main">
            <a:pPr marL="306000" lvl="0" indent="-30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6"/>
              <a:buChar char="◼"/>
            </a:pPr>
            <a:r>
              <a:rPr>
                <a:solidFill>
                  <a:schemeClr val="lt1"/>
                </a:solidFill>
              </a:rPr>
              <a:t>DESARROLLO</a:t>
            </a:r>
            <a:endParaRPr/>
          </a:p>
          <a:p xmlns:a="http://schemas.openxmlformats.org/drawingml/2006/main">
            <a:pPr marL="630000" lvl="1" indent="-320020" algn="l">
              <a:lnSpc>
                <a:spcPct val="100000"/>
              </a:lnSpc>
              <a:spcBef>
                <a:spcPts val="872"/>
              </a:spcBef>
              <a:spcAft>
                <a:spcPts val="0"/>
              </a:spcAft>
              <a:buSzPts val="1472"/>
              <a:buChar char="◼"/>
            </a:pPr>
            <a:r>
              <a:rPr>
                <a:solidFill>
                  <a:schemeClr val="lt1"/>
                </a:solidFill>
              </a:rPr>
              <a:t>OBJETIVO</a:t>
            </a:r>
            <a:endParaRPr/>
          </a:p>
          <a:p xmlns:a="http://schemas.openxmlformats.org/drawingml/2006/main">
            <a:pPr marL="630000" lvl="1" indent="-320020" algn="l">
              <a:lnSpc>
                <a:spcPct val="100000"/>
              </a:lnSpc>
              <a:spcBef>
                <a:spcPts val="872"/>
              </a:spcBef>
              <a:spcAft>
                <a:spcPts val="0"/>
              </a:spcAft>
              <a:buSzPts val="1472"/>
              <a:buChar char="◼"/>
            </a:pPr>
            <a:r>
              <a:rPr>
                <a:solidFill>
                  <a:schemeClr val="lt1"/>
                </a:solidFill>
              </a:rPr>
              <a:t>CREACIÓN DEL SERVIDOR SOAP EN JAVA</a:t>
            </a:r>
            <a:endParaRPr/>
          </a:p>
          <a:p xmlns:a="http://schemas.openxmlformats.org/drawingml/2006/main">
            <a:pPr marL="630000" lvl="1" indent="-320020" algn="l">
              <a:lnSpc>
                <a:spcPct val="100000"/>
              </a:lnSpc>
              <a:spcBef>
                <a:spcPts val="872"/>
              </a:spcBef>
              <a:spcAft>
                <a:spcPts val="0"/>
              </a:spcAft>
              <a:buSzPts val="1472"/>
              <a:buChar char="◼"/>
            </a:pPr>
            <a:r>
              <a:rPr sz="1800">
                <a:solidFill>
                  <a:schemeClr val="lt1"/>
                </a:solidFill>
              </a:rPr>
              <a:t>CREACIÓN DEL PROYECTO – CLIENTE CONSOLA</a:t>
            </a:r>
            <a:endParaRPr/>
          </a:p>
          <a:p xmlns:a="http://schemas.openxmlformats.org/drawingml/2006/main">
            <a:pPr marL="630000" lvl="1" indent="-320020" algn="l">
              <a:lnSpc>
                <a:spcPct val="100000"/>
              </a:lnSpc>
              <a:spcBef>
                <a:spcPts val="872"/>
              </a:spcBef>
              <a:spcAft>
                <a:spcPts val="0"/>
              </a:spcAft>
              <a:buSzPts val="1472"/>
              <a:buChar char="◼"/>
            </a:pPr>
            <a:r>
              <a:rPr sz="1800">
                <a:solidFill>
                  <a:schemeClr val="lt1"/>
                </a:solidFill>
              </a:rPr>
              <a:t>CREACIÓN DEL PROYECTO – CLIENTE ESCRITORIO</a:t>
            </a:r>
            <a:endParaRPr/>
          </a:p>
          <a:p xmlns:a="http://schemas.openxmlformats.org/drawingml/2006/main">
            <a:pPr marL="630000" lvl="1" indent="-320020" algn="l">
              <a:lnSpc>
                <a:spcPct val="100000"/>
              </a:lnSpc>
              <a:spcBef>
                <a:spcPts val="872"/>
              </a:spcBef>
              <a:spcAft>
                <a:spcPts val="0"/>
              </a:spcAft>
              <a:buSzPts val="1472"/>
              <a:buChar char="◼"/>
            </a:pPr>
            <a:r>
              <a:rPr sz="1800">
                <a:solidFill>
                  <a:schemeClr val="lt1"/>
                </a:solidFill>
              </a:rPr>
              <a:t>CREACIÓN DEL PROYECTO – CLIENTE WEB</a:t>
            </a:r>
            <a:endParaRPr/>
          </a:p>
          <a:p xmlns:a="http://schemas.openxmlformats.org/drawingml/2006/main">
            <a:pPr marL="630000" lvl="1" indent="-320020" algn="l">
              <a:lnSpc>
                <a:spcPct val="100000"/>
              </a:lnSpc>
              <a:spcBef>
                <a:spcPts val="872"/>
              </a:spcBef>
              <a:spcAft>
                <a:spcPts val="0"/>
              </a:spcAft>
              <a:buSzPts val="1472"/>
              <a:buChar char="◼"/>
            </a:pPr>
            <a:r>
              <a:rPr sz="1800">
                <a:solidFill>
                  <a:schemeClr val="lt1"/>
                </a:solidFill>
              </a:rPr>
              <a:t>CREACIÓN DEL PROYECTO – CLIENTE MÓVIL</a:t>
            </a:r>
            <a:endParaRPr/>
          </a:p>
          <a:p xmlns:a="http://schemas.openxmlformats.org/drawingml/2006/main">
            <a:pPr marL="306000" marR="0" lvl="0" indent="-306000" algn="l">
              <a:lnSpc>
                <a:spcPct val="100000"/>
              </a:lnSpc>
              <a:spcBef>
                <a:spcPts val="906"/>
              </a:spcBef>
              <a:spcAft>
                <a:spcPts val="0"/>
              </a:spcAft>
              <a:buSzPts val="1656"/>
              <a:buChar char="◼"/>
            </a:pPr>
            <a:r>
              <a:rPr>
                <a:solidFill>
                  <a:schemeClr val="lt1"/>
                </a:solidFill>
              </a:rPr>
              <a:t>CONCLUSIONES</a:t>
            </a:r>
            <a:endParaRPr/>
          </a:p>
          <a:p xmlns:a="http://schemas.openxmlformats.org/drawingml/2006/main">
            <a:pPr marL="306000" marR="0" lvl="0" indent="-306000" algn="l">
              <a:lnSpc>
                <a:spcPct val="100000"/>
              </a:lnSpc>
              <a:spcBef>
                <a:spcPts val="906"/>
              </a:spcBef>
              <a:spcAft>
                <a:spcPts val="0"/>
              </a:spcAft>
              <a:buSzPts val="1656"/>
              <a:buChar char="◼"/>
            </a:pPr>
            <a:r>
              <a:rPr>
                <a:solidFill>
                  <a:schemeClr val="lt1"/>
                </a:solidFill>
              </a:rPr>
              <a:t>RECOMENDACIONES</a:t>
            </a:r>
            <a:endParaRPr/>
          </a:p>
        </p:txBody>
      </p:sp>
      <p:pic>
        <p:nvPicPr>
          <p:cNvPr id="108" name="Google Shape;108;p2">
            <a:extLst xmlns:a="http://schemas.openxmlformats.org/drawingml/2006/main">
              <a:ext uri="{FF2B5EF4-FFF2-40B4-BE49-F238E27FC236}">
                <a16:creationId xmlns:a16="http://schemas.microsoft.com/office/drawing/2014/main" id="{9ACABE79-29C4-42E7-9730-A5DE0923A74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8c838331f004b3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791522" y="1935576"/>
            <a:ext cx="6489819" cy="300747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9" name="Google Shape;109;p2">
            <a:extLst xmlns:a="http://schemas.openxmlformats.org/drawingml/2006/main">
              <a:ext uri="{FF2B5EF4-FFF2-40B4-BE49-F238E27FC236}">
                <a16:creationId xmlns:a16="http://schemas.microsoft.com/office/drawing/2014/main" id="{0309BD7F-22B3-49D1-8D8B-024097B8F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7675" y="6474048"/>
            <a:ext cx="374325" cy="4001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Gill Sans"/>
              <a:buNone/>
            </a:pPr>
            <a:r>
              <a:rPr sz="20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0" name="Marcador arquitectura general">
            <a:extLst xmlns:a="http://schemas.openxmlformats.org/drawingml/2006/main">
              <a:ext uri="{FF2B5EF4-FFF2-40B4-BE49-F238E27FC236}">
                <a16:creationId xmlns:a16="http://schemas.microsoft.com/office/drawing/2014/main" id="{29FC39B7-9574-426B-B866-FDB98D47C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1933575"/>
            <a:ext cx="6486525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8"/>
          </a:solidFill>
          <a:ln xmlns:a="http://schemas.openxmlformats.org/drawingml/2006/main" w="14288">
            <a:solidFill>
              <a:srgbClr val="73839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72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defPPr>
            <a:lvl1pPr algn="ctr">
              <a:defRPr sz="172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1pPr>
            <a:lvl2pPr algn="ctr">
              <a:defRPr sz="172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2pPr>
            <a:lvl3pPr algn="ctr">
              <a:defRPr sz="172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3pPr>
            <a:lvl4pPr algn="ctr">
              <a:defRPr sz="172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4pPr>
            <a:lvl5pPr algn="ctr">
              <a:defRPr sz="172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5pPr>
            <a:lvl6pPr algn="ctr">
              <a:defRPr sz="172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6pPr>
            <a:lvl7pPr algn="ctr">
              <a:defRPr sz="172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7pPr>
            <a:lvl8pPr algn="ctr">
              <a:defRPr sz="172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8pPr>
            <a:lvl9pPr algn="ctr">
              <a:defRPr sz="172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pPr>
            <a:r>
              <a:rPr sz="1725" b="1">
                <a:solidFill>
                  <a:srgbClr val="1A3260"/>
                </a:solidFill>
                <a:latin typeface="Gill Sans"/>
                <a:ea typeface="Gill Sans"/>
                <a:cs typeface="Gill Sans"/>
              </a:rPr>
              <a:t>IMAGEN PENDIENTE</a:t>
            </a:r>
          </a:p>
          <a:p xmlns:a="http://schemas.openxmlformats.org/drawingml/2006/main">
            <a:pPr algn="ctr">
              <a:defRPr sz="172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pPr>
            <a:r>
              <a:rPr sz="1725" b="1">
                <a:solidFill>
                  <a:srgbClr val="1A3260"/>
                </a:solidFill>
                <a:latin typeface="Gill Sans"/>
                <a:ea typeface="Gill Sans"/>
                <a:cs typeface="Gill Sans"/>
              </a:rPr>
              <a:t>Diagrama general de arquitectura con el servidor SOAP central y los clientes de consola, escritorio, web y Android</a:t>
            </a:r>
          </a:p>
        </p:txBody>
      </p:sp>
    </p:spTree>
    <p:extLst>
      <p:ext uri="{BB962C8B-B14F-4D97-AF65-F5344CB8AC3E}">
        <p14:creationId xmlns:p14="http://schemas.microsoft.com/office/powerpoint/2010/main" val="61333950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4" name="Google Shape;114;p3">
            <a:extLst xmlns:a="http://schemas.openxmlformats.org/drawingml/2006/main">
              <a:ext uri="{FF2B5EF4-FFF2-40B4-BE49-F238E27FC236}">
                <a16:creationId xmlns:a16="http://schemas.microsoft.com/office/drawing/2014/main" id="{81065105-8CCE-4BB9-977C-8268478598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1192" y="702156"/>
            <a:ext cx="11029616" cy="1013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t>DESARROLLO</a:t>
            </a:r>
            <a:endParaRPr/>
          </a:p>
        </p:txBody>
      </p:sp>
      <p:sp>
        <p:nvSpPr>
          <p:cNvPr id="115" name="Google Shape;115;p3">
            <a:extLst xmlns:a="http://schemas.openxmlformats.org/drawingml/2006/main">
              <a:ext uri="{FF2B5EF4-FFF2-40B4-BE49-F238E27FC236}">
                <a16:creationId xmlns:a16="http://schemas.microsoft.com/office/drawing/2014/main" id="{E56724D6-6BD7-435B-B435-2DE44AAB7CD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81192" y="2180496"/>
            <a:ext cx="8589441" cy="36783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>
                <a:latin typeface="Cambria"/>
                <a:ea typeface="Cambria"/>
                <a:cs typeface="Cambria"/>
              </a:rPr>
              <a:t>1.1  OBJETIVO</a:t>
            </a:r>
            <a:endParaRPr/>
          </a:p>
          <a:p xmlns:a="http://schemas.openxmlformats.org/drawingml/2006/main">
            <a:pPr marL="342900" marR="0" lvl="0" indent="-237744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None/>
            </a:pPr>
            <a:r>
              <a:t/>
            </a:r>
            <a:endParaRPr sz="1800">
              <a:latin typeface="Cambria"/>
              <a:ea typeface="Cambria"/>
              <a:cs typeface="Cambria"/>
            </a:endParaRPr>
          </a:p>
          <a:p xmlns:a="http://schemas.openxmlformats.org/drawingml/2006/main">
            <a:pPr marL="457200" lvl="0" indent="-333756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Char char="∙"/>
            </a:pPr>
            <a:r>
              <a:rPr>
                <a:latin typeface="Cambria"/>
                <a:ea typeface="Cambria"/>
                <a:cs typeface="Cambria"/>
              </a:rPr>
              <a:t>Implementar un servicio SOAP en Java que centralice la autenticación, el catálogo y las conversiones de longitud, masa y temperatura, para que los clientes de consola, escritorio, web y Android utilicen el mismo backend sin base de datos.</a:t>
            </a:r>
          </a:p>
        </p:txBody>
      </p:sp>
      <p:sp>
        <p:nvSpPr>
          <p:cNvPr id="116" name="Google Shape;116;p3">
            <a:extLst xmlns:a="http://schemas.openxmlformats.org/drawingml/2006/main">
              <a:ext uri="{FF2B5EF4-FFF2-40B4-BE49-F238E27FC236}">
                <a16:creationId xmlns:a16="http://schemas.microsoft.com/office/drawing/2014/main" id="{570DFF06-AF3E-421D-AF8D-C398E7B82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3697" y="0"/>
            <a:ext cx="2808303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OBJETIVO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SERVIDOR </a:t>
            </a:r>
            <a:r>
              <a:rPr sz="1200" b="1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SOAP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5604318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1" name="Google Shape;121;g2d6d00c5bd2_0_0">
            <a:extLst xmlns:a="http://schemas.openxmlformats.org/drawingml/2006/main">
              <a:ext uri="{FF2B5EF4-FFF2-40B4-BE49-F238E27FC236}">
                <a16:creationId xmlns:a16="http://schemas.microsoft.com/office/drawing/2014/main" id="{B6A2B5BD-9E40-4197-8D4E-03F691234C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1192" y="702156"/>
            <a:ext cx="11029500" cy="101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t>DESARROLLO</a:t>
            </a:r>
            <a:endParaRPr/>
          </a:p>
        </p:txBody>
      </p:sp>
      <p:sp>
        <p:nvSpPr>
          <p:cNvPr id="122" name="Google Shape;122;g2d6d00c5bd2_0_0">
            <a:extLst xmlns:a="http://schemas.openxmlformats.org/drawingml/2006/main">
              <a:ext uri="{FF2B5EF4-FFF2-40B4-BE49-F238E27FC236}">
                <a16:creationId xmlns:a16="http://schemas.microsoft.com/office/drawing/2014/main" id="{0E4BFB10-2E6B-475C-81A7-70E55BE7686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81200" y="2180500"/>
            <a:ext cx="8589300" cy="16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342900" marR="0" lvl="0" indent="-359017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sz="1929" b="1">
                <a:latin typeface="Cambria"/>
                <a:ea typeface="Cambria"/>
                <a:cs typeface="Cambria"/>
              </a:rPr>
              <a:t>1.2  SERVIDOR SOAP</a:t>
            </a:r>
            <a:endParaRPr sz="1929" b="1">
              <a:latin typeface="Cambria"/>
              <a:ea typeface="Cambria"/>
              <a:cs typeface="Cambria"/>
            </a:endParaRPr>
          </a:p>
          <a:p xmlns:a="http://schemas.openxmlformats.org/drawingml/2006/main">
            <a:pPr marL="0" marR="0" lvl="0" indent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948"/>
              <a:buNone/>
            </a:pPr>
            <a:r>
              <a:t/>
            </a:r>
            <a:endParaRPr>
              <a:latin typeface="Cambria"/>
              <a:ea typeface="Cambria"/>
              <a:cs typeface="Cambria"/>
            </a:endParaRPr>
          </a:p>
          <a:p xmlns:a="http://schemas.openxmlformats.org/drawingml/2006/main">
            <a:pPr marL="342900" marR="0" lvl="0" indent="-350786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>
                <a:latin typeface="Cambria"/>
                <a:ea typeface="Cambria"/>
                <a:cs typeface="Cambria"/>
              </a:rPr>
              <a:t>El servidor Java 21 expone WSConUni como un servicio JAX-WS empaquetado en WAR. Payara publica el endpoint y el WSDL; la lógica de autenticación, catálogo y conversiones se ejecuta en una capa de servicio separada.</a:t>
            </a:r>
            <a:endParaRPr sz="1800">
              <a:latin typeface="Cambria"/>
              <a:ea typeface="Cambria"/>
              <a:cs typeface="Cambria"/>
            </a:endParaRPr>
          </a:p>
        </p:txBody>
      </p:sp>
      <p:sp>
        <p:nvSpPr>
          <p:cNvPr id="123" name="Google Shape;123;g2d6d00c5bd2_0_0">
            <a:extLst xmlns:a="http://schemas.openxmlformats.org/drawingml/2006/main">
              <a:ext uri="{FF2B5EF4-FFF2-40B4-BE49-F238E27FC236}">
                <a16:creationId xmlns:a16="http://schemas.microsoft.com/office/drawing/2014/main" id="{D05DCEC7-19D9-4162-88BA-C10BE50C6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3697" y="0"/>
            <a:ext cx="2808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CREACIÓN DEL SERVIDOR </a:t>
            </a:r>
            <a:r>
              <a:rPr sz="1200" b="1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SOAP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7" name="image36.png">
            <a:extLst xmlns:a="http://schemas.openxmlformats.org/drawingml/2006/main">
              <a:ext uri="{FF2B5EF4-FFF2-40B4-BE49-F238E27FC236}">
                <a16:creationId xmlns:a16="http://schemas.microsoft.com/office/drawing/2014/main" id="{AA23B7A3-31EF-4459-8CD1-710A819378D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d3bbc81f0d481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34986" y="3724354"/>
            <a:ext cx="3249332" cy="2164222"/>
          </a:xfrm>
          <a:prstGeom xmlns:a="http://schemas.openxmlformats.org/drawingml/2006/main" prst="rect">
            <a:avLst/>
          </a:prstGeom>
        </p:spPr>
      </p:pic>
      <p:pic>
        <p:nvPicPr>
          <p:cNvPr id="8" name="image49.png">
            <a:extLst xmlns:a="http://schemas.openxmlformats.org/drawingml/2006/main">
              <a:ext uri="{FF2B5EF4-FFF2-40B4-BE49-F238E27FC236}">
                <a16:creationId xmlns:a16="http://schemas.microsoft.com/office/drawing/2014/main" id="{0100DDEC-C176-4591-A5E5-1D2F1C941AA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052dfd00ee419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953500" y="3716772"/>
            <a:ext cx="3480507" cy="2164222"/>
          </a:xfrm>
          <a:prstGeom xmlns:a="http://schemas.openxmlformats.org/drawingml/2006/main" prst="rect">
            <a:avLst/>
          </a:prstGeom>
        </p:spPr>
      </p:pic>
      <p:pic>
        <p:nvPicPr>
          <p:cNvPr id="9" name="image13.png">
            <a:extLst xmlns:a="http://schemas.openxmlformats.org/drawingml/2006/main">
              <a:ext uri="{FF2B5EF4-FFF2-40B4-BE49-F238E27FC236}">
                <a16:creationId xmlns:a16="http://schemas.microsoft.com/office/drawing/2014/main" id="{85435166-53CB-4CCF-9800-140F63B2731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6c254c0682473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3709191"/>
            <a:ext cx="3131854" cy="2179386"/>
          </a:xfrm>
          <a:prstGeom xmlns:a="http://schemas.openxmlformats.org/drawingml/2006/main" prst="rect">
            <a:avLst/>
          </a:prstGeom>
        </p:spPr>
      </p:pic>
      <p:sp>
        <p:nvSpPr>
          <p:cNvPr id="124" name="Fondo blanco del contenido S4">
            <a:extLst xmlns:a="http://schemas.openxmlformats.org/drawingml/2006/main">
              <a:ext uri="{FF2B5EF4-FFF2-40B4-BE49-F238E27FC236}">
                <a16:creationId xmlns:a16="http://schemas.microsoft.com/office/drawing/2014/main" id="{FEBE8162-C7F9-45F5-9521-579D2BC22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3821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5" name="Franja superior azul S4">
            <a:extLst xmlns:a="http://schemas.openxmlformats.org/drawingml/2006/main">
              <a:ext uri="{FF2B5EF4-FFF2-40B4-BE49-F238E27FC236}">
                <a16:creationId xmlns:a16="http://schemas.microsoft.com/office/drawing/2014/main" id="{39D9E7EC-A762-42CC-B02E-4CDED63F6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09600"/>
            <a:ext cx="894397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2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" name="Acento superior 1 S4">
            <a:extLst xmlns:a="http://schemas.openxmlformats.org/drawingml/2006/main">
              <a:ext uri="{FF2B5EF4-FFF2-40B4-BE49-F238E27FC236}">
                <a16:creationId xmlns:a16="http://schemas.microsoft.com/office/drawing/2014/main" id="{C823ECB7-1C40-433A-854B-1C246B421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57200"/>
            <a:ext cx="37052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2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7" name="Acento superior 2 S4">
            <a:extLst xmlns:a="http://schemas.openxmlformats.org/drawingml/2006/main">
              <a:ext uri="{FF2B5EF4-FFF2-40B4-BE49-F238E27FC236}">
                <a16:creationId xmlns:a16="http://schemas.microsoft.com/office/drawing/2014/main" id="{824D7EE9-FA03-4D14-ADD0-A9EE40F1D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57200"/>
            <a:ext cx="37052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94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8" name="Acento superior 3 S4">
            <a:extLst xmlns:a="http://schemas.openxmlformats.org/drawingml/2006/main">
              <a:ext uri="{FF2B5EF4-FFF2-40B4-BE49-F238E27FC236}">
                <a16:creationId xmlns:a16="http://schemas.microsoft.com/office/drawing/2014/main" id="{A37A10BA-5B05-48F3-9F14-DEEF82839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57200"/>
            <a:ext cx="13430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A3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" name="Título de sección S4">
            <a:extLst xmlns:a="http://schemas.openxmlformats.org/drawingml/2006/main">
              <a:ext uri="{FF2B5EF4-FFF2-40B4-BE49-F238E27FC236}">
                <a16:creationId xmlns:a16="http://schemas.microsoft.com/office/drawing/2014/main" id="{0184A6B3-80D0-4479-AA28-DB9D8B107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19175"/>
            <a:ext cx="828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defPPr>
            <a:lvl1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1pPr>
            <a:lvl2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2pPr>
            <a:lvl3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3pPr>
            <a:lvl4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4pPr>
            <a:lvl5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5pPr>
            <a:lvl6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6pPr>
            <a:lvl7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7pPr>
            <a:lvl8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8pPr>
            <a:lvl9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9pPr>
          </a:lstStyle>
          <a:p xmlns:a="http://schemas.openxmlformats.org/drawingml/2006/main">
            <a: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pPr>
            <a:r>
              <a:rPr sz="2798">
                <a:solidFill>
                  <a:srgbClr val="FFFFFF"/>
                </a:solidFill>
                <a:latin typeface="Gill Sans"/>
                <a:ea typeface="Gill Sans"/>
                <a:cs typeface="Gill Sans"/>
              </a:rPr>
              <a:t>DESARROLLO</a:t>
            </a:r>
          </a:p>
        </p:txBody>
      </p:sp>
      <p:sp>
        <p:nvSpPr>
          <p:cNvPr id="130" name="Título del contenido S4">
            <a:extLst xmlns:a="http://schemas.openxmlformats.org/drawingml/2006/main">
              <a:ext uri="{FF2B5EF4-FFF2-40B4-BE49-F238E27FC236}">
                <a16:creationId xmlns:a16="http://schemas.microsoft.com/office/drawing/2014/main" id="{48D83C8D-47D9-4484-941C-E74C96FC4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38350"/>
            <a:ext cx="809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950" b="1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Servidor SOAP en Java</a:t>
            </a:r>
          </a:p>
        </p:txBody>
      </p:sp>
      <p:sp>
        <p:nvSpPr>
          <p:cNvPr id="131" name="Texto del contenido S4">
            <a:extLst xmlns:a="http://schemas.openxmlformats.org/drawingml/2006/main">
              <a:ext uri="{FF2B5EF4-FFF2-40B4-BE49-F238E27FC236}">
                <a16:creationId xmlns:a16="http://schemas.microsoft.com/office/drawing/2014/main" id="{2725BC22-5BBC-4C5B-A11A-C3DA98006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19375"/>
            <a:ext cx="37147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575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El backend Java 21 expone WSConUni mediante JAX-WS y Maven lo empaqueta como WAR. Payara publica el endpoint y el WSDL.</a:t>
            </a:r>
          </a:p>
        </p:txBody>
      </p:sp>
      <p:sp>
        <p:nvSpPr>
          <p:cNvPr id="132" name="Marcador imagen S4">
            <a:extLst xmlns:a="http://schemas.openxmlformats.org/drawingml/2006/main">
              <a:ext uri="{FF2B5EF4-FFF2-40B4-BE49-F238E27FC236}">
                <a16:creationId xmlns:a16="http://schemas.microsoft.com/office/drawing/2014/main" id="{CC6C247A-896B-486D-9F73-2CED3B178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571750"/>
            <a:ext cx="42862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8"/>
          </a:solidFill>
          <a:ln xmlns:a="http://schemas.openxmlformats.org/drawingml/2006/main" w="14288">
            <a:solidFill>
              <a:srgbClr val="73839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defPPr>
            <a:lvl1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1pPr>
            <a:lvl2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2pPr>
            <a:lvl3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3pPr>
            <a:lvl4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4pPr>
            <a:lvl5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5pPr>
            <a:lvl6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6pPr>
            <a:lvl7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7pPr>
            <a:lvl8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8pPr>
            <a:lvl9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pPr>
            <a:r>
              <a: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rPr>
              <a:t>CAPTURA PENDIENTE</a:t>
            </a:r>
          </a:p>
          <a:p xmlns:a="http://schemas.openxmlformats.org/drawingml/2006/main">
            <a: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pPr>
            <a:r>
              <a: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rPr>
              <a:t>NetBeans: árbol del proyecto WS_CON_UNI_JAVA_SOAP y pom.xml con Java 21 y empaquetado WAR</a:t>
            </a:r>
          </a:p>
        </p:txBody>
      </p:sp>
    </p:spTree>
    <p:extLst>
      <p:ext uri="{BB962C8B-B14F-4D97-AF65-F5344CB8AC3E}">
        <p14:creationId xmlns:p14="http://schemas.microsoft.com/office/powerpoint/2010/main" val="194453557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9" name="Google Shape;139;p9">
            <a:extLst xmlns:a="http://schemas.openxmlformats.org/drawingml/2006/main">
              <a:ext uri="{FF2B5EF4-FFF2-40B4-BE49-F238E27FC236}">
                <a16:creationId xmlns:a16="http://schemas.microsoft.com/office/drawing/2014/main" id="{CC675180-01D1-4967-98CF-27ED72C4C31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1192" y="702156"/>
            <a:ext cx="11029616" cy="1013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t>DESARROLLO</a:t>
            </a:r>
            <a:endParaRPr/>
          </a:p>
        </p:txBody>
      </p:sp>
      <p:sp>
        <p:nvSpPr>
          <p:cNvPr id="140" name="Google Shape;140;p9">
            <a:extLst xmlns:a="http://schemas.openxmlformats.org/drawingml/2006/main">
              <a:ext uri="{FF2B5EF4-FFF2-40B4-BE49-F238E27FC236}">
                <a16:creationId xmlns:a16="http://schemas.microsoft.com/office/drawing/2014/main" id="{DDE7BBC6-8C57-4343-80E1-FD21CE851B8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81192" y="2180497"/>
            <a:ext cx="8589441" cy="124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342900" marR="0" lvl="0" indent="-331355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350"/>
              <a:buChar char="∙"/>
            </a:pPr>
            <a:r>
              <a:rPr sz="1350" b="1">
                <a:latin typeface="Cambria"/>
                <a:ea typeface="Cambria"/>
                <a:cs typeface="Cambria"/>
              </a:rPr>
              <a:t>CONTRATO SOAP Y OPERACIONES</a:t>
            </a:r>
            <a:endParaRPr sz="1350" b="1"/>
          </a:p>
          <a:p xmlns:a="http://schemas.openxmlformats.org/drawingml/2006/main">
            <a:pPr marL="457200" lvl="0" indent="-333756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Char char="∙"/>
            </a:pPr>
            <a:r>
              <a:rPr sz="1300">
                <a:latin typeface="Cambria"/>
                <a:ea typeface="Cambria"/>
                <a:cs typeface="Cambria"/>
              </a:rPr>
              <a:t/>
            </a:r>
            <a:endParaRPr sz="1800">
              <a:latin typeface="Cambria"/>
              <a:ea typeface="Cambria"/>
              <a:cs typeface="Cambria"/>
            </a:endParaRPr>
          </a:p>
          <a:p xmlns:a="http://schemas.openxmlformats.org/drawingml/2006/main">
            <a:pPr marL="457200" lvl="0" indent="-333756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Char char="∙"/>
            </a:pPr>
            <a:r>
              <a:rPr sz="1300">
                <a:latin typeface="Cambria"/>
                <a:ea typeface="Cambria"/>
                <a:cs typeface="Cambria"/>
              </a:rPr>
              <a:t>WSConUni expone autenticar, recuperarClave, obtenerCategorias, obtenerUnidades y convertir. El contrato WSDL define los parámetros y las respuestas estructuradas con estado, código y mensaje. La autenticación entrega un token; las consultas y conversiones requieren ese token.</a:t>
            </a:r>
            <a:endParaRPr sz="1800">
              <a:latin typeface="Cambria"/>
              <a:ea typeface="Cambria"/>
              <a:cs typeface="Cambria"/>
            </a:endParaRPr>
          </a:p>
        </p:txBody>
      </p:sp>
      <p:sp>
        <p:nvSpPr>
          <p:cNvPr id="141" name="Google Shape;141;p9">
            <a:extLst xmlns:a="http://schemas.openxmlformats.org/drawingml/2006/main">
              <a:ext uri="{FF2B5EF4-FFF2-40B4-BE49-F238E27FC236}">
                <a16:creationId xmlns:a16="http://schemas.microsoft.com/office/drawing/2014/main" id="{091BF3A5-AEDB-464C-A13E-19CA79757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3697" y="0"/>
            <a:ext cx="2808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CREACIÓN DEL SERVIDOR </a:t>
            </a:r>
            <a:r>
              <a:rPr sz="1200" b="1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SOAP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7" name="image6.png">
            <a:extLst xmlns:a="http://schemas.openxmlformats.org/drawingml/2006/main">
              <a:ext uri="{FF2B5EF4-FFF2-40B4-BE49-F238E27FC236}">
                <a16:creationId xmlns:a16="http://schemas.microsoft.com/office/drawing/2014/main" id="{DB6A121A-4AB5-44A9-B824-040346739E9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2382d5f4cd416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6342" y="3401152"/>
            <a:ext cx="2105025" cy="885825"/>
          </a:xfrm>
          <a:prstGeom xmlns:a="http://schemas.openxmlformats.org/drawingml/2006/main" prst="rect">
            <a:avLst/>
          </a:prstGeom>
        </p:spPr>
      </p:pic>
      <p:pic>
        <p:nvPicPr>
          <p:cNvPr id="3" name="Imagen 2">
            <a:extLst xmlns:a="http://schemas.openxmlformats.org/drawingml/2006/main">
              <a:ext uri="{FF2B5EF4-FFF2-40B4-BE49-F238E27FC236}">
                <a16:creationId xmlns:a16="http://schemas.microsoft.com/office/drawing/2014/main" id="{E124BECD-493A-4A6F-BFDB-23AAFBE5012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a51a6d94e64e7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74120" y="3429000"/>
            <a:ext cx="5843760" cy="2964849"/>
          </a:xfrm>
          <a:prstGeom xmlns:a="http://schemas.openxmlformats.org/drawingml/2006/main" prst="rect">
            <a:avLst/>
          </a:prstGeom>
        </p:spPr>
      </p:pic>
      <p:sp>
        <p:nvSpPr>
          <p:cNvPr id="142" name="Fondo blanco del contenido S5">
            <a:extLst xmlns:a="http://schemas.openxmlformats.org/drawingml/2006/main">
              <a:ext uri="{FF2B5EF4-FFF2-40B4-BE49-F238E27FC236}">
                <a16:creationId xmlns:a16="http://schemas.microsoft.com/office/drawing/2014/main" id="{05A93352-8CC6-462D-83BF-4FFC1458E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3821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3" name="Franja superior azul S5">
            <a:extLst xmlns:a="http://schemas.openxmlformats.org/drawingml/2006/main">
              <a:ext uri="{FF2B5EF4-FFF2-40B4-BE49-F238E27FC236}">
                <a16:creationId xmlns:a16="http://schemas.microsoft.com/office/drawing/2014/main" id="{7194CBD6-3B94-4F73-B6C6-278B32BF2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09600"/>
            <a:ext cx="894397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2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4" name="Acento superior 1 S5">
            <a:extLst xmlns:a="http://schemas.openxmlformats.org/drawingml/2006/main">
              <a:ext uri="{FF2B5EF4-FFF2-40B4-BE49-F238E27FC236}">
                <a16:creationId xmlns:a16="http://schemas.microsoft.com/office/drawing/2014/main" id="{CCDCF1EA-54D2-44F0-B851-C9C465772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57200"/>
            <a:ext cx="37052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2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5" name="Acento superior 2 S5">
            <a:extLst xmlns:a="http://schemas.openxmlformats.org/drawingml/2006/main">
              <a:ext uri="{FF2B5EF4-FFF2-40B4-BE49-F238E27FC236}">
                <a16:creationId xmlns:a16="http://schemas.microsoft.com/office/drawing/2014/main" id="{ACF4D640-AFF5-4882-A3E4-C59D8143C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57200"/>
            <a:ext cx="37052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94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6" name="Acento superior 3 S5">
            <a:extLst xmlns:a="http://schemas.openxmlformats.org/drawingml/2006/main">
              <a:ext uri="{FF2B5EF4-FFF2-40B4-BE49-F238E27FC236}">
                <a16:creationId xmlns:a16="http://schemas.microsoft.com/office/drawing/2014/main" id="{1F5F0D56-A6A5-4B42-B5CA-4D3AC6947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57200"/>
            <a:ext cx="13430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A3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7" name="Título de sección S5">
            <a:extLst xmlns:a="http://schemas.openxmlformats.org/drawingml/2006/main">
              <a:ext uri="{FF2B5EF4-FFF2-40B4-BE49-F238E27FC236}">
                <a16:creationId xmlns:a16="http://schemas.microsoft.com/office/drawing/2014/main" id="{A276F549-C305-44C9-9FB8-6B31E1BD8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19175"/>
            <a:ext cx="828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defPPr>
            <a:lvl1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1pPr>
            <a:lvl2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2pPr>
            <a:lvl3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3pPr>
            <a:lvl4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4pPr>
            <a:lvl5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5pPr>
            <a:lvl6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6pPr>
            <a:lvl7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7pPr>
            <a:lvl8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8pPr>
            <a:lvl9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9pPr>
          </a:lstStyle>
          <a:p xmlns:a="http://schemas.openxmlformats.org/drawingml/2006/main">
            <a: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pPr>
            <a:r>
              <a:rPr sz="2798">
                <a:solidFill>
                  <a:srgbClr val="FFFFFF"/>
                </a:solidFill>
                <a:latin typeface="Gill Sans"/>
                <a:ea typeface="Gill Sans"/>
                <a:cs typeface="Gill Sans"/>
              </a:rPr>
              <a:t>DESARROLLO</a:t>
            </a:r>
          </a:p>
        </p:txBody>
      </p:sp>
      <p:sp>
        <p:nvSpPr>
          <p:cNvPr id="148" name="Título del contenido S5">
            <a:extLst xmlns:a="http://schemas.openxmlformats.org/drawingml/2006/main">
              <a:ext uri="{FF2B5EF4-FFF2-40B4-BE49-F238E27FC236}">
                <a16:creationId xmlns:a16="http://schemas.microsoft.com/office/drawing/2014/main" id="{65565816-C780-430C-99FA-828F92C0B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38350"/>
            <a:ext cx="809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950" b="1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Contrato WSDL y operaciones</a:t>
            </a:r>
          </a:p>
        </p:txBody>
      </p:sp>
      <p:sp>
        <p:nvSpPr>
          <p:cNvPr id="149" name="Texto del contenido S5">
            <a:extLst xmlns:a="http://schemas.openxmlformats.org/drawingml/2006/main">
              <a:ext uri="{FF2B5EF4-FFF2-40B4-BE49-F238E27FC236}">
                <a16:creationId xmlns:a16="http://schemas.microsoft.com/office/drawing/2014/main" id="{387EF7E7-9613-4AF8-8DFB-0C9012789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19375"/>
            <a:ext cx="37147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575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El servicio ofrece autenticar, recuperarClave, obtenerCategorias, obtenerUnidades y convertir. Las respuestas incluyen estado, código y mensaje.</a:t>
            </a:r>
          </a:p>
        </p:txBody>
      </p:sp>
      <p:sp>
        <p:nvSpPr>
          <p:cNvPr id="150" name="Marcador imagen S5">
            <a:extLst xmlns:a="http://schemas.openxmlformats.org/drawingml/2006/main">
              <a:ext uri="{FF2B5EF4-FFF2-40B4-BE49-F238E27FC236}">
                <a16:creationId xmlns:a16="http://schemas.microsoft.com/office/drawing/2014/main" id="{76AB40B5-AF06-4289-AD1B-D18EE70A9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571750"/>
            <a:ext cx="42862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8"/>
          </a:solidFill>
          <a:ln xmlns:a="http://schemas.openxmlformats.org/drawingml/2006/main" w="14288">
            <a:solidFill>
              <a:srgbClr val="73839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defPPr>
            <a:lvl1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1pPr>
            <a:lvl2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2pPr>
            <a:lvl3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3pPr>
            <a:lvl4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4pPr>
            <a:lvl5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5pPr>
            <a:lvl6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6pPr>
            <a:lvl7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7pPr>
            <a:lvl8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8pPr>
            <a:lvl9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pPr>
            <a:r>
              <a: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rPr>
              <a:t>CAPTURA PENDIENTE</a:t>
            </a:r>
          </a:p>
          <a:p xmlns:a="http://schemas.openxmlformats.org/drawingml/2006/main">
            <a: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pPr>
            <a:r>
              <a: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rPr>
              <a:t>WSConUni.java con las cinco operaciones y vista del WSDL servido por Payara</a:t>
            </a:r>
          </a:p>
        </p:txBody>
      </p:sp>
    </p:spTree>
    <p:extLst>
      <p:ext uri="{BB962C8B-B14F-4D97-AF65-F5344CB8AC3E}">
        <p14:creationId xmlns:p14="http://schemas.microsoft.com/office/powerpoint/2010/main" val="110388911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8" name="Google Shape;148;g2d624313899_0_5">
            <a:extLst xmlns:a="http://schemas.openxmlformats.org/drawingml/2006/main">
              <a:ext uri="{FF2B5EF4-FFF2-40B4-BE49-F238E27FC236}">
                <a16:creationId xmlns:a16="http://schemas.microsoft.com/office/drawing/2014/main" id="{6AAAE119-557B-4C82-9985-28E5E80C90D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1192" y="702156"/>
            <a:ext cx="11029500" cy="101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t>DESARROLLO</a:t>
            </a:r>
            <a:endParaRPr/>
          </a:p>
        </p:txBody>
      </p:sp>
      <p:sp>
        <p:nvSpPr>
          <p:cNvPr id="149" name="Google Shape;149;g2d624313899_0_5">
            <a:extLst xmlns:a="http://schemas.openxmlformats.org/drawingml/2006/main">
              <a:ext uri="{FF2B5EF4-FFF2-40B4-BE49-F238E27FC236}">
                <a16:creationId xmlns:a16="http://schemas.microsoft.com/office/drawing/2014/main" id="{37E99EA5-2406-4D5B-9BB0-482221DB083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81200" y="2180500"/>
            <a:ext cx="4557900" cy="38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342900" marR="0" lvl="0" indent="-350901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77"/>
              <a:buChar char="∙"/>
            </a:pPr>
            <a:r>
              <a:rPr sz="1677" b="1">
                <a:latin typeface="Cambria"/>
                <a:ea typeface="Cambria"/>
                <a:cs typeface="Cambria"/>
              </a:rPr>
              <a:t>ARQUITECTURA DEL SERVIDOR</a:t>
            </a:r>
            <a:endParaRPr sz="1677" b="1">
              <a:latin typeface="Cambria"/>
              <a:ea typeface="Cambria"/>
              <a:cs typeface="Cambria"/>
            </a:endParaRPr>
          </a:p>
          <a:p xmlns:a="http://schemas.openxmlformats.org/drawingml/2006/main">
            <a:pPr marL="457200" marR="0" lvl="0" indent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90"/>
              <a:buNone/>
            </a:pPr>
            <a:r>
              <a:t/>
            </a:r>
            <a:endParaRPr sz="1677" b="1">
              <a:latin typeface="Cambria"/>
              <a:ea typeface="Cambria"/>
              <a:cs typeface="Cambria"/>
            </a:endParaRPr>
          </a:p>
          <a:p xmlns:a="http://schemas.openxmlformats.org/drawingml/2006/main">
            <a:pPr marL="342900" marR="0" lvl="0" indent="-350901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77"/>
              <a:buFont typeface="Noto Sans Symbols"/>
              <a:buChar char="∙"/>
            </a:pPr>
            <a:r>
              <a:rPr sz="1677">
                <a:latin typeface="Cambria"/>
                <a:ea typeface="Cambria"/>
                <a:cs typeface="Cambria"/>
              </a:rPr>
              <a:t>WSConUni publica las operaciones SOAP y delega las reglas de negocio en ConversorUnidadesServices. Respuesta normaliza los resultados y errores. El catálogo y las sesiones se almacenan en memoria, por lo que el sistema funciona sin conexión a una base de datos.</a:t>
            </a:r>
            <a:endParaRPr sz="1677">
              <a:latin typeface="Cambria"/>
              <a:ea typeface="Cambria"/>
              <a:cs typeface="Cambria"/>
            </a:endParaRPr>
          </a:p>
        </p:txBody>
      </p:sp>
      <p:sp>
        <p:nvSpPr>
          <p:cNvPr id="150" name="Google Shape;150;g2d624313899_0_5">
            <a:extLst xmlns:a="http://schemas.openxmlformats.org/drawingml/2006/main">
              <a:ext uri="{FF2B5EF4-FFF2-40B4-BE49-F238E27FC236}">
                <a16:creationId xmlns:a16="http://schemas.microsoft.com/office/drawing/2014/main" id="{2AC19248-6791-4B07-8F4F-4D8957F2A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3697" y="0"/>
            <a:ext cx="2808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CREACIÓN DEL SERVIDOR </a:t>
            </a:r>
            <a:r>
              <a:rPr sz="1200" b="1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SOAP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6" name="image5.png">
            <a:extLst xmlns:a="http://schemas.openxmlformats.org/drawingml/2006/main">
              <a:ext uri="{FF2B5EF4-FFF2-40B4-BE49-F238E27FC236}">
                <a16:creationId xmlns:a16="http://schemas.microsoft.com/office/drawing/2014/main" id="{DAE93DA1-7DDE-423C-BA96-AA987046214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51d27f2f4c482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49937" y="2870106"/>
            <a:ext cx="3268557" cy="2033588"/>
          </a:xfrm>
          <a:prstGeom xmlns:a="http://schemas.openxmlformats.org/drawingml/2006/main" prst="rect">
            <a:avLst/>
          </a:prstGeom>
        </p:spPr>
      </p:pic>
      <p:sp>
        <p:nvSpPr>
          <p:cNvPr id="151" name="Fondo blanco del contenido S6">
            <a:extLst xmlns:a="http://schemas.openxmlformats.org/drawingml/2006/main">
              <a:ext uri="{FF2B5EF4-FFF2-40B4-BE49-F238E27FC236}">
                <a16:creationId xmlns:a16="http://schemas.microsoft.com/office/drawing/2014/main" id="{2F8021FE-124F-4FA4-93E0-345350EAB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3821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2" name="Franja superior azul S6">
            <a:extLst xmlns:a="http://schemas.openxmlformats.org/drawingml/2006/main">
              <a:ext uri="{FF2B5EF4-FFF2-40B4-BE49-F238E27FC236}">
                <a16:creationId xmlns:a16="http://schemas.microsoft.com/office/drawing/2014/main" id="{7A968A6F-662E-4184-ABCB-A87E5C7BC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09600"/>
            <a:ext cx="894397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2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3" name="Acento superior 1 S6">
            <a:extLst xmlns:a="http://schemas.openxmlformats.org/drawingml/2006/main">
              <a:ext uri="{FF2B5EF4-FFF2-40B4-BE49-F238E27FC236}">
                <a16:creationId xmlns:a16="http://schemas.microsoft.com/office/drawing/2014/main" id="{63E17F5D-BDBB-4526-B1D2-F52610FB2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57200"/>
            <a:ext cx="37052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2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4" name="Acento superior 2 S6">
            <a:extLst xmlns:a="http://schemas.openxmlformats.org/drawingml/2006/main">
              <a:ext uri="{FF2B5EF4-FFF2-40B4-BE49-F238E27FC236}">
                <a16:creationId xmlns:a16="http://schemas.microsoft.com/office/drawing/2014/main" id="{58729BF8-43D6-4B8B-AABB-99AAC1220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57200"/>
            <a:ext cx="37052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94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5" name="Acento superior 3 S6">
            <a:extLst xmlns:a="http://schemas.openxmlformats.org/drawingml/2006/main">
              <a:ext uri="{FF2B5EF4-FFF2-40B4-BE49-F238E27FC236}">
                <a16:creationId xmlns:a16="http://schemas.microsoft.com/office/drawing/2014/main" id="{879F4C14-BA16-4DA4-B505-3C3D77D6C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57200"/>
            <a:ext cx="13430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A3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6" name="Título de sección S6">
            <a:extLst xmlns:a="http://schemas.openxmlformats.org/drawingml/2006/main">
              <a:ext uri="{FF2B5EF4-FFF2-40B4-BE49-F238E27FC236}">
                <a16:creationId xmlns:a16="http://schemas.microsoft.com/office/drawing/2014/main" id="{B4CC9BBD-B390-468A-8047-35136FE9F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19175"/>
            <a:ext cx="828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defPPr>
            <a:lvl1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1pPr>
            <a:lvl2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2pPr>
            <a:lvl3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3pPr>
            <a:lvl4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4pPr>
            <a:lvl5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5pPr>
            <a:lvl6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6pPr>
            <a:lvl7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7pPr>
            <a:lvl8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8pPr>
            <a:lvl9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9pPr>
          </a:lstStyle>
          <a:p xmlns:a="http://schemas.openxmlformats.org/drawingml/2006/main">
            <a: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pPr>
            <a:r>
              <a:rPr sz="2798">
                <a:solidFill>
                  <a:srgbClr val="FFFFFF"/>
                </a:solidFill>
                <a:latin typeface="Gill Sans"/>
                <a:ea typeface="Gill Sans"/>
                <a:cs typeface="Gill Sans"/>
              </a:rPr>
              <a:t>DESARROLLO</a:t>
            </a:r>
          </a:p>
        </p:txBody>
      </p:sp>
      <p:sp>
        <p:nvSpPr>
          <p:cNvPr id="157" name="Título del contenido S6">
            <a:extLst xmlns:a="http://schemas.openxmlformats.org/drawingml/2006/main">
              <a:ext uri="{FF2B5EF4-FFF2-40B4-BE49-F238E27FC236}">
                <a16:creationId xmlns:a16="http://schemas.microsoft.com/office/drawing/2014/main" id="{4EB45468-B4AE-4978-BBAF-FD0A2582B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38350"/>
            <a:ext cx="809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950" b="1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Capas del servidor</a:t>
            </a:r>
          </a:p>
        </p:txBody>
      </p:sp>
      <p:sp>
        <p:nvSpPr>
          <p:cNvPr id="158" name="Texto del contenido S6">
            <a:extLst xmlns:a="http://schemas.openxmlformats.org/drawingml/2006/main">
              <a:ext uri="{FF2B5EF4-FFF2-40B4-BE49-F238E27FC236}">
                <a16:creationId xmlns:a16="http://schemas.microsoft.com/office/drawing/2014/main" id="{67E3F2A0-262F-4D61-8759-308D34E88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19375"/>
            <a:ext cx="37147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575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WSConUni recibe las solicitudes SOAP y delega las reglas en ConversorUnidadesServices. Respuesta normaliza resultados y errores. No se usa base de datos.</a:t>
            </a:r>
          </a:p>
        </p:txBody>
      </p:sp>
      <p:sp>
        <p:nvSpPr>
          <p:cNvPr id="159" name="Marcador imagen S6">
            <a:extLst xmlns:a="http://schemas.openxmlformats.org/drawingml/2006/main">
              <a:ext uri="{FF2B5EF4-FFF2-40B4-BE49-F238E27FC236}">
                <a16:creationId xmlns:a16="http://schemas.microsoft.com/office/drawing/2014/main" id="{E2EDF70A-571B-4FF8-B8B7-C4C72E87A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571750"/>
            <a:ext cx="42862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8"/>
          </a:solidFill>
          <a:ln xmlns:a="http://schemas.openxmlformats.org/drawingml/2006/main" w="14288">
            <a:solidFill>
              <a:srgbClr val="73839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defPPr>
            <a:lvl1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1pPr>
            <a:lvl2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2pPr>
            <a:lvl3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3pPr>
            <a:lvl4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4pPr>
            <a:lvl5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5pPr>
            <a:lvl6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6pPr>
            <a:lvl7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7pPr>
            <a:lvl8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8pPr>
            <a:lvl9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pPr>
            <a:r>
              <a: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rPr>
              <a:t>CAPTURA PENDIENTE</a:t>
            </a:r>
          </a:p>
          <a:p xmlns:a="http://schemas.openxmlformats.org/drawingml/2006/main">
            <a: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pPr>
            <a:r>
              <a: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rPr>
              <a:t>Diagrama de capas: endpoint SOAP, servicio de negocio y modelo Respuesta</a:t>
            </a:r>
          </a:p>
        </p:txBody>
      </p:sp>
    </p:spTree>
    <p:extLst>
      <p:ext uri="{BB962C8B-B14F-4D97-AF65-F5344CB8AC3E}">
        <p14:creationId xmlns:p14="http://schemas.microsoft.com/office/powerpoint/2010/main" val="36540884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4" name="Google Shape;164;g2d624313899_0_26">
            <a:extLst xmlns:a="http://schemas.openxmlformats.org/drawingml/2006/main">
              <a:ext uri="{FF2B5EF4-FFF2-40B4-BE49-F238E27FC236}">
                <a16:creationId xmlns:a16="http://schemas.microsoft.com/office/drawing/2014/main" id="{81900682-FC87-4335-B19D-4D8B3054727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1192" y="702156"/>
            <a:ext cx="11029500" cy="101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t>DESARROLLO</a:t>
            </a:r>
            <a:endParaRPr/>
          </a:p>
        </p:txBody>
      </p:sp>
      <p:sp>
        <p:nvSpPr>
          <p:cNvPr id="165" name="Google Shape;165;g2d624313899_0_26">
            <a:extLst xmlns:a="http://schemas.openxmlformats.org/drawingml/2006/main">
              <a:ext uri="{FF2B5EF4-FFF2-40B4-BE49-F238E27FC236}">
                <a16:creationId xmlns:a16="http://schemas.microsoft.com/office/drawing/2014/main" id="{D51EFC6C-BF0B-403A-83B5-B54C270A4F7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81192" y="827236"/>
            <a:ext cx="3709200" cy="398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latin typeface="Cambria"/>
                <a:ea typeface="Cambria"/>
                <a:cs typeface="Cambria"/>
              </a:rPr>
              <a:t>LÓGICA Y SEGURIDAD</a:t>
            </a:r>
            <a:endParaRPr sz="1670">
              <a:latin typeface="Cambria"/>
              <a:ea typeface="Cambria"/>
              <a:cs typeface="Cambria"/>
            </a:endParaRP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790"/>
              <a:buFont typeface="Arial"/>
              <a:buNone/>
            </a:pPr>
            <a:r>
              <a:rPr sz="1670">
                <a:latin typeface="Cambria"/>
                <a:ea typeface="Cambria"/>
                <a:cs typeface="Cambria"/>
              </a:rPr>
              <a:t/>
            </a: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790"/>
              <a:buFont typeface="Arial"/>
              <a:buNone/>
            </a:pPr>
            <a:r>
              <a:rPr sz="1670">
                <a:latin typeface="Cambria"/>
                <a:ea typeface="Cambria"/>
                <a:cs typeface="Cambria"/>
              </a:rPr>
              <a:t>El servicio valida el token antes de consultar el catálogo o convertir. La sesión dura 15 minutos. El catálogo ofrece longitud, masa y temperatura; el servicio valida unidades compatibles y límites físicos antes de calcular.</a:t>
            </a:r>
          </a:p>
        </p:txBody>
      </p:sp>
      <p:sp>
        <p:nvSpPr>
          <p:cNvPr id="166" name="Google Shape;166;g2d624313899_0_26">
            <a:extLst xmlns:a="http://schemas.openxmlformats.org/drawingml/2006/main">
              <a:ext uri="{FF2B5EF4-FFF2-40B4-BE49-F238E27FC236}">
                <a16:creationId xmlns:a16="http://schemas.microsoft.com/office/drawing/2014/main" id="{CA994428-09E8-46C9-B0FD-C6481B502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3697" y="0"/>
            <a:ext cx="2808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CREACIÓN DEL SERVIDOR </a:t>
            </a:r>
            <a:r>
              <a:rPr sz="1200" b="1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SOAP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5" name="Imagen 4">
            <a:extLst xmlns:a="http://schemas.openxmlformats.org/drawingml/2006/main">
              <a:ext uri="{FF2B5EF4-FFF2-40B4-BE49-F238E27FC236}">
                <a16:creationId xmlns:a16="http://schemas.microsoft.com/office/drawing/2014/main" id="{B9B94815-5BE1-4D9C-BC91-5CDDEC66D7C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8e33fb8d2a43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75414" y="2817286"/>
            <a:ext cx="4441055" cy="3615432"/>
          </a:xfrm>
          <a:prstGeom xmlns:a="http://schemas.openxmlformats.org/drawingml/2006/main" prst="rect">
            <a:avLst/>
          </a:prstGeom>
        </p:spPr>
      </p:pic>
      <p:sp>
        <p:nvSpPr>
          <p:cNvPr id="167" name="Fondo blanco del contenido S7">
            <a:extLst xmlns:a="http://schemas.openxmlformats.org/drawingml/2006/main">
              <a:ext uri="{FF2B5EF4-FFF2-40B4-BE49-F238E27FC236}">
                <a16:creationId xmlns:a16="http://schemas.microsoft.com/office/drawing/2014/main" id="{B6AA009B-D52D-4531-850F-F5B04C3FD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3821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8" name="Franja superior azul S7">
            <a:extLst xmlns:a="http://schemas.openxmlformats.org/drawingml/2006/main">
              <a:ext uri="{FF2B5EF4-FFF2-40B4-BE49-F238E27FC236}">
                <a16:creationId xmlns:a16="http://schemas.microsoft.com/office/drawing/2014/main" id="{8EDAEAA8-9421-4E19-859A-0B826D010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09600"/>
            <a:ext cx="894397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2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9" name="Acento superior 1 S7">
            <a:extLst xmlns:a="http://schemas.openxmlformats.org/drawingml/2006/main">
              <a:ext uri="{FF2B5EF4-FFF2-40B4-BE49-F238E27FC236}">
                <a16:creationId xmlns:a16="http://schemas.microsoft.com/office/drawing/2014/main" id="{E9FA2BD7-5DB7-448E-A5C5-9FB244A09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57200"/>
            <a:ext cx="37052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2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0" name="Acento superior 2 S7">
            <a:extLst xmlns:a="http://schemas.openxmlformats.org/drawingml/2006/main">
              <a:ext uri="{FF2B5EF4-FFF2-40B4-BE49-F238E27FC236}">
                <a16:creationId xmlns:a16="http://schemas.microsoft.com/office/drawing/2014/main" id="{9AC0DEAE-62BD-4802-A5A5-36B35C350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57200"/>
            <a:ext cx="37052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94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1" name="Acento superior 3 S7">
            <a:extLst xmlns:a="http://schemas.openxmlformats.org/drawingml/2006/main">
              <a:ext uri="{FF2B5EF4-FFF2-40B4-BE49-F238E27FC236}">
                <a16:creationId xmlns:a16="http://schemas.microsoft.com/office/drawing/2014/main" id="{793AE88A-31F2-4908-95EA-80C0C86CE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57200"/>
            <a:ext cx="13430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A3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2" name="Título de sección S7">
            <a:extLst xmlns:a="http://schemas.openxmlformats.org/drawingml/2006/main">
              <a:ext uri="{FF2B5EF4-FFF2-40B4-BE49-F238E27FC236}">
                <a16:creationId xmlns:a16="http://schemas.microsoft.com/office/drawing/2014/main" id="{963EB008-FB74-4C21-A7E5-883417473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19175"/>
            <a:ext cx="828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defPPr>
            <a:lvl1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1pPr>
            <a:lvl2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2pPr>
            <a:lvl3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3pPr>
            <a:lvl4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4pPr>
            <a:lvl5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5pPr>
            <a:lvl6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6pPr>
            <a:lvl7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7pPr>
            <a:lvl8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8pPr>
            <a:lvl9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9pPr>
          </a:lstStyle>
          <a:p xmlns:a="http://schemas.openxmlformats.org/drawingml/2006/main">
            <a: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pPr>
            <a:r>
              <a:rPr sz="2798">
                <a:solidFill>
                  <a:srgbClr val="FFFFFF"/>
                </a:solidFill>
                <a:latin typeface="Gill Sans"/>
                <a:ea typeface="Gill Sans"/>
                <a:cs typeface="Gill Sans"/>
              </a:rPr>
              <a:t>DESARROLLO</a:t>
            </a:r>
          </a:p>
        </p:txBody>
      </p:sp>
      <p:sp>
        <p:nvSpPr>
          <p:cNvPr id="173" name="Título del contenido S7">
            <a:extLst xmlns:a="http://schemas.openxmlformats.org/drawingml/2006/main">
              <a:ext uri="{FF2B5EF4-FFF2-40B4-BE49-F238E27FC236}">
                <a16:creationId xmlns:a16="http://schemas.microsoft.com/office/drawing/2014/main" id="{DA61DBF0-8449-46D8-B338-29CA9DDE8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38350"/>
            <a:ext cx="809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950" b="1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Autenticación y sesión</a:t>
            </a:r>
          </a:p>
        </p:txBody>
      </p:sp>
      <p:sp>
        <p:nvSpPr>
          <p:cNvPr id="174" name="Texto del contenido S7">
            <a:extLst xmlns:a="http://schemas.openxmlformats.org/drawingml/2006/main">
              <a:ext uri="{FF2B5EF4-FFF2-40B4-BE49-F238E27FC236}">
                <a16:creationId xmlns:a16="http://schemas.microsoft.com/office/drawing/2014/main" id="{87B3DC6D-DC55-4D92-8ECD-7AD46CD24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19375"/>
            <a:ext cx="37147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575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El servidor valida el token antes de consultar o convertir. La sesión vence a los 15 minutos. El catálogo y las sesiones viven en memoria.</a:t>
            </a:r>
          </a:p>
        </p:txBody>
      </p:sp>
      <p:sp>
        <p:nvSpPr>
          <p:cNvPr id="175" name="Marcador imagen S7">
            <a:extLst xmlns:a="http://schemas.openxmlformats.org/drawingml/2006/main">
              <a:ext uri="{FF2B5EF4-FFF2-40B4-BE49-F238E27FC236}">
                <a16:creationId xmlns:a16="http://schemas.microsoft.com/office/drawing/2014/main" id="{D34013ED-7BD5-4443-B299-DEDB7B7B8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571750"/>
            <a:ext cx="42862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8"/>
          </a:solidFill>
          <a:ln xmlns:a="http://schemas.openxmlformats.org/drawingml/2006/main" w="14288">
            <a:solidFill>
              <a:srgbClr val="73839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defPPr>
            <a:lvl1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1pPr>
            <a:lvl2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2pPr>
            <a:lvl3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3pPr>
            <a:lvl4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4pPr>
            <a:lvl5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5pPr>
            <a:lvl6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6pPr>
            <a:lvl7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7pPr>
            <a:lvl8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8pPr>
            <a:lvl9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pPr>
            <a:r>
              <a: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rPr>
              <a:t>CAPTURA PENDIENTE</a:t>
            </a:r>
          </a:p>
          <a:p xmlns:a="http://schemas.openxmlformats.org/drawingml/2006/main">
            <a: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pPr>
            <a:r>
              <a: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rPr>
              <a:t>ConversorUnidadesServices.java mostrando validación del token, sesión y catálogo</a:t>
            </a:r>
          </a:p>
        </p:txBody>
      </p:sp>
    </p:spTree>
    <p:extLst>
      <p:ext uri="{BB962C8B-B14F-4D97-AF65-F5344CB8AC3E}">
        <p14:creationId xmlns:p14="http://schemas.microsoft.com/office/powerpoint/2010/main" val="143545165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8" name="Google Shape;188;g2d624313899_0_71">
            <a:extLst xmlns:a="http://schemas.openxmlformats.org/drawingml/2006/main">
              <a:ext uri="{FF2B5EF4-FFF2-40B4-BE49-F238E27FC236}">
                <a16:creationId xmlns:a16="http://schemas.microsoft.com/office/drawing/2014/main" id="{95FD1EF3-78B8-46B3-B95C-A62150EE63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1192" y="702156"/>
            <a:ext cx="11029500" cy="101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t>DESARROLLO</a:t>
            </a:r>
            <a:endParaRPr/>
          </a:p>
        </p:txBody>
      </p:sp>
      <p:sp>
        <p:nvSpPr>
          <p:cNvPr id="189" name="Google Shape;189;g2d624313899_0_71">
            <a:extLst xmlns:a="http://schemas.openxmlformats.org/drawingml/2006/main">
              <a:ext uri="{FF2B5EF4-FFF2-40B4-BE49-F238E27FC236}">
                <a16:creationId xmlns:a16="http://schemas.microsoft.com/office/drawing/2014/main" id="{074D5D96-9665-477D-9182-7E8B8C09930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4150" y="1921750"/>
            <a:ext cx="6018600" cy="101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4140"/>
              <a:buNone/>
            </a:pPr>
            <a:r>
              <a:rPr sz="1564" b="1">
                <a:latin typeface="Cambria"/>
                <a:ea typeface="Cambria"/>
                <a:cs typeface="Cambria"/>
              </a:rPr>
              <a:t>PRUEBAS DEL SERVIDOR Y DEL CONTRATO SOAP</a:t>
            </a:r>
            <a:endParaRPr sz="1670">
              <a:latin typeface="Cambria"/>
              <a:ea typeface="Cambria"/>
              <a:cs typeface="Cambria"/>
            </a:endParaRPr>
          </a:p>
        </p:txBody>
      </p:sp>
      <p:sp>
        <p:nvSpPr>
          <p:cNvPr id="190" name="Google Shape;190;g2d624313899_0_71">
            <a:extLst xmlns:a="http://schemas.openxmlformats.org/drawingml/2006/main">
              <a:ext uri="{FF2B5EF4-FFF2-40B4-BE49-F238E27FC236}">
                <a16:creationId xmlns:a16="http://schemas.microsoft.com/office/drawing/2014/main" id="{3954C951-A101-4E49-9A6C-8CD6EB773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3697" y="0"/>
            <a:ext cx="2808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CREACIÓN DEL SERVIDOR </a:t>
            </a:r>
            <a:r>
              <a:rPr sz="1200" b="1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SOAP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9" name="image10.png">
            <a:extLst xmlns:a="http://schemas.openxmlformats.org/drawingml/2006/main">
              <a:ext uri="{FF2B5EF4-FFF2-40B4-BE49-F238E27FC236}">
                <a16:creationId xmlns:a16="http://schemas.microsoft.com/office/drawing/2014/main" id="{77FD0715-59CA-43DC-9F1C-0959F680177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9f70b94916464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9863" y="2724790"/>
            <a:ext cx="3776665" cy="1345186"/>
          </a:xfrm>
          <a:prstGeom xmlns:a="http://schemas.openxmlformats.org/drawingml/2006/main" prst="rect">
            <a:avLst/>
          </a:prstGeom>
        </p:spPr>
      </p:pic>
      <p:pic>
        <p:nvPicPr>
          <p:cNvPr id="10" name="image19.png">
            <a:extLst xmlns:a="http://schemas.openxmlformats.org/drawingml/2006/main">
              <a:ext uri="{FF2B5EF4-FFF2-40B4-BE49-F238E27FC236}">
                <a16:creationId xmlns:a16="http://schemas.microsoft.com/office/drawing/2014/main" id="{5DC4F75C-BFD8-4335-BCC7-6667F1BAA8E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33fedf90fb4bd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71319" y="1994161"/>
            <a:ext cx="2849245" cy="2075815"/>
          </a:xfrm>
          <a:prstGeom xmlns:a="http://schemas.openxmlformats.org/drawingml/2006/main" prst="rect">
            <a:avLst/>
          </a:prstGeom>
        </p:spPr>
      </p:pic>
      <p:pic>
        <p:nvPicPr>
          <p:cNvPr id="11" name="image25.png">
            <a:extLst xmlns:a="http://schemas.openxmlformats.org/drawingml/2006/main">
              <a:ext uri="{FF2B5EF4-FFF2-40B4-BE49-F238E27FC236}">
                <a16:creationId xmlns:a16="http://schemas.microsoft.com/office/drawing/2014/main" id="{086CB988-7A68-4E38-B5B7-5C2D7BED930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3f254adc7f47a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0934" y="4415104"/>
            <a:ext cx="2630216" cy="2008990"/>
          </a:xfrm>
          <a:prstGeom xmlns:a="http://schemas.openxmlformats.org/drawingml/2006/main" prst="rect">
            <a:avLst/>
          </a:prstGeom>
        </p:spPr>
      </p:pic>
      <p:pic>
        <p:nvPicPr>
          <p:cNvPr id="12" name="image46.png">
            <a:extLst xmlns:a="http://schemas.openxmlformats.org/drawingml/2006/main">
              <a:ext uri="{FF2B5EF4-FFF2-40B4-BE49-F238E27FC236}">
                <a16:creationId xmlns:a16="http://schemas.microsoft.com/office/drawing/2014/main" id="{54F5A73B-60F1-479C-8352-E5ABA24C8A5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cb22cc0dfd426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961150" y="4415104"/>
            <a:ext cx="2761232" cy="2172650"/>
          </a:xfrm>
          <a:prstGeom xmlns:a="http://schemas.openxmlformats.org/drawingml/2006/main" prst="rect">
            <a:avLst/>
          </a:prstGeom>
        </p:spPr>
      </p:pic>
      <p:pic>
        <p:nvPicPr>
          <p:cNvPr id="13" name="image28.png">
            <a:extLst xmlns:a="http://schemas.openxmlformats.org/drawingml/2006/main">
              <a:ext uri="{FF2B5EF4-FFF2-40B4-BE49-F238E27FC236}">
                <a16:creationId xmlns:a16="http://schemas.microsoft.com/office/drawing/2014/main" id="{F7A56368-ED8B-4C16-A801-F6948497E2B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5ce263b4c0416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18100" y="4415104"/>
            <a:ext cx="2808980" cy="2070698"/>
          </a:xfrm>
          <a:prstGeom xmlns:a="http://schemas.openxmlformats.org/drawingml/2006/main" prst="rect">
            <a:avLst/>
          </a:prstGeom>
        </p:spPr>
      </p:pic>
      <p:sp>
        <p:nvSpPr>
          <p:cNvPr id="191" name="Fondo blanco del contenido S8">
            <a:extLst xmlns:a="http://schemas.openxmlformats.org/drawingml/2006/main">
              <a:ext uri="{FF2B5EF4-FFF2-40B4-BE49-F238E27FC236}">
                <a16:creationId xmlns:a16="http://schemas.microsoft.com/office/drawing/2014/main" id="{6C189AB9-C3ED-481D-8602-BADF3F162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3821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2" name="Franja superior azul S8">
            <a:extLst xmlns:a="http://schemas.openxmlformats.org/drawingml/2006/main">
              <a:ext uri="{FF2B5EF4-FFF2-40B4-BE49-F238E27FC236}">
                <a16:creationId xmlns:a16="http://schemas.microsoft.com/office/drawing/2014/main" id="{234A26A1-65D4-4E2F-BE42-E87C4D8F9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09600"/>
            <a:ext cx="894397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2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3" name="Acento superior 1 S8">
            <a:extLst xmlns:a="http://schemas.openxmlformats.org/drawingml/2006/main">
              <a:ext uri="{FF2B5EF4-FFF2-40B4-BE49-F238E27FC236}">
                <a16:creationId xmlns:a16="http://schemas.microsoft.com/office/drawing/2014/main" id="{122B8BB6-54DB-4C20-8DF3-C554F4C94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57200"/>
            <a:ext cx="37052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2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4" name="Acento superior 2 S8">
            <a:extLst xmlns:a="http://schemas.openxmlformats.org/drawingml/2006/main">
              <a:ext uri="{FF2B5EF4-FFF2-40B4-BE49-F238E27FC236}">
                <a16:creationId xmlns:a16="http://schemas.microsoft.com/office/drawing/2014/main" id="{E0A5BABD-E39B-4FCC-B70F-CD38944A0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57200"/>
            <a:ext cx="37052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94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5" name="Acento superior 3 S8">
            <a:extLst xmlns:a="http://schemas.openxmlformats.org/drawingml/2006/main">
              <a:ext uri="{FF2B5EF4-FFF2-40B4-BE49-F238E27FC236}">
                <a16:creationId xmlns:a16="http://schemas.microsoft.com/office/drawing/2014/main" id="{4A5B759C-3307-4C11-B698-AC70362B3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57200"/>
            <a:ext cx="13430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A3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6" name="Título de sección S8">
            <a:extLst xmlns:a="http://schemas.openxmlformats.org/drawingml/2006/main">
              <a:ext uri="{FF2B5EF4-FFF2-40B4-BE49-F238E27FC236}">
                <a16:creationId xmlns:a16="http://schemas.microsoft.com/office/drawing/2014/main" id="{7DD61F77-B9B5-4B81-A85B-686920DB3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19175"/>
            <a:ext cx="828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defPPr>
            <a:lvl1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1pPr>
            <a:lvl2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2pPr>
            <a:lvl3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3pPr>
            <a:lvl4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4pPr>
            <a:lvl5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5pPr>
            <a:lvl6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6pPr>
            <a:lvl7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7pPr>
            <a:lvl8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8pPr>
            <a:lvl9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9pPr>
          </a:lstStyle>
          <a:p xmlns:a="http://schemas.openxmlformats.org/drawingml/2006/main">
            <a: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pPr>
            <a:r>
              <a:rPr sz="2798">
                <a:solidFill>
                  <a:srgbClr val="FFFFFF"/>
                </a:solidFill>
                <a:latin typeface="Gill Sans"/>
                <a:ea typeface="Gill Sans"/>
                <a:cs typeface="Gill Sans"/>
              </a:rPr>
              <a:t>DESARROLLO</a:t>
            </a:r>
          </a:p>
        </p:txBody>
      </p:sp>
      <p:sp>
        <p:nvSpPr>
          <p:cNvPr id="197" name="Título del contenido S8">
            <a:extLst xmlns:a="http://schemas.openxmlformats.org/drawingml/2006/main">
              <a:ext uri="{FF2B5EF4-FFF2-40B4-BE49-F238E27FC236}">
                <a16:creationId xmlns:a16="http://schemas.microsoft.com/office/drawing/2014/main" id="{FAA1CFA9-594F-49A1-A793-542AE19D3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38350"/>
            <a:ext cx="809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950" b="1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Pruebas implementadas</a:t>
            </a:r>
          </a:p>
        </p:txBody>
      </p:sp>
      <p:sp>
        <p:nvSpPr>
          <p:cNvPr id="198" name="Texto del contenido S8">
            <a:extLst xmlns:a="http://schemas.openxmlformats.org/drawingml/2006/main">
              <a:ext uri="{FF2B5EF4-FFF2-40B4-BE49-F238E27FC236}">
                <a16:creationId xmlns:a16="http://schemas.microsoft.com/office/drawing/2014/main" id="{376B1026-352A-4337-992A-FE8EA63AC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19375"/>
            <a:ext cx="37147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575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El repositorio incluye verificaciones de autenticación, catálogo, magnitudes, validaciones, expiración y una prueba de integración SOAP.</a:t>
            </a:r>
          </a:p>
        </p:txBody>
      </p:sp>
      <p:sp>
        <p:nvSpPr>
          <p:cNvPr id="199" name="Marcador imagen S8">
            <a:extLst xmlns:a="http://schemas.openxmlformats.org/drawingml/2006/main">
              <a:ext uri="{FF2B5EF4-FFF2-40B4-BE49-F238E27FC236}">
                <a16:creationId xmlns:a16="http://schemas.microsoft.com/office/drawing/2014/main" id="{47514393-69BD-424D-A1EE-B4C5BE7B7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571750"/>
            <a:ext cx="42862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8"/>
          </a:solidFill>
          <a:ln xmlns:a="http://schemas.openxmlformats.org/drawingml/2006/main" w="14288">
            <a:solidFill>
              <a:srgbClr val="73839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defPPr>
            <a:lvl1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1pPr>
            <a:lvl2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2pPr>
            <a:lvl3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3pPr>
            <a:lvl4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4pPr>
            <a:lvl5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5pPr>
            <a:lvl6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6pPr>
            <a:lvl7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7pPr>
            <a:lvl8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8pPr>
            <a:lvl9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pPr>
            <a:r>
              <a: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rPr>
              <a:t>CAPTURA PENDIENTE</a:t>
            </a:r>
          </a:p>
          <a:p xmlns:a="http://schemas.openxmlformats.org/drawingml/2006/main">
            <a: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pPr>
            <a:r>
              <a: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rPr>
              <a:t>Salida real de PruebaSistemaUnidades y PruebaIntegracionSOAP, sin datos inventados</a:t>
            </a:r>
          </a:p>
        </p:txBody>
      </p:sp>
    </p:spTree>
    <p:extLst>
      <p:ext uri="{BB962C8B-B14F-4D97-AF65-F5344CB8AC3E}">
        <p14:creationId xmlns:p14="http://schemas.microsoft.com/office/powerpoint/2010/main" val="156389074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0" name="Google Shape;220;g2d624313899_0_51">
            <a:extLst xmlns:a="http://schemas.openxmlformats.org/drawingml/2006/main">
              <a:ext uri="{FF2B5EF4-FFF2-40B4-BE49-F238E27FC236}">
                <a16:creationId xmlns:a16="http://schemas.microsoft.com/office/drawing/2014/main" id="{0A2AEAD9-CB91-402C-8650-58B88B3E2E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1192" y="702156"/>
            <a:ext cx="11029500" cy="101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t>DESARROLLO</a:t>
            </a:r>
            <a:endParaRPr/>
          </a:p>
        </p:txBody>
      </p:sp>
      <p:sp>
        <p:nvSpPr>
          <p:cNvPr id="221" name="Google Shape;221;g2d624313899_0_51">
            <a:extLst xmlns:a="http://schemas.openxmlformats.org/drawingml/2006/main">
              <a:ext uri="{FF2B5EF4-FFF2-40B4-BE49-F238E27FC236}">
                <a16:creationId xmlns:a16="http://schemas.microsoft.com/office/drawing/2014/main" id="{03D82EAF-3A36-4C47-9E98-8632677D118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81200" y="1983000"/>
            <a:ext cx="8245500" cy="214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564" b="1">
                <a:latin typeface="Cambria"/>
                <a:ea typeface="Cambria"/>
                <a:cs typeface="Cambria"/>
              </a:rPr>
              <a:t>1.3  CLIENTE DE CONSOLA</a:t>
            </a:r>
            <a:endParaRPr sz="1564" b="1">
              <a:latin typeface="Cambria"/>
              <a:ea typeface="Cambria"/>
              <a:cs typeface="Cambria"/>
            </a:endParaRP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64" b="1">
              <a:latin typeface="Cambria"/>
              <a:ea typeface="Cambria"/>
              <a:cs typeface="Cambria"/>
            </a:endParaRPr>
          </a:p>
          <a:p xmlns:a="http://schemas.openxmlformats.org/drawingml/2006/main">
            <a:pPr marL="457200" lvl="0" indent="-32797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65"/>
              <a:buFont typeface="Cambria"/>
              <a:buChar char="◼"/>
            </a:pPr>
            <a:r>
              <a:rPr sz="1564">
                <a:latin typeface="Cambria"/>
                <a:ea typeface="Cambria"/>
                <a:cs typeface="Cambria"/>
              </a:rPr>
              <a:t>Aplicación Java con Maven. Las clases JAX-WS se generan desde el WSDL local. MainConsola configura el endpoint y conecta la vista de terminal con ControladorConsola, ClienteSoap y RespuestaSoap.</a:t>
            </a:r>
            <a:endParaRPr sz="1564">
              <a:latin typeface="Cambria"/>
              <a:ea typeface="Cambria"/>
              <a:cs typeface="Cambria"/>
            </a:endParaRPr>
          </a:p>
        </p:txBody>
      </p:sp>
      <p:sp>
        <p:nvSpPr>
          <p:cNvPr id="222" name="Google Shape;222;g2d624313899_0_51">
            <a:extLst xmlns:a="http://schemas.openxmlformats.org/drawingml/2006/main">
              <a:ext uri="{FF2B5EF4-FFF2-40B4-BE49-F238E27FC236}">
                <a16:creationId xmlns:a16="http://schemas.microsoft.com/office/drawing/2014/main" id="{E90E64E7-18A9-479A-B45A-B2A907F85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3697" y="0"/>
            <a:ext cx="2808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SERVIDOR </a:t>
            </a:r>
            <a:r>
              <a:rPr sz="1200" b="1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7" name="image8.png">
            <a:extLst xmlns:a="http://schemas.openxmlformats.org/drawingml/2006/main">
              <a:ext uri="{FF2B5EF4-FFF2-40B4-BE49-F238E27FC236}">
                <a16:creationId xmlns:a16="http://schemas.microsoft.com/office/drawing/2014/main" id="{459C0AE0-A9AE-457F-8085-BDB9C697FE0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1d40046bbf4f9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6506" y="3674580"/>
            <a:ext cx="4144010" cy="2828290"/>
          </a:xfrm>
          <a:prstGeom xmlns:a="http://schemas.openxmlformats.org/drawingml/2006/main" prst="rect">
            <a:avLst/>
          </a:prstGeom>
        </p:spPr>
      </p:pic>
      <p:pic>
        <p:nvPicPr>
          <p:cNvPr id="8" name="image22.png">
            <a:extLst xmlns:a="http://schemas.openxmlformats.org/drawingml/2006/main">
              <a:ext uri="{FF2B5EF4-FFF2-40B4-BE49-F238E27FC236}">
                <a16:creationId xmlns:a16="http://schemas.microsoft.com/office/drawing/2014/main" id="{B5150E97-870D-4E3C-8AA5-20ED9BEFBD8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06cb91256949d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40234" y="3657435"/>
            <a:ext cx="4201160" cy="2845435"/>
          </a:xfrm>
          <a:prstGeom xmlns:a="http://schemas.openxmlformats.org/drawingml/2006/main" prst="rect">
            <a:avLst/>
          </a:prstGeom>
        </p:spPr>
      </p:pic>
      <p:sp>
        <p:nvSpPr>
          <p:cNvPr id="223" name="Fondo blanco del contenido S9">
            <a:extLst xmlns:a="http://schemas.openxmlformats.org/drawingml/2006/main">
              <a:ext uri="{FF2B5EF4-FFF2-40B4-BE49-F238E27FC236}">
                <a16:creationId xmlns:a16="http://schemas.microsoft.com/office/drawing/2014/main" id="{4079680B-A80F-4D41-A715-665D10D15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3821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4" name="Franja superior azul S9">
            <a:extLst xmlns:a="http://schemas.openxmlformats.org/drawingml/2006/main">
              <a:ext uri="{FF2B5EF4-FFF2-40B4-BE49-F238E27FC236}">
                <a16:creationId xmlns:a16="http://schemas.microsoft.com/office/drawing/2014/main" id="{785FE3C2-EF9B-4C50-931C-EC43D7B9E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09600"/>
            <a:ext cx="894397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2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5" name="Acento superior 1 S9">
            <a:extLst xmlns:a="http://schemas.openxmlformats.org/drawingml/2006/main">
              <a:ext uri="{FF2B5EF4-FFF2-40B4-BE49-F238E27FC236}">
                <a16:creationId xmlns:a16="http://schemas.microsoft.com/office/drawing/2014/main" id="{0B257B3D-E075-44C7-8EFE-475C68A8F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57200"/>
            <a:ext cx="37052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2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6" name="Acento superior 2 S9">
            <a:extLst xmlns:a="http://schemas.openxmlformats.org/drawingml/2006/main">
              <a:ext uri="{FF2B5EF4-FFF2-40B4-BE49-F238E27FC236}">
                <a16:creationId xmlns:a16="http://schemas.microsoft.com/office/drawing/2014/main" id="{7A905043-0D6C-4530-847B-F59372513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57200"/>
            <a:ext cx="37052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94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7" name="Acento superior 3 S9">
            <a:extLst xmlns:a="http://schemas.openxmlformats.org/drawingml/2006/main">
              <a:ext uri="{FF2B5EF4-FFF2-40B4-BE49-F238E27FC236}">
                <a16:creationId xmlns:a16="http://schemas.microsoft.com/office/drawing/2014/main" id="{6D395600-E786-4486-808E-221CB48D8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57200"/>
            <a:ext cx="13430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A3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8" name="Título de sección S9">
            <a:extLst xmlns:a="http://schemas.openxmlformats.org/drawingml/2006/main">
              <a:ext uri="{FF2B5EF4-FFF2-40B4-BE49-F238E27FC236}">
                <a16:creationId xmlns:a16="http://schemas.microsoft.com/office/drawing/2014/main" id="{DF095B71-FAAC-4B2B-A17A-13FCCB617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19175"/>
            <a:ext cx="828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defPPr>
            <a:lvl1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1pPr>
            <a:lvl2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2pPr>
            <a:lvl3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3pPr>
            <a:lvl4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4pPr>
            <a:lvl5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5pPr>
            <a:lvl6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6pPr>
            <a:lvl7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7pPr>
            <a:lvl8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8pPr>
            <a:lvl9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9pPr>
          </a:lstStyle>
          <a:p xmlns:a="http://schemas.openxmlformats.org/drawingml/2006/main">
            <a: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pPr>
            <a:r>
              <a:rPr sz="2798">
                <a:solidFill>
                  <a:srgbClr val="FFFFFF"/>
                </a:solidFill>
                <a:latin typeface="Gill Sans"/>
                <a:ea typeface="Gill Sans"/>
                <a:cs typeface="Gill Sans"/>
              </a:rPr>
              <a:t>DESARROLLO</a:t>
            </a:r>
          </a:p>
        </p:txBody>
      </p:sp>
      <p:sp>
        <p:nvSpPr>
          <p:cNvPr id="229" name="Título del contenido S9">
            <a:extLst xmlns:a="http://schemas.openxmlformats.org/drawingml/2006/main">
              <a:ext uri="{FF2B5EF4-FFF2-40B4-BE49-F238E27FC236}">
                <a16:creationId xmlns:a16="http://schemas.microsoft.com/office/drawing/2014/main" id="{1551137B-84B0-4119-B4F9-FBFC97883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38350"/>
            <a:ext cx="809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950" b="1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Cliente de consola Java</a:t>
            </a:r>
          </a:p>
        </p:txBody>
      </p:sp>
      <p:sp>
        <p:nvSpPr>
          <p:cNvPr id="230" name="Texto del contenido S9">
            <a:extLst xmlns:a="http://schemas.openxmlformats.org/drawingml/2006/main">
              <a:ext uri="{FF2B5EF4-FFF2-40B4-BE49-F238E27FC236}">
                <a16:creationId xmlns:a16="http://schemas.microsoft.com/office/drawing/2014/main" id="{8DC260B4-94DC-4584-BA3F-D1BED4A91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19375"/>
            <a:ext cx="37147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575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La aplicación Maven genera el proxy JAX-WS desde el WSDL local. MainConsola configura el endpoint y conecta las capas de consola.</a:t>
            </a:r>
          </a:p>
        </p:txBody>
      </p:sp>
      <p:sp>
        <p:nvSpPr>
          <p:cNvPr id="231" name="Marcador imagen S9">
            <a:extLst xmlns:a="http://schemas.openxmlformats.org/drawingml/2006/main">
              <a:ext uri="{FF2B5EF4-FFF2-40B4-BE49-F238E27FC236}">
                <a16:creationId xmlns:a16="http://schemas.microsoft.com/office/drawing/2014/main" id="{8AA0820D-E73B-4020-B703-2E5725647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571750"/>
            <a:ext cx="42862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8"/>
          </a:solidFill>
          <a:ln xmlns:a="http://schemas.openxmlformats.org/drawingml/2006/main" w="14288">
            <a:solidFill>
              <a:srgbClr val="73839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defPPr>
            <a:lvl1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1pPr>
            <a:lvl2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2pPr>
            <a:lvl3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3pPr>
            <a:lvl4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4pPr>
            <a:lvl5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5pPr>
            <a:lvl6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6pPr>
            <a:lvl7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7pPr>
            <a:lvl8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8pPr>
            <a:lvl9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pPr>
            <a:r>
              <a: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rPr>
              <a:t>CAPTURA PENDIENTE</a:t>
            </a:r>
          </a:p>
          <a:p xmlns:a="http://schemas.openxmlformats.org/drawingml/2006/main">
            <a: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pPr>
            <a:r>
              <a: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rPr>
              <a:t>Estructura del cliente de consola en NetBeans y clases del proyecto Maven</a:t>
            </a:r>
          </a:p>
        </p:txBody>
      </p:sp>
    </p:spTree>
    <p:extLst>
      <p:ext uri="{BB962C8B-B14F-4D97-AF65-F5344CB8AC3E}">
        <p14:creationId xmlns:p14="http://schemas.microsoft.com/office/powerpoint/2010/main" val="125868941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8" name="Google Shape;238;g2d624313899_0_95">
            <a:extLst xmlns:a="http://schemas.openxmlformats.org/drawingml/2006/main">
              <a:ext uri="{FF2B5EF4-FFF2-40B4-BE49-F238E27FC236}">
                <a16:creationId xmlns:a16="http://schemas.microsoft.com/office/drawing/2014/main" id="{3DA644E1-4937-4BA5-BBC3-0C4D99ECEF3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1192" y="702156"/>
            <a:ext cx="11029500" cy="101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t>DESARROLLO</a:t>
            </a:r>
            <a:endParaRPr/>
          </a:p>
        </p:txBody>
      </p:sp>
      <p:sp>
        <p:nvSpPr>
          <p:cNvPr id="239" name="Google Shape;239;g2d624313899_0_95">
            <a:extLst xmlns:a="http://schemas.openxmlformats.org/drawingml/2006/main">
              <a:ext uri="{FF2B5EF4-FFF2-40B4-BE49-F238E27FC236}">
                <a16:creationId xmlns:a16="http://schemas.microsoft.com/office/drawing/2014/main" id="{7F732EFD-1A6F-40D5-AE8D-85D4D67ED5F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4824" y="914626"/>
            <a:ext cx="4178100" cy="3707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r>
              <a:rPr sz="1564" b="1">
                <a:latin typeface="Cambria"/>
                <a:ea typeface="Cambria"/>
                <a:cs typeface="Cambria"/>
              </a:rPr>
              <a:t>VISTA Y FLUJO</a:t>
            </a:r>
            <a:endParaRPr sz="1564" b="1">
              <a:latin typeface="Cambria"/>
              <a:ea typeface="Cambria"/>
              <a:cs typeface="Cambria"/>
            </a:endParaRPr>
          </a:p>
          <a:p xmlns:a="http://schemas.openxmlformats.org/drawingml/2006/main">
            <a:pPr marL="129241" lvl="0" indent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65"/>
              <a:buNone/>
            </a:pPr>
            <a:r>
              <a:rPr sz="1564" b="1">
                <a:latin typeface="Cambria"/>
                <a:ea typeface="Cambria"/>
                <a:cs typeface="Cambria"/>
              </a:rPr>
              <a:t/>
            </a:r>
            <a:endParaRPr sz="1670">
              <a:latin typeface="Cambria"/>
              <a:ea typeface="Cambria"/>
              <a:cs typeface="Cambria"/>
            </a:endParaRPr>
          </a:p>
          <a:p xmlns:a="http://schemas.openxmlformats.org/drawingml/2006/main">
            <a:pPr marL="129241" lvl="0" indent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65"/>
              <a:buNone/>
            </a:pPr>
            <a:r>
              <a:rPr sz="1564" b="1">
                <a:latin typeface="Cambria"/>
                <a:ea typeface="Cambria"/>
                <a:cs typeface="Cambria"/>
              </a:rPr>
              <a:t>VistaConsola muestra el menú, solicita credenciales y recoge los datos de conversión. El recorrido permite iniciar sesión, consultar categorías y unidades, convertir y recuperar la clave.</a:t>
            </a:r>
            <a:endParaRPr sz="1670">
              <a:latin typeface="Cambria"/>
              <a:ea typeface="Cambria"/>
              <a:cs typeface="Cambria"/>
            </a:endParaRPr>
          </a:p>
        </p:txBody>
      </p:sp>
      <p:sp>
        <p:nvSpPr>
          <p:cNvPr id="240" name="Google Shape;240;g2d624313899_0_95">
            <a:extLst xmlns:a="http://schemas.openxmlformats.org/drawingml/2006/main">
              <a:ext uri="{FF2B5EF4-FFF2-40B4-BE49-F238E27FC236}">
                <a16:creationId xmlns:a16="http://schemas.microsoft.com/office/drawing/2014/main" id="{2AA3253F-4130-44F7-83CF-A5A252952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3697" y="0"/>
            <a:ext cx="2808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SERVIDOR </a:t>
            </a:r>
            <a:r>
              <a:rPr sz="1200" b="1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1" name="Google Shape;241;g2d624313899_0_95">
            <a:extLst xmlns:a="http://schemas.openxmlformats.org/drawingml/2006/main">
              <a:ext uri="{FF2B5EF4-FFF2-40B4-BE49-F238E27FC236}">
                <a16:creationId xmlns:a16="http://schemas.microsoft.com/office/drawing/2014/main" id="{9007928D-2ED9-4DF5-9186-14EC731DDB96}"/>
              </a:ext>
            </a:extLst>
          </p:cNvPr>
          <p:cNvSpPr>
            <a:spLocks xmlns:a="http://schemas.openxmlformats.org/drawingml/2006/main" noGrp="1"/>
          </p:cNvSpPr>
          <p:nvPr>
            <p:ph type="body" idx="9999"/>
          </p:nvPr>
        </p:nvSpPr>
        <p:spPr>
          <a:xfrm xmlns:a="http://schemas.openxmlformats.org/drawingml/2006/main">
            <a:off x="4759292" y="770066"/>
            <a:ext cx="4178100" cy="3707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r>
              <a:t>CONTROLADOR Y ADAPTADOR SOAP</a:t>
            </a:r>
            <a:endParaRPr sz="1564" b="1">
              <a:latin typeface="Cambria"/>
              <a:ea typeface="Cambria"/>
              <a:cs typeface="Cambria"/>
            </a:endParaRP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99"/>
              <a:buFont typeface="Arial"/>
              <a:buNone/>
            </a:pPr>
            <a:r>
              <a:rPr sz="1564" b="1">
                <a:latin typeface="Cambria"/>
                <a:ea typeface="Cambria"/>
                <a:cs typeface="Cambria"/>
              </a:rPr>
              <a:t/>
            </a:r>
            <a:endParaRPr sz="1564" b="1">
              <a:latin typeface="Cambria"/>
              <a:ea typeface="Cambria"/>
              <a:cs typeface="Cambria"/>
            </a:endParaRP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564" b="1">
                <a:latin typeface="Cambria"/>
                <a:ea typeface="Cambria"/>
                <a:cs typeface="Cambria"/>
              </a:rPr>
              <a:t>ControladorConsola mantiene la sesión y coordina las operaciones. ClienteSoap invoca el puerto JAX-WS y convierte la respuesta del servicio al modelo RespuestaSoap.</a:t>
            </a:r>
          </a:p>
        </p:txBody>
      </p:sp>
      <p:pic>
        <p:nvPicPr>
          <p:cNvPr id="3" name="Imagen 2">
            <a:extLst xmlns:a="http://schemas.openxmlformats.org/drawingml/2006/main">
              <a:ext uri="{FF2B5EF4-FFF2-40B4-BE49-F238E27FC236}">
                <a16:creationId xmlns:a16="http://schemas.microsoft.com/office/drawing/2014/main" id="{1FD03686-C862-4C22-A984-C43EB3C1158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76b049485642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1793" y="4064763"/>
            <a:ext cx="2955257" cy="1850488"/>
          </a:xfrm>
          <a:prstGeom xmlns:a="http://schemas.openxmlformats.org/drawingml/2006/main" prst="rect">
            <a:avLst/>
          </a:prstGeom>
        </p:spPr>
      </p:pic>
      <p:pic>
        <p:nvPicPr>
          <p:cNvPr id="5" name="Imagen 4">
            <a:extLst xmlns:a="http://schemas.openxmlformats.org/drawingml/2006/main">
              <a:ext uri="{FF2B5EF4-FFF2-40B4-BE49-F238E27FC236}">
                <a16:creationId xmlns:a16="http://schemas.microsoft.com/office/drawing/2014/main" id="{08ABC127-DA93-4178-86FF-DDECD771ECC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a5b530b96e48e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00618" y="4064763"/>
            <a:ext cx="5172027" cy="1777483"/>
          </a:xfrm>
          <a:prstGeom xmlns:a="http://schemas.openxmlformats.org/drawingml/2006/main" prst="rect">
            <a:avLst/>
          </a:prstGeom>
        </p:spPr>
      </p:pic>
      <p:sp>
        <p:nvSpPr>
          <p:cNvPr id="242" name="Fondo blanco del contenido S10">
            <a:extLst xmlns:a="http://schemas.openxmlformats.org/drawingml/2006/main">
              <a:ext uri="{FF2B5EF4-FFF2-40B4-BE49-F238E27FC236}">
                <a16:creationId xmlns:a16="http://schemas.microsoft.com/office/drawing/2014/main" id="{59F7E05F-5BD2-4D46-A8CA-24EDF9560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3821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3" name="Franja superior azul S10">
            <a:extLst xmlns:a="http://schemas.openxmlformats.org/drawingml/2006/main">
              <a:ext uri="{FF2B5EF4-FFF2-40B4-BE49-F238E27FC236}">
                <a16:creationId xmlns:a16="http://schemas.microsoft.com/office/drawing/2014/main" id="{E5C3EBB8-BBC7-4565-8DC8-5B0ADF650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09600"/>
            <a:ext cx="894397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2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4" name="Acento superior 1 S10">
            <a:extLst xmlns:a="http://schemas.openxmlformats.org/drawingml/2006/main">
              <a:ext uri="{FF2B5EF4-FFF2-40B4-BE49-F238E27FC236}">
                <a16:creationId xmlns:a16="http://schemas.microsoft.com/office/drawing/2014/main" id="{88377406-CB7B-4E3F-819A-9FA28A58E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57200"/>
            <a:ext cx="37052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2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5" name="Acento superior 2 S10">
            <a:extLst xmlns:a="http://schemas.openxmlformats.org/drawingml/2006/main">
              <a:ext uri="{FF2B5EF4-FFF2-40B4-BE49-F238E27FC236}">
                <a16:creationId xmlns:a16="http://schemas.microsoft.com/office/drawing/2014/main" id="{E330C141-1293-43CC-BF8B-85A0FF97D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57200"/>
            <a:ext cx="37052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94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6" name="Acento superior 3 S10">
            <a:extLst xmlns:a="http://schemas.openxmlformats.org/drawingml/2006/main">
              <a:ext uri="{FF2B5EF4-FFF2-40B4-BE49-F238E27FC236}">
                <a16:creationId xmlns:a16="http://schemas.microsoft.com/office/drawing/2014/main" id="{FC6BB1D6-015C-49AB-88DE-1343AAEA8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57200"/>
            <a:ext cx="13430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A3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7" name="Título de sección S10">
            <a:extLst xmlns:a="http://schemas.openxmlformats.org/drawingml/2006/main">
              <a:ext uri="{FF2B5EF4-FFF2-40B4-BE49-F238E27FC236}">
                <a16:creationId xmlns:a16="http://schemas.microsoft.com/office/drawing/2014/main" id="{3560E954-8C68-4CFE-8D25-179B62C31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19175"/>
            <a:ext cx="828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defPPr>
            <a:lvl1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1pPr>
            <a:lvl2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2pPr>
            <a:lvl3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3pPr>
            <a:lvl4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4pPr>
            <a:lvl5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5pPr>
            <a:lvl6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6pPr>
            <a:lvl7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7pPr>
            <a:lvl8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8pPr>
            <a:lvl9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9pPr>
          </a:lstStyle>
          <a:p xmlns:a="http://schemas.openxmlformats.org/drawingml/2006/main">
            <a: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pPr>
            <a:r>
              <a:rPr sz="2798">
                <a:solidFill>
                  <a:srgbClr val="FFFFFF"/>
                </a:solidFill>
                <a:latin typeface="Gill Sans"/>
                <a:ea typeface="Gill Sans"/>
                <a:cs typeface="Gill Sans"/>
              </a:rPr>
              <a:t>DESARROLLO</a:t>
            </a:r>
          </a:p>
        </p:txBody>
      </p:sp>
      <p:sp>
        <p:nvSpPr>
          <p:cNvPr id="248" name="Título del contenido S10">
            <a:extLst xmlns:a="http://schemas.openxmlformats.org/drawingml/2006/main">
              <a:ext uri="{FF2B5EF4-FFF2-40B4-BE49-F238E27FC236}">
                <a16:creationId xmlns:a16="http://schemas.microsoft.com/office/drawing/2014/main" id="{A15873B9-27B4-446A-9A0E-5441D5DD1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38350"/>
            <a:ext cx="809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950" b="1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Controlador y adaptador SOAP</a:t>
            </a:r>
          </a:p>
        </p:txBody>
      </p:sp>
      <p:sp>
        <p:nvSpPr>
          <p:cNvPr id="249" name="Texto del contenido S10">
            <a:extLst xmlns:a="http://schemas.openxmlformats.org/drawingml/2006/main">
              <a:ext uri="{FF2B5EF4-FFF2-40B4-BE49-F238E27FC236}">
                <a16:creationId xmlns:a16="http://schemas.microsoft.com/office/drawing/2014/main" id="{5ABE798A-5CED-4A16-B959-8C538FBD5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19375"/>
            <a:ext cx="37147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575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ControladorConsola administra el flujo y la sesión. ClienteSoap invoca el puerto JAX-WS y normaliza las respuestas del servidor.</a:t>
            </a:r>
          </a:p>
        </p:txBody>
      </p:sp>
      <p:sp>
        <p:nvSpPr>
          <p:cNvPr id="250" name="Marcador imagen S10">
            <a:extLst xmlns:a="http://schemas.openxmlformats.org/drawingml/2006/main">
              <a:ext uri="{FF2B5EF4-FFF2-40B4-BE49-F238E27FC236}">
                <a16:creationId xmlns:a16="http://schemas.microsoft.com/office/drawing/2014/main" id="{7AFF0BB7-B2D2-4179-A130-3A01BC625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571750"/>
            <a:ext cx="42862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8"/>
          </a:solidFill>
          <a:ln xmlns:a="http://schemas.openxmlformats.org/drawingml/2006/main" w="14288">
            <a:solidFill>
              <a:srgbClr val="73839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defPPr>
            <a:lvl1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1pPr>
            <a:lvl2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2pPr>
            <a:lvl3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3pPr>
            <a:lvl4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4pPr>
            <a:lvl5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5pPr>
            <a:lvl6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6pPr>
            <a:lvl7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7pPr>
            <a:lvl8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8pPr>
            <a:lvl9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pPr>
            <a:r>
              <a: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rPr>
              <a:t>CAPTURA PENDIENTE</a:t>
            </a:r>
          </a:p>
          <a:p xmlns:a="http://schemas.openxmlformats.org/drawingml/2006/main">
            <a: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pPr>
            <a:r>
              <a: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rPr>
              <a:t>ControladorConsola.java y ClienteSoap.java mostrando una llamada al puerto SOAP</a:t>
            </a:r>
          </a:p>
        </p:txBody>
      </p:sp>
    </p:spTree>
    <p:extLst>
      <p:ext uri="{BB962C8B-B14F-4D97-AF65-F5344CB8AC3E}">
        <p14:creationId xmlns:p14="http://schemas.microsoft.com/office/powerpoint/2010/main" val="141525158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8" name="Google Shape;248;g2d624313899_0_111">
            <a:extLst xmlns:a="http://schemas.openxmlformats.org/drawingml/2006/main">
              <a:ext uri="{FF2B5EF4-FFF2-40B4-BE49-F238E27FC236}">
                <a16:creationId xmlns:a16="http://schemas.microsoft.com/office/drawing/2014/main" id="{D9DB38A3-584F-4384-8791-CA4251746AE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1192" y="702156"/>
            <a:ext cx="11029500" cy="101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t>DESARROLLO</a:t>
            </a:r>
            <a:endParaRPr/>
          </a:p>
        </p:txBody>
      </p:sp>
      <p:sp>
        <p:nvSpPr>
          <p:cNvPr id="249" name="Google Shape;249;g2d624313899_0_111">
            <a:extLst xmlns:a="http://schemas.openxmlformats.org/drawingml/2006/main">
              <a:ext uri="{FF2B5EF4-FFF2-40B4-BE49-F238E27FC236}">
                <a16:creationId xmlns:a16="http://schemas.microsoft.com/office/drawing/2014/main" id="{BE68EC00-3B4F-44FA-B8F0-CF6980C8183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78225" y="1986150"/>
            <a:ext cx="4178100" cy="3707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r>
              <a:rPr sz="1564" b="1">
                <a:latin typeface="Cambria"/>
                <a:ea typeface="Cambria"/>
                <a:cs typeface="Cambria"/>
              </a:rPr>
              <a:t>MENÚ DE CONSOLA</a:t>
            </a:r>
            <a:endParaRPr sz="1564" b="1">
              <a:latin typeface="Cambria"/>
              <a:ea typeface="Cambria"/>
              <a:cs typeface="Cambria"/>
            </a:endParaRP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656"/>
              <a:buNone/>
            </a:pPr>
            <a:r>
              <a:rPr sz="1564" b="1">
                <a:latin typeface="Cambria"/>
                <a:ea typeface="Cambria"/>
                <a:cs typeface="Cambria"/>
              </a:rPr>
              <a:t/>
            </a:r>
            <a:endParaRPr sz="1670">
              <a:latin typeface="Cambria"/>
              <a:ea typeface="Cambria"/>
              <a:cs typeface="Cambria"/>
            </a:endParaRP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656"/>
              <a:buNone/>
            </a:pPr>
            <a:r>
              <a:rPr sz="1564" b="1">
                <a:latin typeface="Cambria"/>
                <a:ea typeface="Cambria"/>
                <a:cs typeface="Cambria"/>
              </a:rPr>
              <a:t>La interfaz separa los pasos de conversión: categoría, unidad de origen, unidad de destino y valor. Conserva las selecciones durante el proceso y presenta resultados o errores antes de regresar al menú.</a:t>
            </a:r>
            <a:endParaRPr sz="1670">
              <a:latin typeface="Cambria"/>
              <a:ea typeface="Cambria"/>
              <a:cs typeface="Cambria"/>
            </a:endParaRPr>
          </a:p>
        </p:txBody>
      </p:sp>
      <p:sp>
        <p:nvSpPr>
          <p:cNvPr id="250" name="Google Shape;250;g2d624313899_0_111">
            <a:extLst xmlns:a="http://schemas.openxmlformats.org/drawingml/2006/main">
              <a:ext uri="{FF2B5EF4-FFF2-40B4-BE49-F238E27FC236}">
                <a16:creationId xmlns:a16="http://schemas.microsoft.com/office/drawing/2014/main" id="{445F796F-6704-4F68-81FE-91E97F4D8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3697" y="0"/>
            <a:ext cx="2808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SERVIDOR </a:t>
            </a:r>
            <a:r>
              <a:rPr sz="1200" b="1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3" name="Imagen 2">
            <a:extLst xmlns:a="http://schemas.openxmlformats.org/drawingml/2006/main">
              <a:ext uri="{FF2B5EF4-FFF2-40B4-BE49-F238E27FC236}">
                <a16:creationId xmlns:a16="http://schemas.microsoft.com/office/drawing/2014/main" id="{71F178A6-3E72-4581-8961-0CFFDB874BD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c56587bdc046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61215" y="2617179"/>
            <a:ext cx="4878473" cy="2609244"/>
          </a:xfrm>
          <a:prstGeom xmlns:a="http://schemas.openxmlformats.org/drawingml/2006/main" prst="rect">
            <a:avLst/>
          </a:prstGeom>
        </p:spPr>
      </p:pic>
      <p:sp>
        <p:nvSpPr>
          <p:cNvPr id="251" name="Fondo blanco del contenido S11">
            <a:extLst xmlns:a="http://schemas.openxmlformats.org/drawingml/2006/main">
              <a:ext uri="{FF2B5EF4-FFF2-40B4-BE49-F238E27FC236}">
                <a16:creationId xmlns:a16="http://schemas.microsoft.com/office/drawing/2014/main" id="{066CDABE-8CF3-4605-A94E-7E78BDD59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3821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2" name="Franja superior azul S11">
            <a:extLst xmlns:a="http://schemas.openxmlformats.org/drawingml/2006/main">
              <a:ext uri="{FF2B5EF4-FFF2-40B4-BE49-F238E27FC236}">
                <a16:creationId xmlns:a16="http://schemas.microsoft.com/office/drawing/2014/main" id="{974FAB9E-53A4-4B9E-A479-939F818BC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09600"/>
            <a:ext cx="894397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2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3" name="Acento superior 1 S11">
            <a:extLst xmlns:a="http://schemas.openxmlformats.org/drawingml/2006/main">
              <a:ext uri="{FF2B5EF4-FFF2-40B4-BE49-F238E27FC236}">
                <a16:creationId xmlns:a16="http://schemas.microsoft.com/office/drawing/2014/main" id="{CC73F015-EF3F-4BA1-AE3B-0FDA56150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57200"/>
            <a:ext cx="37052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2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4" name="Acento superior 2 S11">
            <a:extLst xmlns:a="http://schemas.openxmlformats.org/drawingml/2006/main">
              <a:ext uri="{FF2B5EF4-FFF2-40B4-BE49-F238E27FC236}">
                <a16:creationId xmlns:a16="http://schemas.microsoft.com/office/drawing/2014/main" id="{B91C1963-8731-4FDC-83CF-53539BF8C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57200"/>
            <a:ext cx="37052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94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5" name="Acento superior 3 S11">
            <a:extLst xmlns:a="http://schemas.openxmlformats.org/drawingml/2006/main">
              <a:ext uri="{FF2B5EF4-FFF2-40B4-BE49-F238E27FC236}">
                <a16:creationId xmlns:a16="http://schemas.microsoft.com/office/drawing/2014/main" id="{BB60DCBA-068B-4652-901E-FE11DD67C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57200"/>
            <a:ext cx="13430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A3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6" name="Título de sección S11">
            <a:extLst xmlns:a="http://schemas.openxmlformats.org/drawingml/2006/main">
              <a:ext uri="{FF2B5EF4-FFF2-40B4-BE49-F238E27FC236}">
                <a16:creationId xmlns:a16="http://schemas.microsoft.com/office/drawing/2014/main" id="{F0EF4153-B8EC-42AD-B416-5368AD375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19175"/>
            <a:ext cx="828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defPPr>
            <a:lvl1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1pPr>
            <a:lvl2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2pPr>
            <a:lvl3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3pPr>
            <a:lvl4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4pPr>
            <a:lvl5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5pPr>
            <a:lvl6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6pPr>
            <a:lvl7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7pPr>
            <a:lvl8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8pPr>
            <a:lvl9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9pPr>
          </a:lstStyle>
          <a:p xmlns:a="http://schemas.openxmlformats.org/drawingml/2006/main">
            <a: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pPr>
            <a:r>
              <a:rPr sz="2798">
                <a:solidFill>
                  <a:srgbClr val="FFFFFF"/>
                </a:solidFill>
                <a:latin typeface="Gill Sans"/>
                <a:ea typeface="Gill Sans"/>
                <a:cs typeface="Gill Sans"/>
              </a:rPr>
              <a:t>DESARROLLO</a:t>
            </a:r>
          </a:p>
        </p:txBody>
      </p:sp>
      <p:sp>
        <p:nvSpPr>
          <p:cNvPr id="257" name="Título del contenido S11">
            <a:extLst xmlns:a="http://schemas.openxmlformats.org/drawingml/2006/main">
              <a:ext uri="{FF2B5EF4-FFF2-40B4-BE49-F238E27FC236}">
                <a16:creationId xmlns:a16="http://schemas.microsoft.com/office/drawing/2014/main" id="{5C214074-F490-45C3-A226-8079E1A1C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38350"/>
            <a:ext cx="809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950" b="1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Menú y flujo de conversión</a:t>
            </a:r>
          </a:p>
        </p:txBody>
      </p:sp>
      <p:sp>
        <p:nvSpPr>
          <p:cNvPr id="258" name="Texto del contenido S11">
            <a:extLst xmlns:a="http://schemas.openxmlformats.org/drawingml/2006/main">
              <a:ext uri="{FF2B5EF4-FFF2-40B4-BE49-F238E27FC236}">
                <a16:creationId xmlns:a16="http://schemas.microsoft.com/office/drawing/2014/main" id="{62E07DED-4413-4A93-8EB1-CAD6E1002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19375"/>
            <a:ext cx="37147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575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La consola permite acceder, consultar categorías y unidades, convertir y recuperar la clave. El flujo solicita categoría, origen, destino y valor.</a:t>
            </a:r>
          </a:p>
        </p:txBody>
      </p:sp>
      <p:sp>
        <p:nvSpPr>
          <p:cNvPr id="259" name="Marcador imagen S11">
            <a:extLst xmlns:a="http://schemas.openxmlformats.org/drawingml/2006/main">
              <a:ext uri="{FF2B5EF4-FFF2-40B4-BE49-F238E27FC236}">
                <a16:creationId xmlns:a16="http://schemas.microsoft.com/office/drawing/2014/main" id="{2496F275-9C0B-46E9-8A18-317A2EB2E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571750"/>
            <a:ext cx="42862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8"/>
          </a:solidFill>
          <a:ln xmlns:a="http://schemas.openxmlformats.org/drawingml/2006/main" w="14288">
            <a:solidFill>
              <a:srgbClr val="73839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defPPr>
            <a:lvl1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1pPr>
            <a:lvl2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2pPr>
            <a:lvl3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3pPr>
            <a:lvl4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4pPr>
            <a:lvl5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5pPr>
            <a:lvl6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6pPr>
            <a:lvl7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7pPr>
            <a:lvl8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8pPr>
            <a:lvl9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pPr>
            <a:r>
              <a: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rPr>
              <a:t>CAPTURA PENDIENTE</a:t>
            </a:r>
          </a:p>
          <a:p xmlns:a="http://schemas.openxmlformats.org/drawingml/2006/main">
            <a: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pPr>
            <a:r>
              <a: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rPr>
              <a:t>Menú real del cliente de consola con las opciones disponibles</a:t>
            </a:r>
          </a:p>
        </p:txBody>
      </p:sp>
    </p:spTree>
    <p:extLst>
      <p:ext uri="{BB962C8B-B14F-4D97-AF65-F5344CB8AC3E}">
        <p14:creationId xmlns:p14="http://schemas.microsoft.com/office/powerpoint/2010/main" val="1310186657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6" name="Google Shape;256;g2d624313899_0_138">
            <a:extLst xmlns:a="http://schemas.openxmlformats.org/drawingml/2006/main">
              <a:ext uri="{FF2B5EF4-FFF2-40B4-BE49-F238E27FC236}">
                <a16:creationId xmlns:a16="http://schemas.microsoft.com/office/drawing/2014/main" id="{686A4864-8553-4965-A909-E7039796F28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1192" y="702156"/>
            <a:ext cx="11029500" cy="101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t>DESARROLLO</a:t>
            </a:r>
            <a:endParaRPr/>
          </a:p>
        </p:txBody>
      </p:sp>
      <p:sp>
        <p:nvSpPr>
          <p:cNvPr id="257" name="Google Shape;257;g2d624313899_0_138">
            <a:extLst xmlns:a="http://schemas.openxmlformats.org/drawingml/2006/main">
              <a:ext uri="{FF2B5EF4-FFF2-40B4-BE49-F238E27FC236}">
                <a16:creationId xmlns:a16="http://schemas.microsoft.com/office/drawing/2014/main" id="{D2ED52B0-12ED-4F69-8443-75FE9658D96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81200" y="702138"/>
            <a:ext cx="4178100" cy="3707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r>
              <a:rPr sz="1564" b="1">
                <a:latin typeface="Cambria"/>
                <a:ea typeface="Cambria"/>
                <a:cs typeface="Cambria"/>
              </a:rPr>
              <a:t>EJECUCIÓN EN TERMINAL</a:t>
            </a:r>
            <a:endParaRPr sz="1564">
              <a:latin typeface="Cambria"/>
              <a:ea typeface="Cambria"/>
              <a:cs typeface="Cambria"/>
            </a:endParaRP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656"/>
              <a:buNone/>
            </a:pPr>
            <a:r>
              <a:t/>
            </a:r>
            <a:endParaRPr sz="1564" b="1">
              <a:latin typeface="Cambria"/>
              <a:ea typeface="Cambria"/>
              <a:cs typeface="Cambria"/>
            </a:endParaRP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656"/>
              <a:buNone/>
            </a:pPr>
            <a:r>
              <a:t>El cliente se ejecuta después de desplegar el servidor SOAP. Puede usar el endpoint local predeterminado o recibir otra URL como argumento o propiedad JVM.</a:t>
            </a:r>
            <a:endParaRPr sz="1564" b="1">
              <a:latin typeface="Cambria"/>
              <a:ea typeface="Cambria"/>
              <a:cs typeface="Cambria"/>
            </a:endParaRPr>
          </a:p>
        </p:txBody>
      </p:sp>
      <p:sp>
        <p:nvSpPr>
          <p:cNvPr id="258" name="Google Shape;258;g2d624313899_0_138">
            <a:extLst xmlns:a="http://schemas.openxmlformats.org/drawingml/2006/main">
              <a:ext uri="{FF2B5EF4-FFF2-40B4-BE49-F238E27FC236}">
                <a16:creationId xmlns:a16="http://schemas.microsoft.com/office/drawing/2014/main" id="{0B83016B-588B-4396-AB84-57263B6BE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3697" y="0"/>
            <a:ext cx="2808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SERVIDOR </a:t>
            </a:r>
            <a:r>
              <a:rPr sz="1200" b="1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9" name="image16.png">
            <a:extLst xmlns:a="http://schemas.openxmlformats.org/drawingml/2006/main">
              <a:ext uri="{FF2B5EF4-FFF2-40B4-BE49-F238E27FC236}">
                <a16:creationId xmlns:a16="http://schemas.microsoft.com/office/drawing/2014/main" id="{05757D5D-24E6-4F29-AF16-49F71632CE3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b0043819ff420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27647" y="1933668"/>
            <a:ext cx="2868295" cy="803275"/>
          </a:xfrm>
          <a:prstGeom xmlns:a="http://schemas.openxmlformats.org/drawingml/2006/main" prst="rect">
            <a:avLst/>
          </a:prstGeom>
        </p:spPr>
      </p:pic>
      <p:pic>
        <p:nvPicPr>
          <p:cNvPr id="10" name="image33.png">
            <a:extLst xmlns:a="http://schemas.openxmlformats.org/drawingml/2006/main">
              <a:ext uri="{FF2B5EF4-FFF2-40B4-BE49-F238E27FC236}">
                <a16:creationId xmlns:a16="http://schemas.microsoft.com/office/drawing/2014/main" id="{85FCB150-0CFC-4DE5-8A78-1DF5F1D5F99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82e751dd4d44a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1657" y="3004463"/>
            <a:ext cx="2808061" cy="2643675"/>
          </a:xfrm>
          <a:prstGeom xmlns:a="http://schemas.openxmlformats.org/drawingml/2006/main" prst="rect">
            <a:avLst/>
          </a:prstGeom>
        </p:spPr>
      </p:pic>
      <p:pic>
        <p:nvPicPr>
          <p:cNvPr id="11" name="image47.png">
            <a:extLst xmlns:a="http://schemas.openxmlformats.org/drawingml/2006/main">
              <a:ext uri="{FF2B5EF4-FFF2-40B4-BE49-F238E27FC236}">
                <a16:creationId xmlns:a16="http://schemas.microsoft.com/office/drawing/2014/main" id="{D0073B15-04E6-4AF0-AC8F-5AD6E6A01E6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6d478d01b346f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27647" y="3004463"/>
            <a:ext cx="2808301" cy="2643675"/>
          </a:xfrm>
          <a:prstGeom xmlns:a="http://schemas.openxmlformats.org/drawingml/2006/main" prst="rect">
            <a:avLst/>
          </a:prstGeom>
        </p:spPr>
      </p:pic>
      <p:pic>
        <p:nvPicPr>
          <p:cNvPr id="12" name="image15.png">
            <a:extLst xmlns:a="http://schemas.openxmlformats.org/drawingml/2006/main">
              <a:ext uri="{FF2B5EF4-FFF2-40B4-BE49-F238E27FC236}">
                <a16:creationId xmlns:a16="http://schemas.microsoft.com/office/drawing/2014/main" id="{8CF57823-AADA-4D17-8EB8-DC79D581D1F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68496c92f1431d"/>
          <a:srcRect xmlns:a="http://schemas.openxmlformats.org/drawingml/2006/main" l="0" t="0" r="0" b="1768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43877" y="3004463"/>
            <a:ext cx="2928407" cy="2643675"/>
          </a:xfrm>
          <a:prstGeom xmlns:a="http://schemas.openxmlformats.org/drawingml/2006/main" prst="rect">
            <a:avLst/>
          </a:prstGeom>
        </p:spPr>
      </p:pic>
      <p:sp>
        <p:nvSpPr>
          <p:cNvPr id="259" name="Fondo blanco del contenido S12">
            <a:extLst xmlns:a="http://schemas.openxmlformats.org/drawingml/2006/main">
              <a:ext uri="{FF2B5EF4-FFF2-40B4-BE49-F238E27FC236}">
                <a16:creationId xmlns:a16="http://schemas.microsoft.com/office/drawing/2014/main" id="{3D104D45-7366-44DF-9022-29AF31529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3821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0" name="Franja superior azul S12">
            <a:extLst xmlns:a="http://schemas.openxmlformats.org/drawingml/2006/main">
              <a:ext uri="{FF2B5EF4-FFF2-40B4-BE49-F238E27FC236}">
                <a16:creationId xmlns:a16="http://schemas.microsoft.com/office/drawing/2014/main" id="{F5BCED6D-B134-4DBA-A059-5A5F78DBE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09600"/>
            <a:ext cx="894397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2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1" name="Acento superior 1 S12">
            <a:extLst xmlns:a="http://schemas.openxmlformats.org/drawingml/2006/main">
              <a:ext uri="{FF2B5EF4-FFF2-40B4-BE49-F238E27FC236}">
                <a16:creationId xmlns:a16="http://schemas.microsoft.com/office/drawing/2014/main" id="{F4AE9DD6-B951-4FFD-BB57-44902E2AD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57200"/>
            <a:ext cx="37052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2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2" name="Acento superior 2 S12">
            <a:extLst xmlns:a="http://schemas.openxmlformats.org/drawingml/2006/main">
              <a:ext uri="{FF2B5EF4-FFF2-40B4-BE49-F238E27FC236}">
                <a16:creationId xmlns:a16="http://schemas.microsoft.com/office/drawing/2014/main" id="{47F52F99-CD76-4DC2-B233-8F7E9EC58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57200"/>
            <a:ext cx="37052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94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3" name="Acento superior 3 S12">
            <a:extLst xmlns:a="http://schemas.openxmlformats.org/drawingml/2006/main">
              <a:ext uri="{FF2B5EF4-FFF2-40B4-BE49-F238E27FC236}">
                <a16:creationId xmlns:a16="http://schemas.microsoft.com/office/drawing/2014/main" id="{41498AAB-6B01-494A-8968-EC569F14F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57200"/>
            <a:ext cx="13430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A3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4" name="Título de sección S12">
            <a:extLst xmlns:a="http://schemas.openxmlformats.org/drawingml/2006/main">
              <a:ext uri="{FF2B5EF4-FFF2-40B4-BE49-F238E27FC236}">
                <a16:creationId xmlns:a16="http://schemas.microsoft.com/office/drawing/2014/main" id="{2F441F59-F12A-4E27-A9ED-7C13F10B3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19175"/>
            <a:ext cx="828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defPPr>
            <a:lvl1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1pPr>
            <a:lvl2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2pPr>
            <a:lvl3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3pPr>
            <a:lvl4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4pPr>
            <a:lvl5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5pPr>
            <a:lvl6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6pPr>
            <a:lvl7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7pPr>
            <a:lvl8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8pPr>
            <a:lvl9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9pPr>
          </a:lstStyle>
          <a:p xmlns:a="http://schemas.openxmlformats.org/drawingml/2006/main">
            <a: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pPr>
            <a:r>
              <a:rPr sz="2798">
                <a:solidFill>
                  <a:srgbClr val="FFFFFF"/>
                </a:solidFill>
                <a:latin typeface="Gill Sans"/>
                <a:ea typeface="Gill Sans"/>
                <a:cs typeface="Gill Sans"/>
              </a:rPr>
              <a:t>DESARROLLO</a:t>
            </a:r>
          </a:p>
        </p:txBody>
      </p:sp>
      <p:sp>
        <p:nvSpPr>
          <p:cNvPr id="265" name="Título del contenido S12">
            <a:extLst xmlns:a="http://schemas.openxmlformats.org/drawingml/2006/main">
              <a:ext uri="{FF2B5EF4-FFF2-40B4-BE49-F238E27FC236}">
                <a16:creationId xmlns:a16="http://schemas.microsoft.com/office/drawing/2014/main" id="{650D48B8-C274-4DA7-B258-4B2AA4C4E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38350"/>
            <a:ext cx="809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950" b="1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Ejecución en terminal</a:t>
            </a:r>
          </a:p>
        </p:txBody>
      </p:sp>
      <p:sp>
        <p:nvSpPr>
          <p:cNvPr id="266" name="Texto del contenido S12">
            <a:extLst xmlns:a="http://schemas.openxmlformats.org/drawingml/2006/main">
              <a:ext uri="{FF2B5EF4-FFF2-40B4-BE49-F238E27FC236}">
                <a16:creationId xmlns:a16="http://schemas.microsoft.com/office/drawing/2014/main" id="{9350FB0F-0174-4F73-8D00-5CA9DA465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19375"/>
            <a:ext cx="37147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575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El cliente se inicia después de desplegar el servidor. Puede usar el endpoint local o recibir una URL alternativa por argumento.</a:t>
            </a:r>
          </a:p>
        </p:txBody>
      </p:sp>
      <p:sp>
        <p:nvSpPr>
          <p:cNvPr id="267" name="Marcador imagen S12">
            <a:extLst xmlns:a="http://schemas.openxmlformats.org/drawingml/2006/main">
              <a:ext uri="{FF2B5EF4-FFF2-40B4-BE49-F238E27FC236}">
                <a16:creationId xmlns:a16="http://schemas.microsoft.com/office/drawing/2014/main" id="{190DCC71-9DEC-4BA0-920C-D395936EC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571750"/>
            <a:ext cx="42862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8"/>
          </a:solidFill>
          <a:ln xmlns:a="http://schemas.openxmlformats.org/drawingml/2006/main" w="14288">
            <a:solidFill>
              <a:srgbClr val="73839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defPPr>
            <a:lvl1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1pPr>
            <a:lvl2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2pPr>
            <a:lvl3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3pPr>
            <a:lvl4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4pPr>
            <a:lvl5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5pPr>
            <a:lvl6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6pPr>
            <a:lvl7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7pPr>
            <a:lvl8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8pPr>
            <a:lvl9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pPr>
            <a:r>
              <a: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rPr>
              <a:t>CAPTURA PENDIENTE</a:t>
            </a:r>
          </a:p>
          <a:p xmlns:a="http://schemas.openxmlformats.org/drawingml/2006/main">
            <a: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pPr>
            <a:r>
              <a: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rPr>
              <a:t>Ejecución real en terminal con solicitud, respuesta y resultado de conversión</a:t>
            </a:r>
          </a:p>
        </p:txBody>
      </p:sp>
    </p:spTree>
    <p:extLst>
      <p:ext uri="{BB962C8B-B14F-4D97-AF65-F5344CB8AC3E}">
        <p14:creationId xmlns:p14="http://schemas.microsoft.com/office/powerpoint/2010/main" val="949322821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7" name="Google Shape;267;p27">
            <a:extLst xmlns:a="http://schemas.openxmlformats.org/drawingml/2006/main">
              <a:ext uri="{FF2B5EF4-FFF2-40B4-BE49-F238E27FC236}">
                <a16:creationId xmlns:a16="http://schemas.microsoft.com/office/drawing/2014/main" id="{E695D071-AE0C-4E50-A501-C957D231DD7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1192" y="702156"/>
            <a:ext cx="11029500" cy="101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t>DESARROLLO</a:t>
            </a:r>
            <a:endParaRPr/>
          </a:p>
        </p:txBody>
      </p:sp>
      <p:sp>
        <p:nvSpPr>
          <p:cNvPr id="268" name="Google Shape;268;p27">
            <a:extLst xmlns:a="http://schemas.openxmlformats.org/drawingml/2006/main">
              <a:ext uri="{FF2B5EF4-FFF2-40B4-BE49-F238E27FC236}">
                <a16:creationId xmlns:a16="http://schemas.microsoft.com/office/drawing/2014/main" id="{53344BC8-97D0-47FF-9FE0-5E6F53CCB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3697" y="0"/>
            <a:ext cx="2808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SERVIDOR </a:t>
            </a:r>
            <a:r>
              <a:rPr sz="1200" b="1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9" name="Google Shape;269;p27">
            <a:extLst xmlns:a="http://schemas.openxmlformats.org/drawingml/2006/main">
              <a:ext uri="{FF2B5EF4-FFF2-40B4-BE49-F238E27FC236}">
                <a16:creationId xmlns:a16="http://schemas.microsoft.com/office/drawing/2014/main" id="{BAE9F61D-B0F3-408C-9290-0487D011742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81200" y="1902979"/>
            <a:ext cx="8589300" cy="117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 fontScale="91256"/>
          </a:bodyPr>
          <a:lstStyle xmlns:a="http://schemas.openxmlformats.org/drawingml/2006/main"/>
          <a:p xmlns:a="http://schemas.openxmlformats.org/drawingml/2006/main">
            <a:pPr marL="0" marR="0" lvl="0" indent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ct val="118709"/>
              <a:buNone/>
            </a:pPr>
            <a:r>
              <a:rPr b="1">
                <a:latin typeface="Cambria"/>
                <a:ea typeface="Cambria"/>
                <a:cs typeface="Cambria"/>
              </a:rPr>
              <a:t>1.4  CLIENTE DE ESCRITORIO</a:t>
            </a:r>
            <a:endParaRPr b="1"/>
          </a:p>
          <a:p xmlns:a="http://schemas.openxmlformats.org/drawingml/2006/main">
            <a:pPr marL="457200" lvl="0" indent="-317981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ct val="91998"/>
              <a:buChar char="●"/>
            </a:pPr>
            <a:r>
              <a:rPr>
                <a:latin typeface="Cambria"/>
                <a:ea typeface="Cambria"/>
                <a:cs typeface="Cambria"/>
              </a:rPr>
              <a:t/>
            </a:r>
            <a:endParaRPr>
              <a:latin typeface="Cambria"/>
              <a:ea typeface="Cambria"/>
              <a:cs typeface="Cambria"/>
            </a:endParaRPr>
          </a:p>
          <a:p xmlns:a="http://schemas.openxmlformats.org/drawingml/2006/main">
            <a:pPr marL="457200" lvl="0" indent="-317981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ct val="91998"/>
              <a:buChar char="●"/>
            </a:pPr>
            <a:r>
              <a:rPr>
                <a:latin typeface="Cambria"/>
                <a:ea typeface="Cambria"/>
                <a:cs typeface="Cambria"/>
              </a:rPr>
              <a:t>Aplicación Java Swing con Maven y arquitectura MVC. El cliente usa un adaptador SOAP para conectarse a WSConUni y presenta las funciones de acceso y conversión en ventanas.</a:t>
            </a:r>
            <a:endParaRPr>
              <a:latin typeface="Cambria"/>
              <a:ea typeface="Cambria"/>
              <a:cs typeface="Cambria"/>
            </a:endParaRPr>
          </a:p>
        </p:txBody>
      </p:sp>
      <p:pic>
        <p:nvPicPr>
          <p:cNvPr id="6" name="image8.png">
            <a:extLst xmlns:a="http://schemas.openxmlformats.org/drawingml/2006/main">
              <a:ext uri="{FF2B5EF4-FFF2-40B4-BE49-F238E27FC236}">
                <a16:creationId xmlns:a16="http://schemas.microsoft.com/office/drawing/2014/main" id="{506FF19F-E260-482F-97ED-200BFA95700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83cd014c4c4d7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544819" y="3270983"/>
            <a:ext cx="4144010" cy="2828290"/>
          </a:xfrm>
          <a:prstGeom xmlns:a="http://schemas.openxmlformats.org/drawingml/2006/main" prst="rect">
            <a:avLst/>
          </a:prstGeom>
        </p:spPr>
      </p:pic>
      <p:sp>
        <p:nvSpPr>
          <p:cNvPr id="270" name="Fondo blanco del contenido S13">
            <a:extLst xmlns:a="http://schemas.openxmlformats.org/drawingml/2006/main">
              <a:ext uri="{FF2B5EF4-FFF2-40B4-BE49-F238E27FC236}">
                <a16:creationId xmlns:a16="http://schemas.microsoft.com/office/drawing/2014/main" id="{E8353AB1-05D8-4583-8B4F-11E4BF7BC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3821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1" name="Franja superior azul S13">
            <a:extLst xmlns:a="http://schemas.openxmlformats.org/drawingml/2006/main">
              <a:ext uri="{FF2B5EF4-FFF2-40B4-BE49-F238E27FC236}">
                <a16:creationId xmlns:a16="http://schemas.microsoft.com/office/drawing/2014/main" id="{A970F014-3981-4295-AF5C-074DA9FF9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09600"/>
            <a:ext cx="894397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2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2" name="Acento superior 1 S13">
            <a:extLst xmlns:a="http://schemas.openxmlformats.org/drawingml/2006/main">
              <a:ext uri="{FF2B5EF4-FFF2-40B4-BE49-F238E27FC236}">
                <a16:creationId xmlns:a16="http://schemas.microsoft.com/office/drawing/2014/main" id="{6635705F-A4F1-450A-86A1-A8DB12BFB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57200"/>
            <a:ext cx="37052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2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3" name="Acento superior 2 S13">
            <a:extLst xmlns:a="http://schemas.openxmlformats.org/drawingml/2006/main">
              <a:ext uri="{FF2B5EF4-FFF2-40B4-BE49-F238E27FC236}">
                <a16:creationId xmlns:a16="http://schemas.microsoft.com/office/drawing/2014/main" id="{F36396AC-0C73-4B4A-9855-CB53254F2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57200"/>
            <a:ext cx="37052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94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4" name="Acento superior 3 S13">
            <a:extLst xmlns:a="http://schemas.openxmlformats.org/drawingml/2006/main">
              <a:ext uri="{FF2B5EF4-FFF2-40B4-BE49-F238E27FC236}">
                <a16:creationId xmlns:a16="http://schemas.microsoft.com/office/drawing/2014/main" id="{2A6E6A8E-2386-45BD-BDED-6A7C8B6FA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57200"/>
            <a:ext cx="13430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A3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5" name="Título de sección S13">
            <a:extLst xmlns:a="http://schemas.openxmlformats.org/drawingml/2006/main">
              <a:ext uri="{FF2B5EF4-FFF2-40B4-BE49-F238E27FC236}">
                <a16:creationId xmlns:a16="http://schemas.microsoft.com/office/drawing/2014/main" id="{9503FF92-5DF7-4A2B-AD4B-DF57961DC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19175"/>
            <a:ext cx="828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defPPr>
            <a:lvl1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1pPr>
            <a:lvl2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2pPr>
            <a:lvl3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3pPr>
            <a:lvl4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4pPr>
            <a:lvl5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5pPr>
            <a:lvl6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6pPr>
            <a:lvl7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7pPr>
            <a:lvl8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8pPr>
            <a:lvl9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9pPr>
          </a:lstStyle>
          <a:p xmlns:a="http://schemas.openxmlformats.org/drawingml/2006/main">
            <a: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pPr>
            <a:r>
              <a:rPr sz="2798">
                <a:solidFill>
                  <a:srgbClr val="FFFFFF"/>
                </a:solidFill>
                <a:latin typeface="Gill Sans"/>
                <a:ea typeface="Gill Sans"/>
                <a:cs typeface="Gill Sans"/>
              </a:rPr>
              <a:t>DESARROLLO</a:t>
            </a:r>
          </a:p>
        </p:txBody>
      </p:sp>
      <p:sp>
        <p:nvSpPr>
          <p:cNvPr id="276" name="Título del contenido S13">
            <a:extLst xmlns:a="http://schemas.openxmlformats.org/drawingml/2006/main">
              <a:ext uri="{FF2B5EF4-FFF2-40B4-BE49-F238E27FC236}">
                <a16:creationId xmlns:a16="http://schemas.microsoft.com/office/drawing/2014/main" id="{F92D456D-EFE7-4589-A491-8DFDEE97C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38350"/>
            <a:ext cx="809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950" b="1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Cliente de escritorio Swing</a:t>
            </a:r>
          </a:p>
        </p:txBody>
      </p:sp>
      <p:sp>
        <p:nvSpPr>
          <p:cNvPr id="277" name="Texto del contenido S13">
            <a:extLst xmlns:a="http://schemas.openxmlformats.org/drawingml/2006/main">
              <a:ext uri="{FF2B5EF4-FFF2-40B4-BE49-F238E27FC236}">
                <a16:creationId xmlns:a16="http://schemas.microsoft.com/office/drawing/2014/main" id="{C2A0A331-6B4F-4620-91D0-F42258DC3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19375"/>
            <a:ext cx="37147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575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Aplicación Java 21 con Maven. Swing presenta el acceso y las conversiones, y el adaptador SOAP se conecta al mismo WSConUni.</a:t>
            </a:r>
          </a:p>
        </p:txBody>
      </p:sp>
      <p:sp>
        <p:nvSpPr>
          <p:cNvPr id="278" name="Marcador imagen S13">
            <a:extLst xmlns:a="http://schemas.openxmlformats.org/drawingml/2006/main">
              <a:ext uri="{FF2B5EF4-FFF2-40B4-BE49-F238E27FC236}">
                <a16:creationId xmlns:a16="http://schemas.microsoft.com/office/drawing/2014/main" id="{F643F101-2030-43FA-87E1-96D2A9D98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571750"/>
            <a:ext cx="42862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8"/>
          </a:solidFill>
          <a:ln xmlns:a="http://schemas.openxmlformats.org/drawingml/2006/main" w="14288">
            <a:solidFill>
              <a:srgbClr val="73839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defPPr>
            <a:lvl1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1pPr>
            <a:lvl2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2pPr>
            <a:lvl3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3pPr>
            <a:lvl4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4pPr>
            <a:lvl5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5pPr>
            <a:lvl6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6pPr>
            <a:lvl7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7pPr>
            <a:lvl8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8pPr>
            <a:lvl9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pPr>
            <a:r>
              <a: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rPr>
              <a:t>CAPTURA PENDIENTE</a:t>
            </a:r>
          </a:p>
          <a:p xmlns:a="http://schemas.openxmlformats.org/drawingml/2006/main">
            <a: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pPr>
            <a:r>
              <a: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rPr>
              <a:t>Proyecto CLI_ESC_CON_UNI_JAVA_SOAP abierto en NetBeans</a:t>
            </a:r>
          </a:p>
        </p:txBody>
      </p:sp>
    </p:spTree>
    <p:extLst>
      <p:ext uri="{BB962C8B-B14F-4D97-AF65-F5344CB8AC3E}">
        <p14:creationId xmlns:p14="http://schemas.microsoft.com/office/powerpoint/2010/main" val="1190038624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0" name="Google Shape;300;g31974b856cc_0_109">
            <a:extLst xmlns:a="http://schemas.openxmlformats.org/drawingml/2006/main">
              <a:ext uri="{FF2B5EF4-FFF2-40B4-BE49-F238E27FC236}">
                <a16:creationId xmlns:a16="http://schemas.microsoft.com/office/drawing/2014/main" id="{769DB209-03B0-4D51-BC3C-1A440112CDD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1192" y="702156"/>
            <a:ext cx="11029500" cy="101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t>DESARROLLO</a:t>
            </a:r>
            <a:endParaRPr/>
          </a:p>
        </p:txBody>
      </p:sp>
      <p:sp>
        <p:nvSpPr>
          <p:cNvPr id="301" name="Google Shape;301;g31974b856cc_0_109">
            <a:extLst xmlns:a="http://schemas.openxmlformats.org/drawingml/2006/main">
              <a:ext uri="{FF2B5EF4-FFF2-40B4-BE49-F238E27FC236}">
                <a16:creationId xmlns:a16="http://schemas.microsoft.com/office/drawing/2014/main" id="{25A8BC9A-4680-448A-A288-A56B25FD6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3697" y="0"/>
            <a:ext cx="2808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SERVIDOR </a:t>
            </a:r>
            <a:r>
              <a:rPr sz="1200" b="1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2" name="Google Shape;302;g31974b856cc_0_109">
            <a:extLst xmlns:a="http://schemas.openxmlformats.org/drawingml/2006/main">
              <a:ext uri="{FF2B5EF4-FFF2-40B4-BE49-F238E27FC236}">
                <a16:creationId xmlns:a16="http://schemas.microsoft.com/office/drawing/2014/main" id="{43FE9EB5-FCF0-4327-B17B-B192DB17E4F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81200" y="1715856"/>
            <a:ext cx="8589300" cy="132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●"/>
            </a:pPr>
            <a:r>
              <a:rPr>
                <a:latin typeface="Cambria"/>
                <a:ea typeface="Cambria"/>
                <a:cs typeface="Cambria"/>
              </a:rPr>
              <a:t>El cliente separa las ventanas Swing, los controladores y el consumo del servicio SOAP. GestorPantallas coordina la navegación entre acceso y conversiones.</a:t>
            </a:r>
            <a:endParaRPr sz="1800">
              <a:latin typeface="Cambria"/>
              <a:ea typeface="Cambria"/>
              <a:cs typeface="Cambria"/>
            </a:endParaRPr>
          </a:p>
        </p:txBody>
      </p:sp>
      <p:pic>
        <p:nvPicPr>
          <p:cNvPr id="6" name="image14.png">
            <a:extLst xmlns:a="http://schemas.openxmlformats.org/drawingml/2006/main">
              <a:ext uri="{FF2B5EF4-FFF2-40B4-BE49-F238E27FC236}">
                <a16:creationId xmlns:a16="http://schemas.microsoft.com/office/drawing/2014/main" id="{4CF269CE-07BD-46A4-BFB5-4CE9D1019D1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e6a4d4827d449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88311" y="2609850"/>
            <a:ext cx="3019425" cy="1028700"/>
          </a:xfrm>
          <a:prstGeom xmlns:a="http://schemas.openxmlformats.org/drawingml/2006/main" prst="rect">
            <a:avLst/>
          </a:prstGeom>
        </p:spPr>
      </p:pic>
      <p:sp>
        <p:nvSpPr>
          <p:cNvPr id="12" name="CuadroTexto 11">
            <a:extLst xmlns:a="http://schemas.openxmlformats.org/drawingml/2006/main">
              <a:ext uri="{FF2B5EF4-FFF2-40B4-BE49-F238E27FC236}">
                <a16:creationId xmlns:a16="http://schemas.microsoft.com/office/drawing/2014/main" id="{04F47827-A8E1-4FFA-A232-83861B9D7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109" y="3269217"/>
            <a:ext cx="1712150" cy="2499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800" b="0" i="0" u="none" strike="noStrike" cap="none" spc="0" baseline="0">
                <a:ln>
                  <a:noFill/>
                </a:ln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MODELO</a:t>
            </a:r>
          </a:p>
          <a:p xmlns:a="http://schemas.openxmlformats.org/drawingml/2006/main">
            <a:r>
              <a:t>Sesion, OpcionCatalogo y RespuestaSoap contienen el token, las opciones disponibles y los datos normalizados recibidos del servicio.</a:t>
            </a:r>
            <a:endParaRPr/>
          </a:p>
        </p:txBody>
      </p:sp>
      <p:pic>
        <p:nvPicPr>
          <p:cNvPr id="13" name="image3.png">
            <a:extLst xmlns:a="http://schemas.openxmlformats.org/drawingml/2006/main">
              <a:ext uri="{FF2B5EF4-FFF2-40B4-BE49-F238E27FC236}">
                <a16:creationId xmlns:a16="http://schemas.microsoft.com/office/drawing/2014/main" id="{D8335ED8-BD3B-4733-8C37-BB5485C89B0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1fbc060fa3412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11811" y="3836431"/>
            <a:ext cx="2476500" cy="342900"/>
          </a:xfrm>
          <a:prstGeom xmlns:a="http://schemas.openxmlformats.org/drawingml/2006/main" prst="rect">
            <a:avLst/>
          </a:prstGeom>
        </p:spPr>
      </p:pic>
      <p:sp>
        <p:nvSpPr>
          <p:cNvPr id="19" name="CuadroTexto 18">
            <a:extLst xmlns:a="http://schemas.openxmlformats.org/drawingml/2006/main">
              <a:ext uri="{FF2B5EF4-FFF2-40B4-BE49-F238E27FC236}">
                <a16:creationId xmlns:a16="http://schemas.microsoft.com/office/drawing/2014/main" id="{4AE216B3-B851-4BA3-899E-396EB3A18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4191" y="4553152"/>
            <a:ext cx="2633381" cy="228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800" b="0" i="0" u="none" strike="noStrike" cap="none" spc="0" baseline="0">
                <a:ln>
                  <a:noFill/>
                </a:ln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CONTROLADOR</a:t>
            </a:r>
            <a:endParaRPr/>
          </a:p>
          <a:p xmlns:a="http://schemas.openxmlformats.org/drawingml/2006/main">
            <a:r>
              <a:rPr sz="1800" b="0" i="0" u="none" strike="noStrike" cap="none" spc="0" baseline="0">
                <a:ln>
                  <a:noFill/>
                </a:ln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ControladorLogin gestiona el acceso y la recuperación de clave. ControladorConversiones consulta el catálogo y solicita conversiones al servicio SOAP.</a:t>
            </a:r>
            <a:endParaRPr/>
          </a:p>
        </p:txBody>
      </p:sp>
      <p:pic>
        <p:nvPicPr>
          <p:cNvPr id="20" name="image24.png">
            <a:extLst xmlns:a="http://schemas.openxmlformats.org/drawingml/2006/main">
              <a:ext uri="{FF2B5EF4-FFF2-40B4-BE49-F238E27FC236}">
                <a16:creationId xmlns:a16="http://schemas.microsoft.com/office/drawing/2014/main" id="{DDC11E93-3340-40F0-A146-ADE041E398F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171455aed540f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25023" y="3893361"/>
            <a:ext cx="2743200" cy="457200"/>
          </a:xfrm>
          <a:prstGeom xmlns:a="http://schemas.openxmlformats.org/drawingml/2006/main" prst="rect">
            <a:avLst/>
          </a:prstGeom>
        </p:spPr>
      </p:pic>
      <p:pic>
        <p:nvPicPr>
          <p:cNvPr id="14" name="Imagen 13">
            <a:extLst xmlns:a="http://schemas.openxmlformats.org/drawingml/2006/main">
              <a:ext uri="{FF2B5EF4-FFF2-40B4-BE49-F238E27FC236}">
                <a16:creationId xmlns:a16="http://schemas.microsoft.com/office/drawing/2014/main" id="{4608FA25-A40E-490F-92EA-C27D2AB8884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3aa0d4eff14b7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74259" y="4377212"/>
            <a:ext cx="3666875" cy="2355365"/>
          </a:xfrm>
          <a:prstGeom xmlns:a="http://schemas.openxmlformats.org/drawingml/2006/main" prst="rect">
            <a:avLst/>
          </a:prstGeom>
        </p:spPr>
      </p:pic>
      <p:sp>
        <p:nvSpPr>
          <p:cNvPr id="303" name="Fondo blanco del contenido S14">
            <a:extLst xmlns:a="http://schemas.openxmlformats.org/drawingml/2006/main">
              <a:ext uri="{FF2B5EF4-FFF2-40B4-BE49-F238E27FC236}">
                <a16:creationId xmlns:a16="http://schemas.microsoft.com/office/drawing/2014/main" id="{D1BCD550-EE36-4FE6-8D85-C77F0F221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3821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4" name="Franja superior azul S14">
            <a:extLst xmlns:a="http://schemas.openxmlformats.org/drawingml/2006/main">
              <a:ext uri="{FF2B5EF4-FFF2-40B4-BE49-F238E27FC236}">
                <a16:creationId xmlns:a16="http://schemas.microsoft.com/office/drawing/2014/main" id="{64255486-DD3D-461D-9532-2C69C96F5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09600"/>
            <a:ext cx="894397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2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5" name="Acento superior 1 S14">
            <a:extLst xmlns:a="http://schemas.openxmlformats.org/drawingml/2006/main">
              <a:ext uri="{FF2B5EF4-FFF2-40B4-BE49-F238E27FC236}">
                <a16:creationId xmlns:a16="http://schemas.microsoft.com/office/drawing/2014/main" id="{78AAB2DA-9D49-4D5D-8921-3053E9A1F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57200"/>
            <a:ext cx="37052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2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6" name="Acento superior 2 S14">
            <a:extLst xmlns:a="http://schemas.openxmlformats.org/drawingml/2006/main">
              <a:ext uri="{FF2B5EF4-FFF2-40B4-BE49-F238E27FC236}">
                <a16:creationId xmlns:a16="http://schemas.microsoft.com/office/drawing/2014/main" id="{50FD0B7E-9706-4B2F-8CDD-A14AAD296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57200"/>
            <a:ext cx="37052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94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7" name="Acento superior 3 S14">
            <a:extLst xmlns:a="http://schemas.openxmlformats.org/drawingml/2006/main">
              <a:ext uri="{FF2B5EF4-FFF2-40B4-BE49-F238E27FC236}">
                <a16:creationId xmlns:a16="http://schemas.microsoft.com/office/drawing/2014/main" id="{8D5DC68B-4F90-46DC-9A59-4D607096B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57200"/>
            <a:ext cx="13430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A3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8" name="Título de sección S14">
            <a:extLst xmlns:a="http://schemas.openxmlformats.org/drawingml/2006/main">
              <a:ext uri="{FF2B5EF4-FFF2-40B4-BE49-F238E27FC236}">
                <a16:creationId xmlns:a16="http://schemas.microsoft.com/office/drawing/2014/main" id="{915A8A62-07C4-483A-861F-2C911628D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19175"/>
            <a:ext cx="828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defPPr>
            <a:lvl1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1pPr>
            <a:lvl2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2pPr>
            <a:lvl3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3pPr>
            <a:lvl4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4pPr>
            <a:lvl5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5pPr>
            <a:lvl6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6pPr>
            <a:lvl7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7pPr>
            <a:lvl8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8pPr>
            <a:lvl9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9pPr>
          </a:lstStyle>
          <a:p xmlns:a="http://schemas.openxmlformats.org/drawingml/2006/main">
            <a: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pPr>
            <a:r>
              <a:rPr sz="2798">
                <a:solidFill>
                  <a:srgbClr val="FFFFFF"/>
                </a:solidFill>
                <a:latin typeface="Gill Sans"/>
                <a:ea typeface="Gill Sans"/>
                <a:cs typeface="Gill Sans"/>
              </a:rPr>
              <a:t>DESARROLLO</a:t>
            </a:r>
          </a:p>
        </p:txBody>
      </p:sp>
      <p:sp>
        <p:nvSpPr>
          <p:cNvPr id="309" name="Título del contenido S14">
            <a:extLst xmlns:a="http://schemas.openxmlformats.org/drawingml/2006/main">
              <a:ext uri="{FF2B5EF4-FFF2-40B4-BE49-F238E27FC236}">
                <a16:creationId xmlns:a16="http://schemas.microsoft.com/office/drawing/2014/main" id="{8F7BE097-96E0-445C-B49D-27C404C96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38350"/>
            <a:ext cx="809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950" b="1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Organización MVC</a:t>
            </a:r>
          </a:p>
        </p:txBody>
      </p:sp>
      <p:sp>
        <p:nvSpPr>
          <p:cNvPr id="310" name="Texto del contenido S14">
            <a:extLst xmlns:a="http://schemas.openxmlformats.org/drawingml/2006/main">
              <a:ext uri="{FF2B5EF4-FFF2-40B4-BE49-F238E27FC236}">
                <a16:creationId xmlns:a16="http://schemas.microsoft.com/office/drawing/2014/main" id="{C21A0569-FCF6-48F7-AC57-10CBF9E4F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19375"/>
            <a:ext cx="37147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575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El cliente separa modelo, vista, controlador y servicio. GestorPantallas coordina el cambio entre acceso y conversión.</a:t>
            </a:r>
          </a:p>
        </p:txBody>
      </p:sp>
      <p:sp>
        <p:nvSpPr>
          <p:cNvPr id="311" name="Marcador imagen S14">
            <a:extLst xmlns:a="http://schemas.openxmlformats.org/drawingml/2006/main">
              <a:ext uri="{FF2B5EF4-FFF2-40B4-BE49-F238E27FC236}">
                <a16:creationId xmlns:a16="http://schemas.microsoft.com/office/drawing/2014/main" id="{475C7FCB-DB89-45A9-98B6-8D3D22AEC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571750"/>
            <a:ext cx="42862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8"/>
          </a:solidFill>
          <a:ln xmlns:a="http://schemas.openxmlformats.org/drawingml/2006/main" w="14288">
            <a:solidFill>
              <a:srgbClr val="73839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defPPr>
            <a:lvl1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1pPr>
            <a:lvl2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2pPr>
            <a:lvl3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3pPr>
            <a:lvl4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4pPr>
            <a:lvl5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5pPr>
            <a:lvl6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6pPr>
            <a:lvl7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7pPr>
            <a:lvl8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8pPr>
            <a:lvl9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pPr>
            <a:r>
              <a: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rPr>
              <a:t>CAPTURA PENDIENTE</a:t>
            </a:r>
          </a:p>
          <a:p xmlns:a="http://schemas.openxmlformats.org/drawingml/2006/main">
            <a: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pPr>
            <a:r>
              <a: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rPr>
              <a:t>Paquetes MVC del cliente Swing y código del controlador de conversiones</a:t>
            </a:r>
          </a:p>
        </p:txBody>
      </p:sp>
    </p:spTree>
    <p:extLst>
      <p:ext uri="{BB962C8B-B14F-4D97-AF65-F5344CB8AC3E}">
        <p14:creationId xmlns:p14="http://schemas.microsoft.com/office/powerpoint/2010/main" val="1522751560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8" name="Google Shape;308;g31974b856cc_0_128">
            <a:extLst xmlns:a="http://schemas.openxmlformats.org/drawingml/2006/main">
              <a:ext uri="{FF2B5EF4-FFF2-40B4-BE49-F238E27FC236}">
                <a16:creationId xmlns:a16="http://schemas.microsoft.com/office/drawing/2014/main" id="{0ACCF935-2130-4DE2-BE48-C4D1E1740E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1192" y="702156"/>
            <a:ext cx="11029500" cy="101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t>DESARROLLO</a:t>
            </a:r>
            <a:endParaRPr/>
          </a:p>
        </p:txBody>
      </p:sp>
      <p:sp>
        <p:nvSpPr>
          <p:cNvPr id="309" name="Google Shape;309;g31974b856cc_0_128">
            <a:extLst xmlns:a="http://schemas.openxmlformats.org/drawingml/2006/main">
              <a:ext uri="{FF2B5EF4-FFF2-40B4-BE49-F238E27FC236}">
                <a16:creationId xmlns:a16="http://schemas.microsoft.com/office/drawing/2014/main" id="{3F29F400-341E-4014-A454-F03E384CF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3697" y="0"/>
            <a:ext cx="2808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SERVIDOR </a:t>
            </a:r>
            <a:r>
              <a:rPr sz="1200" b="1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0" name="Google Shape;310;g31974b856cc_0_128">
            <a:extLst xmlns:a="http://schemas.openxmlformats.org/drawingml/2006/main">
              <a:ext uri="{FF2B5EF4-FFF2-40B4-BE49-F238E27FC236}">
                <a16:creationId xmlns:a16="http://schemas.microsoft.com/office/drawing/2014/main" id="{A79EAEC3-E8BF-463C-B69A-516968DDB41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81200" y="1715856"/>
            <a:ext cx="8589300" cy="132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●"/>
            </a:pPr>
            <a:r>
              <a:rPr sz="1800">
                <a:latin typeface="Calibri"/>
                <a:ea typeface="Calibri"/>
                <a:cs typeface="Calibri"/>
              </a:rPr>
              <a:t>VISTAS SWING</a:t>
            </a:r>
            <a:endParaRPr sz="1800">
              <a:latin typeface="Cambria"/>
              <a:ea typeface="Cambria"/>
              <a:cs typeface="Cambria"/>
            </a:endParaRPr>
          </a:p>
          <a:p xmlns:a="http://schemas.openxmlformats.org/drawingml/2006/main"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●"/>
            </a:pPr>
            <a:r>
              <a:rPr sz="1800">
                <a:latin typeface="Calibri"/>
                <a:ea typeface="Calibri"/>
                <a:cs typeface="Calibri"/>
              </a:rPr>
              <a:t>LoginFrame presenta el acceso. VentanaConversiones permite elegir magnitud y unidades, ingresar el valor y consultar el resultado.</a:t>
            </a:r>
            <a:endParaRPr sz="1800">
              <a:latin typeface="Cambria"/>
              <a:ea typeface="Cambria"/>
              <a:cs typeface="Cambria"/>
            </a:endParaRPr>
          </a:p>
        </p:txBody>
      </p:sp>
      <p:pic>
        <p:nvPicPr>
          <p:cNvPr id="3" name="Imagen 2">
            <a:extLst xmlns:a="http://schemas.openxmlformats.org/drawingml/2006/main">
              <a:ext uri="{FF2B5EF4-FFF2-40B4-BE49-F238E27FC236}">
                <a16:creationId xmlns:a16="http://schemas.microsoft.com/office/drawing/2014/main" id="{BD2A01FE-E9E9-4DE6-9462-150280A258C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40653fbf1e4ad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9248" y="2831802"/>
            <a:ext cx="8424537" cy="3324041"/>
          </a:xfrm>
          <a:prstGeom xmlns:a="http://schemas.openxmlformats.org/drawingml/2006/main" prst="rect">
            <a:avLst/>
          </a:prstGeom>
        </p:spPr>
      </p:pic>
      <p:sp>
        <p:nvSpPr>
          <p:cNvPr id="311" name="Fondo blanco del contenido S15">
            <a:extLst xmlns:a="http://schemas.openxmlformats.org/drawingml/2006/main">
              <a:ext uri="{FF2B5EF4-FFF2-40B4-BE49-F238E27FC236}">
                <a16:creationId xmlns:a16="http://schemas.microsoft.com/office/drawing/2014/main" id="{F04A68F3-4E69-4A40-98EF-B30C5CBF7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3821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2" name="Franja superior azul S15">
            <a:extLst xmlns:a="http://schemas.openxmlformats.org/drawingml/2006/main">
              <a:ext uri="{FF2B5EF4-FFF2-40B4-BE49-F238E27FC236}">
                <a16:creationId xmlns:a16="http://schemas.microsoft.com/office/drawing/2014/main" id="{980136AD-79F3-4E24-827B-5737D13F7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09600"/>
            <a:ext cx="894397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2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3" name="Acento superior 1 S15">
            <a:extLst xmlns:a="http://schemas.openxmlformats.org/drawingml/2006/main">
              <a:ext uri="{FF2B5EF4-FFF2-40B4-BE49-F238E27FC236}">
                <a16:creationId xmlns:a16="http://schemas.microsoft.com/office/drawing/2014/main" id="{13BC421D-CB11-4855-A166-A195A3484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57200"/>
            <a:ext cx="37052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2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4" name="Acento superior 2 S15">
            <a:extLst xmlns:a="http://schemas.openxmlformats.org/drawingml/2006/main">
              <a:ext uri="{FF2B5EF4-FFF2-40B4-BE49-F238E27FC236}">
                <a16:creationId xmlns:a16="http://schemas.microsoft.com/office/drawing/2014/main" id="{B4F8DD5F-0880-4DD6-8DE5-629EB8235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57200"/>
            <a:ext cx="37052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94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5" name="Acento superior 3 S15">
            <a:extLst xmlns:a="http://schemas.openxmlformats.org/drawingml/2006/main">
              <a:ext uri="{FF2B5EF4-FFF2-40B4-BE49-F238E27FC236}">
                <a16:creationId xmlns:a16="http://schemas.microsoft.com/office/drawing/2014/main" id="{26889F1F-1C97-4D89-B374-7460DCEFA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57200"/>
            <a:ext cx="13430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A3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6" name="Título de sección S15">
            <a:extLst xmlns:a="http://schemas.openxmlformats.org/drawingml/2006/main">
              <a:ext uri="{FF2B5EF4-FFF2-40B4-BE49-F238E27FC236}">
                <a16:creationId xmlns:a16="http://schemas.microsoft.com/office/drawing/2014/main" id="{8F95D69A-EC92-470D-8CD9-D68C4EB53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19175"/>
            <a:ext cx="828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defPPr>
            <a:lvl1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1pPr>
            <a:lvl2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2pPr>
            <a:lvl3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3pPr>
            <a:lvl4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4pPr>
            <a:lvl5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5pPr>
            <a:lvl6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6pPr>
            <a:lvl7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7pPr>
            <a:lvl8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8pPr>
            <a:lvl9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9pPr>
          </a:lstStyle>
          <a:p xmlns:a="http://schemas.openxmlformats.org/drawingml/2006/main">
            <a: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pPr>
            <a:r>
              <a:rPr sz="2798">
                <a:solidFill>
                  <a:srgbClr val="FFFFFF"/>
                </a:solidFill>
                <a:latin typeface="Gill Sans"/>
                <a:ea typeface="Gill Sans"/>
                <a:cs typeface="Gill Sans"/>
              </a:rPr>
              <a:t>DESARROLLO</a:t>
            </a:r>
          </a:p>
        </p:txBody>
      </p:sp>
      <p:sp>
        <p:nvSpPr>
          <p:cNvPr id="317" name="Título del contenido S15">
            <a:extLst xmlns:a="http://schemas.openxmlformats.org/drawingml/2006/main">
              <a:ext uri="{FF2B5EF4-FFF2-40B4-BE49-F238E27FC236}">
                <a16:creationId xmlns:a16="http://schemas.microsoft.com/office/drawing/2014/main" id="{BD50981D-FA04-4895-B0C1-7214CDC4F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38350"/>
            <a:ext cx="809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950" b="1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Vistas Swing</a:t>
            </a:r>
          </a:p>
        </p:txBody>
      </p:sp>
      <p:sp>
        <p:nvSpPr>
          <p:cNvPr id="318" name="Texto del contenido S15">
            <a:extLst xmlns:a="http://schemas.openxmlformats.org/drawingml/2006/main">
              <a:ext uri="{FF2B5EF4-FFF2-40B4-BE49-F238E27FC236}">
                <a16:creationId xmlns:a16="http://schemas.microsoft.com/office/drawing/2014/main" id="{E2C221B4-CA45-47E1-A4B0-E708A2D4F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19375"/>
            <a:ext cx="37147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575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LoginFrame gestiona el acceso y VentanaConversiones presenta el catálogo y los campos de conversión.</a:t>
            </a:r>
          </a:p>
        </p:txBody>
      </p:sp>
      <p:sp>
        <p:nvSpPr>
          <p:cNvPr id="319" name="Marcador imagen S15">
            <a:extLst xmlns:a="http://schemas.openxmlformats.org/drawingml/2006/main">
              <a:ext uri="{FF2B5EF4-FFF2-40B4-BE49-F238E27FC236}">
                <a16:creationId xmlns:a16="http://schemas.microsoft.com/office/drawing/2014/main" id="{DC3F5836-4DEA-466B-BDE7-17BC6C755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571750"/>
            <a:ext cx="42862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8"/>
          </a:solidFill>
          <a:ln xmlns:a="http://schemas.openxmlformats.org/drawingml/2006/main" w="14288">
            <a:solidFill>
              <a:srgbClr val="73839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defPPr>
            <a:lvl1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1pPr>
            <a:lvl2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2pPr>
            <a:lvl3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3pPr>
            <a:lvl4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4pPr>
            <a:lvl5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5pPr>
            <a:lvl6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6pPr>
            <a:lvl7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7pPr>
            <a:lvl8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8pPr>
            <a:lvl9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pPr>
            <a:r>
              <a: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rPr>
              <a:t>CAPTURA PENDIENTE</a:t>
            </a:r>
          </a:p>
          <a:p xmlns:a="http://schemas.openxmlformats.org/drawingml/2006/main">
            <a: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pPr>
            <a:r>
              <a: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rPr>
              <a:t>LoginFrame y VentanaConversiones del cliente de escritorio</a:t>
            </a:r>
          </a:p>
        </p:txBody>
      </p:sp>
    </p:spTree>
    <p:extLst>
      <p:ext uri="{BB962C8B-B14F-4D97-AF65-F5344CB8AC3E}">
        <p14:creationId xmlns:p14="http://schemas.microsoft.com/office/powerpoint/2010/main" val="1991261140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6" name="Google Shape;316;g31974b856cc_0_137">
            <a:extLst xmlns:a="http://schemas.openxmlformats.org/drawingml/2006/main">
              <a:ext uri="{FF2B5EF4-FFF2-40B4-BE49-F238E27FC236}">
                <a16:creationId xmlns:a16="http://schemas.microsoft.com/office/drawing/2014/main" id="{EAC5F1D1-FBF7-42A9-B653-A95334B3684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1192" y="702156"/>
            <a:ext cx="11029500" cy="101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t>DESARROLLO</a:t>
            </a:r>
            <a:endParaRPr/>
          </a:p>
        </p:txBody>
      </p:sp>
      <p:sp>
        <p:nvSpPr>
          <p:cNvPr id="317" name="Google Shape;317;g31974b856cc_0_137">
            <a:extLst xmlns:a="http://schemas.openxmlformats.org/drawingml/2006/main">
              <a:ext uri="{FF2B5EF4-FFF2-40B4-BE49-F238E27FC236}">
                <a16:creationId xmlns:a16="http://schemas.microsoft.com/office/drawing/2014/main" id="{BF55C9AB-CA58-495D-A485-6A6E29EF5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3697" y="0"/>
            <a:ext cx="2808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SERVIDOR </a:t>
            </a:r>
            <a:r>
              <a:rPr sz="1200" b="1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8" name="Google Shape;318;g31974b856cc_0_137">
            <a:extLst xmlns:a="http://schemas.openxmlformats.org/drawingml/2006/main">
              <a:ext uri="{FF2B5EF4-FFF2-40B4-BE49-F238E27FC236}">
                <a16:creationId xmlns:a16="http://schemas.microsoft.com/office/drawing/2014/main" id="{6735E428-6626-4071-8066-22F71CEA1E2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326975" y="2523925"/>
            <a:ext cx="2808300" cy="36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457200" lvl="0" indent="-333756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Char char="●"/>
            </a:pPr>
            <a:r>
              <a:rPr>
                <a:latin typeface="Cambria"/>
                <a:ea typeface="Cambria"/>
                <a:cs typeface="Cambria"/>
              </a:rPr>
              <a:t>INICIO DE SESIÓN</a:t>
            </a:r>
          </a:p>
          <a:p xmlns:a="http://schemas.openxmlformats.org/drawingml/2006/main">
            <a:pPr marL="457200" lvl="0" indent="-333756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Char char="●"/>
            </a:pPr>
            <a:r>
              <a:rPr>
                <a:latin typeface="Cambria"/>
                <a:ea typeface="Cambria"/>
                <a:cs typeface="Cambria"/>
              </a:rPr>
              <a:t/>
            </a:r>
            <a:endParaRPr>
              <a:latin typeface="Cambria"/>
              <a:ea typeface="Cambria"/>
              <a:cs typeface="Cambria"/>
            </a:endParaRPr>
          </a:p>
          <a:p xmlns:a="http://schemas.openxmlformats.org/drawingml/2006/main">
            <a:pPr marL="457200" lvl="0" indent="-333756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Char char="●"/>
            </a:pPr>
            <a:r>
              <a:rPr>
                <a:latin typeface="Cambria"/>
                <a:ea typeface="Cambria"/>
                <a:cs typeface="Cambria"/>
              </a:rPr>
              <a:t>El usuario ingresa sus credenciales en LoginFrame. ControladorLogin solicita la autenticación al servicio y, si la respuesta es correcta, abre la ventana de conversiones.</a:t>
            </a:r>
            <a:endParaRPr>
              <a:latin typeface="Cambria"/>
              <a:ea typeface="Cambria"/>
              <a:cs typeface="Cambria"/>
            </a:endParaRPr>
          </a:p>
        </p:txBody>
      </p:sp>
      <p:pic>
        <p:nvPicPr>
          <p:cNvPr id="6" name="image9.png">
            <a:extLst xmlns:a="http://schemas.openxmlformats.org/drawingml/2006/main">
              <a:ext uri="{FF2B5EF4-FFF2-40B4-BE49-F238E27FC236}">
                <a16:creationId xmlns:a16="http://schemas.microsoft.com/office/drawing/2014/main" id="{EFACCF72-C307-4575-A5DA-3377BEC5E56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bed6981cbd409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1192" y="2329030"/>
            <a:ext cx="5218973" cy="3336664"/>
          </a:xfrm>
          <a:prstGeom xmlns:a="http://schemas.openxmlformats.org/drawingml/2006/main" prst="rect">
            <a:avLst/>
          </a:prstGeom>
        </p:spPr>
      </p:pic>
      <p:sp>
        <p:nvSpPr>
          <p:cNvPr id="319" name="Fondo blanco del contenido S16">
            <a:extLst xmlns:a="http://schemas.openxmlformats.org/drawingml/2006/main">
              <a:ext uri="{FF2B5EF4-FFF2-40B4-BE49-F238E27FC236}">
                <a16:creationId xmlns:a16="http://schemas.microsoft.com/office/drawing/2014/main" id="{8338C50B-BE0E-4BA7-9248-3D9A192A0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3821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0" name="Franja superior azul S16">
            <a:extLst xmlns:a="http://schemas.openxmlformats.org/drawingml/2006/main">
              <a:ext uri="{FF2B5EF4-FFF2-40B4-BE49-F238E27FC236}">
                <a16:creationId xmlns:a16="http://schemas.microsoft.com/office/drawing/2014/main" id="{1A4C9852-99B3-4180-8148-40E5D8F06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09600"/>
            <a:ext cx="894397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2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1" name="Acento superior 1 S16">
            <a:extLst xmlns:a="http://schemas.openxmlformats.org/drawingml/2006/main">
              <a:ext uri="{FF2B5EF4-FFF2-40B4-BE49-F238E27FC236}">
                <a16:creationId xmlns:a16="http://schemas.microsoft.com/office/drawing/2014/main" id="{F5209612-E722-4C8B-A448-7F156DA11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57200"/>
            <a:ext cx="37052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2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2" name="Acento superior 2 S16">
            <a:extLst xmlns:a="http://schemas.openxmlformats.org/drawingml/2006/main">
              <a:ext uri="{FF2B5EF4-FFF2-40B4-BE49-F238E27FC236}">
                <a16:creationId xmlns:a16="http://schemas.microsoft.com/office/drawing/2014/main" id="{94E7AC07-DD2A-4562-AFB7-9031CE72A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57200"/>
            <a:ext cx="37052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94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3" name="Acento superior 3 S16">
            <a:extLst xmlns:a="http://schemas.openxmlformats.org/drawingml/2006/main">
              <a:ext uri="{FF2B5EF4-FFF2-40B4-BE49-F238E27FC236}">
                <a16:creationId xmlns:a16="http://schemas.microsoft.com/office/drawing/2014/main" id="{9117CE3F-8EB5-4B2C-ADC6-C22EB1F0B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57200"/>
            <a:ext cx="13430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A3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4" name="Título de sección S16">
            <a:extLst xmlns:a="http://schemas.openxmlformats.org/drawingml/2006/main">
              <a:ext uri="{FF2B5EF4-FFF2-40B4-BE49-F238E27FC236}">
                <a16:creationId xmlns:a16="http://schemas.microsoft.com/office/drawing/2014/main" id="{6A1086BD-8520-45A9-A9F1-FC310CB4D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19175"/>
            <a:ext cx="828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defPPr>
            <a:lvl1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1pPr>
            <a:lvl2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2pPr>
            <a:lvl3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3pPr>
            <a:lvl4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4pPr>
            <a:lvl5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5pPr>
            <a:lvl6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6pPr>
            <a:lvl7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7pPr>
            <a:lvl8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8pPr>
            <a:lvl9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9pPr>
          </a:lstStyle>
          <a:p xmlns:a="http://schemas.openxmlformats.org/drawingml/2006/main">
            <a: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pPr>
            <a:r>
              <a:rPr sz="2798">
                <a:solidFill>
                  <a:srgbClr val="FFFFFF"/>
                </a:solidFill>
                <a:latin typeface="Gill Sans"/>
                <a:ea typeface="Gill Sans"/>
                <a:cs typeface="Gill Sans"/>
              </a:rPr>
              <a:t>DESARROLLO</a:t>
            </a:r>
          </a:p>
        </p:txBody>
      </p:sp>
      <p:sp>
        <p:nvSpPr>
          <p:cNvPr id="325" name="Título del contenido S16">
            <a:extLst xmlns:a="http://schemas.openxmlformats.org/drawingml/2006/main">
              <a:ext uri="{FF2B5EF4-FFF2-40B4-BE49-F238E27FC236}">
                <a16:creationId xmlns:a16="http://schemas.microsoft.com/office/drawing/2014/main" id="{F6825046-BB20-40C0-A247-14041F3D2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38350"/>
            <a:ext cx="809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950" b="1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Inicio de sesión</a:t>
            </a:r>
          </a:p>
        </p:txBody>
      </p:sp>
      <p:sp>
        <p:nvSpPr>
          <p:cNvPr id="326" name="Texto del contenido S16">
            <a:extLst xmlns:a="http://schemas.openxmlformats.org/drawingml/2006/main">
              <a:ext uri="{FF2B5EF4-FFF2-40B4-BE49-F238E27FC236}">
                <a16:creationId xmlns:a16="http://schemas.microsoft.com/office/drawing/2014/main" id="{FEB89C35-91CB-4EED-9598-4895667BA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19375"/>
            <a:ext cx="37147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575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ControladorLogin envía las credenciales al servidor. Si la respuesta es correcta, abre la ventana de conversiones.</a:t>
            </a:r>
          </a:p>
        </p:txBody>
      </p:sp>
      <p:sp>
        <p:nvSpPr>
          <p:cNvPr id="327" name="Marcador imagen S16">
            <a:extLst xmlns:a="http://schemas.openxmlformats.org/drawingml/2006/main">
              <a:ext uri="{FF2B5EF4-FFF2-40B4-BE49-F238E27FC236}">
                <a16:creationId xmlns:a16="http://schemas.microsoft.com/office/drawing/2014/main" id="{4C8F8D7E-CEA3-4C05-9723-79296051C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571750"/>
            <a:ext cx="42862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8"/>
          </a:solidFill>
          <a:ln xmlns:a="http://schemas.openxmlformats.org/drawingml/2006/main" w="14288">
            <a:solidFill>
              <a:srgbClr val="73839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defPPr>
            <a:lvl1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1pPr>
            <a:lvl2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2pPr>
            <a:lvl3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3pPr>
            <a:lvl4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4pPr>
            <a:lvl5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5pPr>
            <a:lvl6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6pPr>
            <a:lvl7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7pPr>
            <a:lvl8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8pPr>
            <a:lvl9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pPr>
            <a:r>
              <a: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rPr>
              <a:t>CAPTURA PENDIENTE</a:t>
            </a:r>
          </a:p>
          <a:p xmlns:a="http://schemas.openxmlformats.org/drawingml/2006/main">
            <a: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pPr>
            <a:r>
              <a: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rPr>
              <a:t>Captura del inicio de sesión Swing con usuario y clave ocultos</a:t>
            </a:r>
          </a:p>
        </p:txBody>
      </p:sp>
    </p:spTree>
    <p:extLst>
      <p:ext uri="{BB962C8B-B14F-4D97-AF65-F5344CB8AC3E}">
        <p14:creationId xmlns:p14="http://schemas.microsoft.com/office/powerpoint/2010/main" val="416125545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4" name="Google Shape;334;g2d6d00c5bd2_2_19">
            <a:extLst xmlns:a="http://schemas.openxmlformats.org/drawingml/2006/main">
              <a:ext uri="{FF2B5EF4-FFF2-40B4-BE49-F238E27FC236}">
                <a16:creationId xmlns:a16="http://schemas.microsoft.com/office/drawing/2014/main" id="{B10C95D3-A278-4FC5-9730-4BB08117E1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1192" y="702156"/>
            <a:ext cx="11029500" cy="101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t>DESARROLLO</a:t>
            </a:r>
            <a:endParaRPr/>
          </a:p>
        </p:txBody>
      </p:sp>
      <p:sp>
        <p:nvSpPr>
          <p:cNvPr id="335" name="Google Shape;335;g2d6d00c5bd2_2_19">
            <a:extLst xmlns:a="http://schemas.openxmlformats.org/drawingml/2006/main">
              <a:ext uri="{FF2B5EF4-FFF2-40B4-BE49-F238E27FC236}">
                <a16:creationId xmlns:a16="http://schemas.microsoft.com/office/drawing/2014/main" id="{6203560E-8377-4D46-ADDB-786D0DF21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3697" y="0"/>
            <a:ext cx="2808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SERVIDOR </a:t>
            </a:r>
            <a:r>
              <a:rPr sz="1200" b="1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6" name="Google Shape;336;g2d6d00c5bd2_2_19">
            <a:extLst xmlns:a="http://schemas.openxmlformats.org/drawingml/2006/main">
              <a:ext uri="{FF2B5EF4-FFF2-40B4-BE49-F238E27FC236}">
                <a16:creationId xmlns:a16="http://schemas.microsoft.com/office/drawing/2014/main" id="{634ADEBE-82B9-45A7-9268-C8F946CA726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91950" y="2411875"/>
            <a:ext cx="3228900" cy="36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457200" lvl="0" indent="-333756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Char char="●"/>
            </a:pPr>
            <a:r>
              <a:rPr>
                <a:latin typeface="Cambria"/>
                <a:ea typeface="Cambria"/>
                <a:cs typeface="Cambria"/>
              </a:rPr>
              <a:t>CONVERSIÓN DE UNIDADES</a:t>
            </a:r>
            <a:endParaRPr>
              <a:latin typeface="Cambria"/>
              <a:ea typeface="Cambria"/>
              <a:cs typeface="Cambria"/>
            </a:endParaRPr>
          </a:p>
          <a:p xmlns:a="http://schemas.openxmlformats.org/drawingml/2006/main">
            <a:pPr marL="457200" lvl="0" indent="-333756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Char char="●"/>
            </a:pPr>
            <a:r>
              <a:rPr>
                <a:latin typeface="Cambria"/>
                <a:ea typeface="Cambria"/>
                <a:cs typeface="Cambria"/>
              </a:rPr>
              <a:t/>
            </a:r>
            <a:endParaRPr>
              <a:latin typeface="Cambria"/>
              <a:ea typeface="Cambria"/>
              <a:cs typeface="Cambria"/>
            </a:endParaRPr>
          </a:p>
          <a:p xmlns:a="http://schemas.openxmlformats.org/drawingml/2006/main">
            <a:pPr marL="457200" lvl="0" indent="-333756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Char char="●"/>
            </a:pPr>
            <a:r>
              <a:rPr>
                <a:latin typeface="Cambria"/>
                <a:ea typeface="Cambria"/>
                <a:cs typeface="Cambria"/>
              </a:rPr>
              <a:t>VentanaConversiones carga las categorías y unidades desde WSConUni. El controlador envía los datos al servidor y presenta el resultado o el mensaje de error.</a:t>
            </a:r>
            <a:endParaRPr>
              <a:latin typeface="Cambria"/>
              <a:ea typeface="Cambria"/>
              <a:cs typeface="Cambria"/>
            </a:endParaRPr>
          </a:p>
        </p:txBody>
      </p:sp>
      <p:pic>
        <p:nvPicPr>
          <p:cNvPr id="6" name="image2.png">
            <a:extLst xmlns:a="http://schemas.openxmlformats.org/drawingml/2006/main">
              <a:ext uri="{FF2B5EF4-FFF2-40B4-BE49-F238E27FC236}">
                <a16:creationId xmlns:a16="http://schemas.microsoft.com/office/drawing/2014/main" id="{014A8DF9-8150-4B73-8DF0-B5C7EA0B9FC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09a739923749c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31103" y="2513572"/>
            <a:ext cx="3898097" cy="3116263"/>
          </a:xfrm>
          <a:prstGeom xmlns:a="http://schemas.openxmlformats.org/drawingml/2006/main" prst="rect">
            <a:avLst/>
          </a:prstGeom>
        </p:spPr>
      </p:pic>
      <p:sp>
        <p:nvSpPr>
          <p:cNvPr id="337" name="Fondo blanco del contenido S17">
            <a:extLst xmlns:a="http://schemas.openxmlformats.org/drawingml/2006/main">
              <a:ext uri="{FF2B5EF4-FFF2-40B4-BE49-F238E27FC236}">
                <a16:creationId xmlns:a16="http://schemas.microsoft.com/office/drawing/2014/main" id="{FC2F99F1-DAF3-45A5-888E-CBC67A32B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3821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8" name="Franja superior azul S17">
            <a:extLst xmlns:a="http://schemas.openxmlformats.org/drawingml/2006/main">
              <a:ext uri="{FF2B5EF4-FFF2-40B4-BE49-F238E27FC236}">
                <a16:creationId xmlns:a16="http://schemas.microsoft.com/office/drawing/2014/main" id="{FD6EDABC-5414-43E0-8E84-988E8AE96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09600"/>
            <a:ext cx="894397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2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9" name="Acento superior 1 S17">
            <a:extLst xmlns:a="http://schemas.openxmlformats.org/drawingml/2006/main">
              <a:ext uri="{FF2B5EF4-FFF2-40B4-BE49-F238E27FC236}">
                <a16:creationId xmlns:a16="http://schemas.microsoft.com/office/drawing/2014/main" id="{2821470C-6E93-456E-86E2-E8D55F140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57200"/>
            <a:ext cx="37052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2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0" name="Acento superior 2 S17">
            <a:extLst xmlns:a="http://schemas.openxmlformats.org/drawingml/2006/main">
              <a:ext uri="{FF2B5EF4-FFF2-40B4-BE49-F238E27FC236}">
                <a16:creationId xmlns:a16="http://schemas.microsoft.com/office/drawing/2014/main" id="{DB52359D-1E06-49F6-9AFE-DC1B022BF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57200"/>
            <a:ext cx="37052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94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1" name="Acento superior 3 S17">
            <a:extLst xmlns:a="http://schemas.openxmlformats.org/drawingml/2006/main">
              <a:ext uri="{FF2B5EF4-FFF2-40B4-BE49-F238E27FC236}">
                <a16:creationId xmlns:a16="http://schemas.microsoft.com/office/drawing/2014/main" id="{7356BA75-E89B-4C22-B8C6-0B4306D21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57200"/>
            <a:ext cx="13430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A3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2" name="Título de sección S17">
            <a:extLst xmlns:a="http://schemas.openxmlformats.org/drawingml/2006/main">
              <a:ext uri="{FF2B5EF4-FFF2-40B4-BE49-F238E27FC236}">
                <a16:creationId xmlns:a16="http://schemas.microsoft.com/office/drawing/2014/main" id="{01EBA485-5451-4CF6-BCA5-7E97F1FBC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19175"/>
            <a:ext cx="828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defPPr>
            <a:lvl1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1pPr>
            <a:lvl2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2pPr>
            <a:lvl3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3pPr>
            <a:lvl4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4pPr>
            <a:lvl5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5pPr>
            <a:lvl6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6pPr>
            <a:lvl7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7pPr>
            <a:lvl8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8pPr>
            <a:lvl9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9pPr>
          </a:lstStyle>
          <a:p xmlns:a="http://schemas.openxmlformats.org/drawingml/2006/main">
            <a: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pPr>
            <a:r>
              <a:rPr sz="2798">
                <a:solidFill>
                  <a:srgbClr val="FFFFFF"/>
                </a:solidFill>
                <a:latin typeface="Gill Sans"/>
                <a:ea typeface="Gill Sans"/>
                <a:cs typeface="Gill Sans"/>
              </a:rPr>
              <a:t>DESARROLLO</a:t>
            </a:r>
          </a:p>
        </p:txBody>
      </p:sp>
      <p:sp>
        <p:nvSpPr>
          <p:cNvPr id="343" name="Título del contenido S17">
            <a:extLst xmlns:a="http://schemas.openxmlformats.org/drawingml/2006/main">
              <a:ext uri="{FF2B5EF4-FFF2-40B4-BE49-F238E27FC236}">
                <a16:creationId xmlns:a16="http://schemas.microsoft.com/office/drawing/2014/main" id="{B0CE05B1-CFB5-4E2A-96EC-7E27BEECC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38350"/>
            <a:ext cx="809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950" b="1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Pantalla de conversión</a:t>
            </a:r>
          </a:p>
        </p:txBody>
      </p:sp>
      <p:sp>
        <p:nvSpPr>
          <p:cNvPr id="344" name="Texto del contenido S17">
            <a:extLst xmlns:a="http://schemas.openxmlformats.org/drawingml/2006/main">
              <a:ext uri="{FF2B5EF4-FFF2-40B4-BE49-F238E27FC236}">
                <a16:creationId xmlns:a16="http://schemas.microsoft.com/office/drawing/2014/main" id="{C0845671-C2D1-470C-AAEF-26A22B712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19375"/>
            <a:ext cx="37147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575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La vista consulta categorías y unidades al servicio. El controlador envía el valor y presenta el resultado o el error recibido.</a:t>
            </a:r>
          </a:p>
        </p:txBody>
      </p:sp>
      <p:sp>
        <p:nvSpPr>
          <p:cNvPr id="345" name="Marcador imagen S17">
            <a:extLst xmlns:a="http://schemas.openxmlformats.org/drawingml/2006/main">
              <a:ext uri="{FF2B5EF4-FFF2-40B4-BE49-F238E27FC236}">
                <a16:creationId xmlns:a16="http://schemas.microsoft.com/office/drawing/2014/main" id="{2760191B-5EDF-47A4-8257-B91EBE2E7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571750"/>
            <a:ext cx="42862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8"/>
          </a:solidFill>
          <a:ln xmlns:a="http://schemas.openxmlformats.org/drawingml/2006/main" w="14288">
            <a:solidFill>
              <a:srgbClr val="73839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defPPr>
            <a:lvl1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1pPr>
            <a:lvl2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2pPr>
            <a:lvl3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3pPr>
            <a:lvl4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4pPr>
            <a:lvl5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5pPr>
            <a:lvl6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6pPr>
            <a:lvl7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7pPr>
            <a:lvl8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8pPr>
            <a:lvl9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pPr>
            <a:r>
              <a: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rPr>
              <a:t>CAPTURA PENDIENTE</a:t>
            </a:r>
          </a:p>
          <a:p xmlns:a="http://schemas.openxmlformats.org/drawingml/2006/main">
            <a: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pPr>
            <a:r>
              <a: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rPr>
              <a:t>Ventana Swing de conversión con categoría, unidades y resultado</a:t>
            </a:r>
          </a:p>
        </p:txBody>
      </p:sp>
    </p:spTree>
    <p:extLst>
      <p:ext uri="{BB962C8B-B14F-4D97-AF65-F5344CB8AC3E}">
        <p14:creationId xmlns:p14="http://schemas.microsoft.com/office/powerpoint/2010/main" val="184912842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2" name="Google Shape;342;p32">
            <a:extLst xmlns:a="http://schemas.openxmlformats.org/drawingml/2006/main">
              <a:ext uri="{FF2B5EF4-FFF2-40B4-BE49-F238E27FC236}">
                <a16:creationId xmlns:a16="http://schemas.microsoft.com/office/drawing/2014/main" id="{495CD3A6-42AC-4977-936A-20A292EA54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1192" y="702156"/>
            <a:ext cx="11029500" cy="101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t>DESARROLLO</a:t>
            </a:r>
            <a:endParaRPr/>
          </a:p>
        </p:txBody>
      </p:sp>
      <p:sp>
        <p:nvSpPr>
          <p:cNvPr id="343" name="Google Shape;343;p32">
            <a:extLst xmlns:a="http://schemas.openxmlformats.org/drawingml/2006/main">
              <a:ext uri="{FF2B5EF4-FFF2-40B4-BE49-F238E27FC236}">
                <a16:creationId xmlns:a16="http://schemas.microsoft.com/office/drawing/2014/main" id="{A8C44E00-09AA-4768-873A-8A798E027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3697" y="0"/>
            <a:ext cx="2808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SERVIDOR </a:t>
            </a:r>
            <a:r>
              <a:rPr sz="1200" b="1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CREACIÓN DEL PROYECTO – CLIENTE WEB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4" name="Google Shape;344;p32">
            <a:extLst xmlns:a="http://schemas.openxmlformats.org/drawingml/2006/main">
              <a:ext uri="{FF2B5EF4-FFF2-40B4-BE49-F238E27FC236}">
                <a16:creationId xmlns:a16="http://schemas.microsoft.com/office/drawing/2014/main" id="{506B11FC-06F9-4AEE-97DE-7A8AA2949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0" y="1868348"/>
            <a:ext cx="8576700" cy="182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 fontScale="100000" lnSpcReduction="10000"/>
          </a:bodyPr>
          <a:lstStyle xmlns:a="http://schemas.openxmlformats.org/drawingml/2006/main"/>
          <a:p xmlns:a="http://schemas.openxmlformats.org/drawingml/2006/main">
            <a:pPr marL="0" marR="0" lvl="0" indent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sz="1800" b="1" i="0" u="none" strike="noStrike" cap="none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1.5  CLIENTE WEB</a:t>
            </a:r>
            <a:endParaRPr sz="2000" b="0" i="0" u="none" strike="noStrike" cap="none">
              <a:solidFill>
                <a:srgbClr val="3D3D3D"/>
              </a:solidFill>
              <a:latin typeface="Cambria"/>
              <a:ea typeface="Cambria"/>
              <a:cs typeface="Cambria"/>
            </a:endParaRPr>
          </a:p>
          <a:p xmlns:a="http://schemas.openxmlformats.org/drawingml/2006/main">
            <a:pPr marL="457200" lvl="0" indent="-307975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ct val="100000"/>
              <a:buFont typeface="Cambria"/>
              <a:buChar char="∙"/>
            </a:pPr>
            <a:r>
              <a:rPr sz="2000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/>
            </a:r>
            <a:endParaRPr sz="2000">
              <a:solidFill>
                <a:srgbClr val="3D3D3D"/>
              </a:solidFill>
              <a:latin typeface="Cambria"/>
              <a:ea typeface="Cambria"/>
              <a:cs typeface="Cambria"/>
            </a:endParaRPr>
          </a:p>
          <a:p xmlns:a="http://schemas.openxmlformats.org/drawingml/2006/main">
            <a:pPr marL="457200" lvl="0" indent="-307975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ct val="100000"/>
              <a:buFont typeface="Cambria"/>
              <a:buChar char="∙"/>
            </a:pPr>
            <a:r>
              <a:rPr sz="2000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Aplicación Java 21 MVC con Servlets y JSP. Se despliega como WAR en Payara. Los proxies SOAP se generan desde el WSDL local, y cada solicitud usa su propio puerto de servicio.</a:t>
            </a:r>
            <a:endParaRPr sz="2000">
              <a:solidFill>
                <a:srgbClr val="3D3D3D"/>
              </a:solidFill>
              <a:latin typeface="Cambria"/>
              <a:ea typeface="Cambria"/>
              <a:cs typeface="Cambria"/>
            </a:endParaRPr>
          </a:p>
        </p:txBody>
      </p:sp>
      <p:pic>
        <p:nvPicPr>
          <p:cNvPr id="7" name="image1.png">
            <a:extLst xmlns:a="http://schemas.openxmlformats.org/drawingml/2006/main">
              <a:ext uri="{FF2B5EF4-FFF2-40B4-BE49-F238E27FC236}">
                <a16:creationId xmlns:a16="http://schemas.microsoft.com/office/drawing/2014/main" id="{30BA16FA-00AF-41AD-AEED-7060A67A2F3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ffee4d3a6c418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11356" y="3839056"/>
            <a:ext cx="2095500" cy="561975"/>
          </a:xfrm>
          <a:prstGeom xmlns:a="http://schemas.openxmlformats.org/drawingml/2006/main" prst="rect">
            <a:avLst/>
          </a:prstGeom>
        </p:spPr>
      </p:pic>
      <p:pic>
        <p:nvPicPr>
          <p:cNvPr id="5" name="Imagen 4">
            <a:extLst xmlns:a="http://schemas.openxmlformats.org/drawingml/2006/main">
              <a:ext uri="{FF2B5EF4-FFF2-40B4-BE49-F238E27FC236}">
                <a16:creationId xmlns:a16="http://schemas.microsoft.com/office/drawing/2014/main" id="{24D50B04-818B-4F90-8402-B82EF8FBB27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46029edfe2492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63999" y="3524211"/>
            <a:ext cx="4959666" cy="3037954"/>
          </a:xfrm>
          <a:prstGeom xmlns:a="http://schemas.openxmlformats.org/drawingml/2006/main" prst="rect">
            <a:avLst/>
          </a:prstGeom>
        </p:spPr>
      </p:pic>
      <p:sp>
        <p:nvSpPr>
          <p:cNvPr id="345" name="Fondo blanco del contenido S18">
            <a:extLst xmlns:a="http://schemas.openxmlformats.org/drawingml/2006/main">
              <a:ext uri="{FF2B5EF4-FFF2-40B4-BE49-F238E27FC236}">
                <a16:creationId xmlns:a16="http://schemas.microsoft.com/office/drawing/2014/main" id="{8DB0FE11-4700-4389-BF02-82B12E2F8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3821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6" name="Franja superior azul S18">
            <a:extLst xmlns:a="http://schemas.openxmlformats.org/drawingml/2006/main">
              <a:ext uri="{FF2B5EF4-FFF2-40B4-BE49-F238E27FC236}">
                <a16:creationId xmlns:a16="http://schemas.microsoft.com/office/drawing/2014/main" id="{55ACDD45-E64A-41E3-BE3F-1B852509A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09600"/>
            <a:ext cx="894397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2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7" name="Acento superior 1 S18">
            <a:extLst xmlns:a="http://schemas.openxmlformats.org/drawingml/2006/main">
              <a:ext uri="{FF2B5EF4-FFF2-40B4-BE49-F238E27FC236}">
                <a16:creationId xmlns:a16="http://schemas.microsoft.com/office/drawing/2014/main" id="{4542899F-0D75-4D53-B787-3207D9214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57200"/>
            <a:ext cx="37052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2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8" name="Acento superior 2 S18">
            <a:extLst xmlns:a="http://schemas.openxmlformats.org/drawingml/2006/main">
              <a:ext uri="{FF2B5EF4-FFF2-40B4-BE49-F238E27FC236}">
                <a16:creationId xmlns:a16="http://schemas.microsoft.com/office/drawing/2014/main" id="{4D13A0AD-5795-4C0C-8BC2-AAF0726D4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57200"/>
            <a:ext cx="37052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94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9" name="Acento superior 3 S18">
            <a:extLst xmlns:a="http://schemas.openxmlformats.org/drawingml/2006/main">
              <a:ext uri="{FF2B5EF4-FFF2-40B4-BE49-F238E27FC236}">
                <a16:creationId xmlns:a16="http://schemas.microsoft.com/office/drawing/2014/main" id="{B79B3AFD-C3C8-47DE-9E2D-CBDD4017D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57200"/>
            <a:ext cx="13430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A3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0" name="Título de sección S18">
            <a:extLst xmlns:a="http://schemas.openxmlformats.org/drawingml/2006/main">
              <a:ext uri="{FF2B5EF4-FFF2-40B4-BE49-F238E27FC236}">
                <a16:creationId xmlns:a16="http://schemas.microsoft.com/office/drawing/2014/main" id="{5731747B-6B51-47D8-A142-46394FB8F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19175"/>
            <a:ext cx="828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defPPr>
            <a:lvl1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1pPr>
            <a:lvl2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2pPr>
            <a:lvl3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3pPr>
            <a:lvl4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4pPr>
            <a:lvl5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5pPr>
            <a:lvl6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6pPr>
            <a:lvl7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7pPr>
            <a:lvl8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8pPr>
            <a:lvl9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9pPr>
          </a:lstStyle>
          <a:p xmlns:a="http://schemas.openxmlformats.org/drawingml/2006/main">
            <a: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pPr>
            <a:r>
              <a:rPr sz="2798">
                <a:solidFill>
                  <a:srgbClr val="FFFFFF"/>
                </a:solidFill>
                <a:latin typeface="Gill Sans"/>
                <a:ea typeface="Gill Sans"/>
                <a:cs typeface="Gill Sans"/>
              </a:rPr>
              <a:t>DESARROLLO</a:t>
            </a:r>
          </a:p>
        </p:txBody>
      </p:sp>
      <p:sp>
        <p:nvSpPr>
          <p:cNvPr id="351" name="Título del contenido S18">
            <a:extLst xmlns:a="http://schemas.openxmlformats.org/drawingml/2006/main">
              <a:ext uri="{FF2B5EF4-FFF2-40B4-BE49-F238E27FC236}">
                <a16:creationId xmlns:a16="http://schemas.microsoft.com/office/drawing/2014/main" id="{3B175E7E-26E7-40B5-9206-6D669B164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38350"/>
            <a:ext cx="809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950" b="1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Cliente web Java</a:t>
            </a:r>
          </a:p>
        </p:txBody>
      </p:sp>
      <p:sp>
        <p:nvSpPr>
          <p:cNvPr id="352" name="Texto del contenido S18">
            <a:extLst xmlns:a="http://schemas.openxmlformats.org/drawingml/2006/main">
              <a:ext uri="{FF2B5EF4-FFF2-40B4-BE49-F238E27FC236}">
                <a16:creationId xmlns:a16="http://schemas.microsoft.com/office/drawing/2014/main" id="{81DAE47E-B620-4DBA-9215-55A26D392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19375"/>
            <a:ext cx="37147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575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El cliente usa Java 21, Servlets, JSP y Maven. Payara aloja el WAR y el WSDL local genera los proxies SOAP.</a:t>
            </a:r>
          </a:p>
        </p:txBody>
      </p:sp>
      <p:sp>
        <p:nvSpPr>
          <p:cNvPr id="353" name="Marcador imagen S18">
            <a:extLst xmlns:a="http://schemas.openxmlformats.org/drawingml/2006/main">
              <a:ext uri="{FF2B5EF4-FFF2-40B4-BE49-F238E27FC236}">
                <a16:creationId xmlns:a16="http://schemas.microsoft.com/office/drawing/2014/main" id="{A4F7F6B0-B487-419E-968F-1F63ACD21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571750"/>
            <a:ext cx="42862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8"/>
          </a:solidFill>
          <a:ln xmlns:a="http://schemas.openxmlformats.org/drawingml/2006/main" w="14288">
            <a:solidFill>
              <a:srgbClr val="73839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defPPr>
            <a:lvl1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1pPr>
            <a:lvl2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2pPr>
            <a:lvl3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3pPr>
            <a:lvl4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4pPr>
            <a:lvl5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5pPr>
            <a:lvl6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6pPr>
            <a:lvl7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7pPr>
            <a:lvl8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8pPr>
            <a:lvl9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pPr>
            <a:r>
              <a: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rPr>
              <a:t>CAPTURA PENDIENTE</a:t>
            </a:r>
          </a:p>
          <a:p xmlns:a="http://schemas.openxmlformats.org/drawingml/2006/main">
            <a: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pPr>
            <a:r>
              <a: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rPr>
              <a:t>Estructura del proyecto web, paquetes MVC y vistas JSP</a:t>
            </a:r>
          </a:p>
        </p:txBody>
      </p:sp>
    </p:spTree>
    <p:extLst>
      <p:ext uri="{BB962C8B-B14F-4D97-AF65-F5344CB8AC3E}">
        <p14:creationId xmlns:p14="http://schemas.microsoft.com/office/powerpoint/2010/main" val="1793385201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6" name="Google Shape;376;g319782968e5_0_88">
            <a:extLst xmlns:a="http://schemas.openxmlformats.org/drawingml/2006/main">
              <a:ext uri="{FF2B5EF4-FFF2-40B4-BE49-F238E27FC236}">
                <a16:creationId xmlns:a16="http://schemas.microsoft.com/office/drawing/2014/main" id="{7D724ACB-56CA-4634-989A-FCE3F53EDC0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1192" y="702156"/>
            <a:ext cx="11029500" cy="101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t>DESARROLLO</a:t>
            </a:r>
            <a:endParaRPr/>
          </a:p>
        </p:txBody>
      </p:sp>
      <p:sp>
        <p:nvSpPr>
          <p:cNvPr id="377" name="Google Shape;377;g319782968e5_0_88">
            <a:extLst xmlns:a="http://schemas.openxmlformats.org/drawingml/2006/main">
              <a:ext uri="{FF2B5EF4-FFF2-40B4-BE49-F238E27FC236}">
                <a16:creationId xmlns:a16="http://schemas.microsoft.com/office/drawing/2014/main" id="{55A9D044-95A5-4688-984E-E5DABE2F2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3697" y="0"/>
            <a:ext cx="2808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SERVIDOR </a:t>
            </a:r>
            <a:r>
              <a:rPr sz="1200" b="1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CREACIÓN DEL PROYECTO – CLIENTE WEB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8" name="Google Shape;378;g319782968e5_0_88">
            <a:extLst xmlns:a="http://schemas.openxmlformats.org/drawingml/2006/main">
              <a:ext uri="{FF2B5EF4-FFF2-40B4-BE49-F238E27FC236}">
                <a16:creationId xmlns:a16="http://schemas.microsoft.com/office/drawing/2014/main" id="{2D620226-84B9-4C9E-BD0F-92EA4886773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81200" y="1944456"/>
            <a:ext cx="8589300" cy="132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 fontScale="87744"/>
          </a:bodyPr>
          <a:lstStyle xmlns:a="http://schemas.openxmlformats.org/drawingml/2006/main"/>
          <a:p xmlns:a="http://schemas.openxmlformats.org/drawingml/2006/main">
            <a:pPr marL="457200" lvl="0" indent="-333756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Char char="●"/>
            </a:pPr>
            <a:r>
              <a:rPr sz="1800">
                <a:latin typeface="Calibri"/>
                <a:ea typeface="Calibri"/>
                <a:cs typeface="Calibri"/>
              </a:rPr>
              <a:t>VISTAS JSP</a:t>
            </a:r>
            <a:endParaRPr>
              <a:latin typeface="Cambria"/>
              <a:ea typeface="Cambria"/>
              <a:cs typeface="Cambria"/>
            </a:endParaRPr>
          </a:p>
          <a:p xmlns:a="http://schemas.openxmlformats.org/drawingml/2006/main">
            <a:pPr marL="457200" lvl="0" indent="-333756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Char char="●"/>
            </a:pPr>
            <a:r>
              <a:rPr sz="1800">
                <a:latin typeface="Calibri"/>
                <a:ea typeface="Calibri"/>
                <a:cs typeface="Calibri"/>
              </a:rPr>
              <a:t/>
            </a:r>
            <a:endParaRPr>
              <a:latin typeface="Cambria"/>
              <a:ea typeface="Cambria"/>
              <a:cs typeface="Cambria"/>
            </a:endParaRPr>
          </a:p>
          <a:p xmlns:a="http://schemas.openxmlformats.org/drawingml/2006/main">
            <a:pPr marL="457200" lvl="0" indent="-333756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Char char="●"/>
            </a:pPr>
            <a:r>
              <a:rPr sz="1800">
                <a:latin typeface="Calibri"/>
                <a:ea typeface="Calibri"/>
                <a:cs typeface="Calibri"/>
              </a:rPr>
              <a:t>login.jsp recoge las credenciales y conversor.jsp muestra el catálogo y el formulario de conversión. Las páginas se ubican bajo WEB-INF/vista y reciben los datos preparados por los Servlets.</a:t>
            </a:r>
            <a:endParaRPr>
              <a:latin typeface="Cambria"/>
              <a:ea typeface="Cambria"/>
              <a:cs typeface="Cambria"/>
            </a:endParaRPr>
          </a:p>
        </p:txBody>
      </p:sp>
      <p:pic>
        <p:nvPicPr>
          <p:cNvPr id="3" name="Imagen 2">
            <a:extLst xmlns:a="http://schemas.openxmlformats.org/drawingml/2006/main">
              <a:ext uri="{FF2B5EF4-FFF2-40B4-BE49-F238E27FC236}">
                <a16:creationId xmlns:a16="http://schemas.microsoft.com/office/drawing/2014/main" id="{710C6F8A-2ABE-416D-BEA9-B7D7419F816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2af267155e4df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1168" y="3132944"/>
            <a:ext cx="1448002" cy="905001"/>
          </a:xfrm>
          <a:prstGeom xmlns:a="http://schemas.openxmlformats.org/drawingml/2006/main" prst="rect">
            <a:avLst/>
          </a:prstGeom>
        </p:spPr>
      </p:pic>
      <p:pic>
        <p:nvPicPr>
          <p:cNvPr id="5" name="Imagen 4">
            <a:extLst xmlns:a="http://schemas.openxmlformats.org/drawingml/2006/main">
              <a:ext uri="{FF2B5EF4-FFF2-40B4-BE49-F238E27FC236}">
                <a16:creationId xmlns:a16="http://schemas.microsoft.com/office/drawing/2014/main" id="{C6130A9C-1240-4C75-8167-6682C801BD0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89491cc6ed485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79277" y="3132944"/>
            <a:ext cx="3959600" cy="3545395"/>
          </a:xfrm>
          <a:prstGeom xmlns:a="http://schemas.openxmlformats.org/drawingml/2006/main" prst="rect">
            <a:avLst/>
          </a:prstGeom>
        </p:spPr>
      </p:pic>
      <p:sp>
        <p:nvSpPr>
          <p:cNvPr id="13" name="CuadroTexto 12">
            <a:extLst xmlns:a="http://schemas.openxmlformats.org/drawingml/2006/main">
              <a:ext uri="{FF2B5EF4-FFF2-40B4-BE49-F238E27FC236}">
                <a16:creationId xmlns:a16="http://schemas.microsoft.com/office/drawing/2014/main" id="{7EBFFD51-1503-4BCA-8CB9-C70596A06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417" y="4185628"/>
            <a:ext cx="2624418" cy="3108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800" b="0" i="0" u="none" strike="noStrike" cap="none" spc="0" baseline="0">
                <a:ln>
                  <a:noFill/>
                </a:ln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FLUJO WEB Y SESIÓN</a:t>
            </a:r>
            <a:endParaRPr/>
          </a:p>
          <a:p xmlns:a="http://schemas.openxmlformats.org/drawingml/2006/main">
            <a:r>
              <a:rPr sz="1800" b="0" i="0" u="none" strike="noStrike" cap="none" spc="0" baseline="0">
                <a:ln>
                  <a:noFill/>
                </a:ln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/>
            </a:r>
            <a:endParaRPr/>
          </a:p>
          <a:p xmlns:a="http://schemas.openxmlformats.org/drawingml/2006/main">
            <a:r>
              <a:rPr sz="1800" b="0" i="0" u="none" strike="noStrike" cap="none" spc="0" baseline="0">
                <a:ln>
                  <a:noFill/>
                </a:ln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Los Servlets procesan el acceso, la recuperación de clave y las conversiones. El token se conserva en la sesión HTTP. Los formularios POST incluyen protección CSRF y las vistas escapan los valores mostrados.</a:t>
            </a:r>
            <a:endParaRPr/>
          </a:p>
        </p:txBody>
      </p:sp>
      <p:sp>
        <p:nvSpPr>
          <p:cNvPr id="379" name="Fondo blanco del contenido S19">
            <a:extLst xmlns:a="http://schemas.openxmlformats.org/drawingml/2006/main">
              <a:ext uri="{FF2B5EF4-FFF2-40B4-BE49-F238E27FC236}">
                <a16:creationId xmlns:a16="http://schemas.microsoft.com/office/drawing/2014/main" id="{EDFBC877-637A-4038-BD92-26D7A9114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3821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0" name="Franja superior azul S19">
            <a:extLst xmlns:a="http://schemas.openxmlformats.org/drawingml/2006/main">
              <a:ext uri="{FF2B5EF4-FFF2-40B4-BE49-F238E27FC236}">
                <a16:creationId xmlns:a16="http://schemas.microsoft.com/office/drawing/2014/main" id="{8949DE7D-96E4-493A-8731-76BE58F34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09600"/>
            <a:ext cx="894397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2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1" name="Acento superior 1 S19">
            <a:extLst xmlns:a="http://schemas.openxmlformats.org/drawingml/2006/main">
              <a:ext uri="{FF2B5EF4-FFF2-40B4-BE49-F238E27FC236}">
                <a16:creationId xmlns:a16="http://schemas.microsoft.com/office/drawing/2014/main" id="{FB784D14-EBD6-4C3D-BA8F-93EE72D92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57200"/>
            <a:ext cx="37052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2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2" name="Acento superior 2 S19">
            <a:extLst xmlns:a="http://schemas.openxmlformats.org/drawingml/2006/main">
              <a:ext uri="{FF2B5EF4-FFF2-40B4-BE49-F238E27FC236}">
                <a16:creationId xmlns:a16="http://schemas.microsoft.com/office/drawing/2014/main" id="{90F4C11A-FC4D-45F8-9BA1-E2C1DD7D4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57200"/>
            <a:ext cx="37052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94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3" name="Acento superior 3 S19">
            <a:extLst xmlns:a="http://schemas.openxmlformats.org/drawingml/2006/main">
              <a:ext uri="{FF2B5EF4-FFF2-40B4-BE49-F238E27FC236}">
                <a16:creationId xmlns:a16="http://schemas.microsoft.com/office/drawing/2014/main" id="{59C40456-CEE3-4DC4-9160-7AA051EBA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57200"/>
            <a:ext cx="13430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A3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4" name="Título de sección S19">
            <a:extLst xmlns:a="http://schemas.openxmlformats.org/drawingml/2006/main">
              <a:ext uri="{FF2B5EF4-FFF2-40B4-BE49-F238E27FC236}">
                <a16:creationId xmlns:a16="http://schemas.microsoft.com/office/drawing/2014/main" id="{67355AD1-533F-4350-8699-2BFCE3078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19175"/>
            <a:ext cx="828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defPPr>
            <a:lvl1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1pPr>
            <a:lvl2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2pPr>
            <a:lvl3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3pPr>
            <a:lvl4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4pPr>
            <a:lvl5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5pPr>
            <a:lvl6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6pPr>
            <a:lvl7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7pPr>
            <a:lvl8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8pPr>
            <a:lvl9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9pPr>
          </a:lstStyle>
          <a:p xmlns:a="http://schemas.openxmlformats.org/drawingml/2006/main">
            <a: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pPr>
            <a:r>
              <a:rPr sz="2798">
                <a:solidFill>
                  <a:srgbClr val="FFFFFF"/>
                </a:solidFill>
                <a:latin typeface="Gill Sans"/>
                <a:ea typeface="Gill Sans"/>
                <a:cs typeface="Gill Sans"/>
              </a:rPr>
              <a:t>DESARROLLO</a:t>
            </a:r>
          </a:p>
        </p:txBody>
      </p:sp>
      <p:sp>
        <p:nvSpPr>
          <p:cNvPr id="385" name="Título del contenido S19">
            <a:extLst xmlns:a="http://schemas.openxmlformats.org/drawingml/2006/main">
              <a:ext uri="{FF2B5EF4-FFF2-40B4-BE49-F238E27FC236}">
                <a16:creationId xmlns:a16="http://schemas.microsoft.com/office/drawing/2014/main" id="{8458D636-3E22-4402-A773-A3072E89C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38350"/>
            <a:ext cx="809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950" b="1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Servlets y sesión HTTP</a:t>
            </a:r>
          </a:p>
        </p:txBody>
      </p:sp>
      <p:sp>
        <p:nvSpPr>
          <p:cNvPr id="386" name="Texto del contenido S19">
            <a:extLst xmlns:a="http://schemas.openxmlformats.org/drawingml/2006/main">
              <a:ext uri="{FF2B5EF4-FFF2-40B4-BE49-F238E27FC236}">
                <a16:creationId xmlns:a16="http://schemas.microsoft.com/office/drawing/2014/main" id="{2933916A-9055-4395-866C-2B1FC3892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19375"/>
            <a:ext cx="37147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575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Los Servlets gestionan acceso, recuperación y conversiones. El token se guarda en sesión HTTP; los formularios POST usan protección CSRF.</a:t>
            </a:r>
          </a:p>
        </p:txBody>
      </p:sp>
      <p:sp>
        <p:nvSpPr>
          <p:cNvPr id="387" name="Marcador imagen S19">
            <a:extLst xmlns:a="http://schemas.openxmlformats.org/drawingml/2006/main">
              <a:ext uri="{FF2B5EF4-FFF2-40B4-BE49-F238E27FC236}">
                <a16:creationId xmlns:a16="http://schemas.microsoft.com/office/drawing/2014/main" id="{31C18173-1C66-4541-AC85-0C3E2BB43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571750"/>
            <a:ext cx="42862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8"/>
          </a:solidFill>
          <a:ln xmlns:a="http://schemas.openxmlformats.org/drawingml/2006/main" w="14288">
            <a:solidFill>
              <a:srgbClr val="73839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defPPr>
            <a:lvl1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1pPr>
            <a:lvl2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2pPr>
            <a:lvl3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3pPr>
            <a:lvl4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4pPr>
            <a:lvl5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5pPr>
            <a:lvl6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6pPr>
            <a:lvl7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7pPr>
            <a:lvl8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8pPr>
            <a:lvl9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pPr>
            <a:r>
              <a: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rPr>
              <a:t>CAPTURA PENDIENTE</a:t>
            </a:r>
          </a:p>
          <a:p xmlns:a="http://schemas.openxmlformats.org/drawingml/2006/main">
            <a: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pPr>
            <a:r>
              <a: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rPr>
              <a:t>Flujo ConversionServlet, ClienteSoap y WSConUni; incluir FiltroSesion y FiltroCsrf</a:t>
            </a:r>
          </a:p>
        </p:txBody>
      </p:sp>
    </p:spTree>
    <p:extLst>
      <p:ext uri="{BB962C8B-B14F-4D97-AF65-F5344CB8AC3E}">
        <p14:creationId xmlns:p14="http://schemas.microsoft.com/office/powerpoint/2010/main" val="213038810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4" name="Google Shape;384;g319782968e5_0_73">
            <a:extLst xmlns:a="http://schemas.openxmlformats.org/drawingml/2006/main">
              <a:ext uri="{FF2B5EF4-FFF2-40B4-BE49-F238E27FC236}">
                <a16:creationId xmlns:a16="http://schemas.microsoft.com/office/drawing/2014/main" id="{7A6A8A47-FC2B-4DB5-BED7-60A8F30033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1192" y="702156"/>
            <a:ext cx="11029500" cy="101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t>DESARROLLO</a:t>
            </a:r>
            <a:endParaRPr/>
          </a:p>
        </p:txBody>
      </p:sp>
      <p:sp>
        <p:nvSpPr>
          <p:cNvPr id="385" name="Google Shape;385;g319782968e5_0_73">
            <a:extLst xmlns:a="http://schemas.openxmlformats.org/drawingml/2006/main">
              <a:ext uri="{FF2B5EF4-FFF2-40B4-BE49-F238E27FC236}">
                <a16:creationId xmlns:a16="http://schemas.microsoft.com/office/drawing/2014/main" id="{B913EFC6-6384-4CEE-A9BA-C09B98BF9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3697" y="0"/>
            <a:ext cx="2808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SERVIDOR </a:t>
            </a:r>
            <a:r>
              <a:rPr sz="1200" b="1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CREACIÓN DEL PROYECTO – CLIENTE WEB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6" name="Google Shape;386;g319782968e5_0_73">
            <a:extLst xmlns:a="http://schemas.openxmlformats.org/drawingml/2006/main">
              <a:ext uri="{FF2B5EF4-FFF2-40B4-BE49-F238E27FC236}">
                <a16:creationId xmlns:a16="http://schemas.microsoft.com/office/drawing/2014/main" id="{B2ADA3E9-E2AC-492E-B55A-C71C2DB03B0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81200" y="1715856"/>
            <a:ext cx="8589300" cy="132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 fontScale="94677"/>
          </a:bodyPr>
          <a:lstStyle xmlns:a="http://schemas.openxmlformats.org/drawingml/2006/main"/>
          <a:p xmlns:a="http://schemas.openxmlformats.org/drawingml/2006/main"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●"/>
            </a:pPr>
            <a:r>
              <a:rPr>
                <a:latin typeface="Cambria"/>
                <a:ea typeface="Cambria"/>
                <a:cs typeface="Cambria"/>
              </a:rPr>
              <a:t>ACCESO Y CONTROL DE SESIÓN</a:t>
            </a:r>
            <a:endParaRPr sz="1800">
              <a:latin typeface="Cambria"/>
              <a:ea typeface="Cambria"/>
              <a:cs typeface="Cambria"/>
            </a:endParaRPr>
          </a:p>
          <a:p xmlns:a="http://schemas.openxmlformats.org/drawingml/2006/main"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●"/>
            </a:pPr>
            <a:r>
              <a:rPr>
                <a:latin typeface="Cambria"/>
                <a:ea typeface="Cambria"/>
                <a:cs typeface="Cambria"/>
              </a:rPr>
              <a:t/>
            </a:r>
            <a:endParaRPr sz="1800">
              <a:latin typeface="Cambria"/>
              <a:ea typeface="Cambria"/>
              <a:cs typeface="Cambria"/>
            </a:endParaRPr>
          </a:p>
          <a:p xmlns:a="http://schemas.openxmlformats.org/drawingml/2006/main"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●"/>
            </a:pPr>
            <a:r>
              <a:rPr>
                <a:latin typeface="Cambria"/>
                <a:ea typeface="Cambria"/>
                <a:cs typeface="Cambria"/>
              </a:rPr>
              <a:t>AutenticacionServlet invoca autenticar y guarda el token en la sesión HTTP. FiltroSesion protege las rutas privadas; CerrarSesionServlet elimina la sesión local del navegador.</a:t>
            </a:r>
            <a:endParaRPr sz="1800">
              <a:latin typeface="Cambria"/>
              <a:ea typeface="Cambria"/>
              <a:cs typeface="Cambria"/>
            </a:endParaRPr>
          </a:p>
        </p:txBody>
      </p:sp>
      <p:pic>
        <p:nvPicPr>
          <p:cNvPr id="4" name="Imagen 3">
            <a:extLst xmlns:a="http://schemas.openxmlformats.org/drawingml/2006/main">
              <a:ext uri="{FF2B5EF4-FFF2-40B4-BE49-F238E27FC236}">
                <a16:creationId xmlns:a16="http://schemas.microsoft.com/office/drawing/2014/main" id="{59816977-216F-4952-908B-A4A695BF0A5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e4107c136545e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04070" y="2850777"/>
            <a:ext cx="4143559" cy="3708703"/>
          </a:xfrm>
          <a:prstGeom xmlns:a="http://schemas.openxmlformats.org/drawingml/2006/main" prst="rect">
            <a:avLst/>
          </a:prstGeom>
        </p:spPr>
      </p:pic>
      <p:sp>
        <p:nvSpPr>
          <p:cNvPr id="387" name="Fondo blanco del contenido S20">
            <a:extLst xmlns:a="http://schemas.openxmlformats.org/drawingml/2006/main">
              <a:ext uri="{FF2B5EF4-FFF2-40B4-BE49-F238E27FC236}">
                <a16:creationId xmlns:a16="http://schemas.microsoft.com/office/drawing/2014/main" id="{F46A36E8-93C6-446A-BAFE-3715CF795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3821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8" name="Franja superior azul S20">
            <a:extLst xmlns:a="http://schemas.openxmlformats.org/drawingml/2006/main">
              <a:ext uri="{FF2B5EF4-FFF2-40B4-BE49-F238E27FC236}">
                <a16:creationId xmlns:a16="http://schemas.microsoft.com/office/drawing/2014/main" id="{F182531A-5DA2-4155-A8DD-37298F562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09600"/>
            <a:ext cx="894397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2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9" name="Acento superior 1 S20">
            <a:extLst xmlns:a="http://schemas.openxmlformats.org/drawingml/2006/main">
              <a:ext uri="{FF2B5EF4-FFF2-40B4-BE49-F238E27FC236}">
                <a16:creationId xmlns:a16="http://schemas.microsoft.com/office/drawing/2014/main" id="{996BC4F6-D2E8-41BF-997F-5A4BFDDA9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57200"/>
            <a:ext cx="37052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2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0" name="Acento superior 2 S20">
            <a:extLst xmlns:a="http://schemas.openxmlformats.org/drawingml/2006/main">
              <a:ext uri="{FF2B5EF4-FFF2-40B4-BE49-F238E27FC236}">
                <a16:creationId xmlns:a16="http://schemas.microsoft.com/office/drawing/2014/main" id="{614D5A18-6BEC-41A8-B776-4BC363481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57200"/>
            <a:ext cx="37052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94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1" name="Acento superior 3 S20">
            <a:extLst xmlns:a="http://schemas.openxmlformats.org/drawingml/2006/main">
              <a:ext uri="{FF2B5EF4-FFF2-40B4-BE49-F238E27FC236}">
                <a16:creationId xmlns:a16="http://schemas.microsoft.com/office/drawing/2014/main" id="{C3249603-A2D8-4767-94DF-421D3D659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57200"/>
            <a:ext cx="13430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A3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2" name="Título de sección S20">
            <a:extLst xmlns:a="http://schemas.openxmlformats.org/drawingml/2006/main">
              <a:ext uri="{FF2B5EF4-FFF2-40B4-BE49-F238E27FC236}">
                <a16:creationId xmlns:a16="http://schemas.microsoft.com/office/drawing/2014/main" id="{06BAB58B-49B8-4269-A6D4-2A532B4E6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19175"/>
            <a:ext cx="828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defPPr>
            <a:lvl1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1pPr>
            <a:lvl2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2pPr>
            <a:lvl3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3pPr>
            <a:lvl4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4pPr>
            <a:lvl5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5pPr>
            <a:lvl6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6pPr>
            <a:lvl7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7pPr>
            <a:lvl8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8pPr>
            <a:lvl9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9pPr>
          </a:lstStyle>
          <a:p xmlns:a="http://schemas.openxmlformats.org/drawingml/2006/main">
            <a: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pPr>
            <a:r>
              <a:rPr sz="2798">
                <a:solidFill>
                  <a:srgbClr val="FFFFFF"/>
                </a:solidFill>
                <a:latin typeface="Gill Sans"/>
                <a:ea typeface="Gill Sans"/>
                <a:cs typeface="Gill Sans"/>
              </a:rPr>
              <a:t>DESARROLLO</a:t>
            </a:r>
          </a:p>
        </p:txBody>
      </p:sp>
      <p:sp>
        <p:nvSpPr>
          <p:cNvPr id="393" name="Título del contenido S20">
            <a:extLst xmlns:a="http://schemas.openxmlformats.org/drawingml/2006/main">
              <a:ext uri="{FF2B5EF4-FFF2-40B4-BE49-F238E27FC236}">
                <a16:creationId xmlns:a16="http://schemas.microsoft.com/office/drawing/2014/main" id="{731B6112-11F3-4139-A333-2731F502E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38350"/>
            <a:ext cx="809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950" b="1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Vistas JSP</a:t>
            </a:r>
          </a:p>
        </p:txBody>
      </p:sp>
      <p:sp>
        <p:nvSpPr>
          <p:cNvPr id="394" name="Texto del contenido S20">
            <a:extLst xmlns:a="http://schemas.openxmlformats.org/drawingml/2006/main">
              <a:ext uri="{FF2B5EF4-FFF2-40B4-BE49-F238E27FC236}">
                <a16:creationId xmlns:a16="http://schemas.microsoft.com/office/drawing/2014/main" id="{C8B8E7C2-A084-4543-B86C-700463C4F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19375"/>
            <a:ext cx="37147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575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login.jsp recibe las credenciales. conversor.jsp presenta las categorías, unidades, formulario y respuesta.</a:t>
            </a:r>
          </a:p>
        </p:txBody>
      </p:sp>
      <p:sp>
        <p:nvSpPr>
          <p:cNvPr id="395" name="Marcador imagen S20">
            <a:extLst xmlns:a="http://schemas.openxmlformats.org/drawingml/2006/main">
              <a:ext uri="{FF2B5EF4-FFF2-40B4-BE49-F238E27FC236}">
                <a16:creationId xmlns:a16="http://schemas.microsoft.com/office/drawing/2014/main" id="{7C8B2734-A002-41B3-BAE6-CC41FD4B7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571750"/>
            <a:ext cx="42862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8"/>
          </a:solidFill>
          <a:ln xmlns:a="http://schemas.openxmlformats.org/drawingml/2006/main" w="14288">
            <a:solidFill>
              <a:srgbClr val="73839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defPPr>
            <a:lvl1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1pPr>
            <a:lvl2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2pPr>
            <a:lvl3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3pPr>
            <a:lvl4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4pPr>
            <a:lvl5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5pPr>
            <a:lvl6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6pPr>
            <a:lvl7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7pPr>
            <a:lvl8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8pPr>
            <a:lvl9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pPr>
            <a:r>
              <a: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rPr>
              <a:t>CAPTURA PENDIENTE</a:t>
            </a:r>
          </a:p>
          <a:p xmlns:a="http://schemas.openxmlformats.org/drawingml/2006/main">
            <a: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pPr>
            <a:r>
              <a: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rPr>
              <a:t>login.jsp y conversor.jsp del cliente web</a:t>
            </a:r>
          </a:p>
        </p:txBody>
      </p:sp>
    </p:spTree>
    <p:extLst>
      <p:ext uri="{BB962C8B-B14F-4D97-AF65-F5344CB8AC3E}">
        <p14:creationId xmlns:p14="http://schemas.microsoft.com/office/powerpoint/2010/main" val="1210911836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0" name="Google Shape;400;g319782968e5_0_112">
            <a:extLst xmlns:a="http://schemas.openxmlformats.org/drawingml/2006/main">
              <a:ext uri="{FF2B5EF4-FFF2-40B4-BE49-F238E27FC236}">
                <a16:creationId xmlns:a16="http://schemas.microsoft.com/office/drawing/2014/main" id="{366D9DAB-F1A9-431E-BC56-39CBAC92DD7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1192" y="702156"/>
            <a:ext cx="11029500" cy="101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t>DESARROLLO</a:t>
            </a:r>
            <a:endParaRPr/>
          </a:p>
        </p:txBody>
      </p:sp>
      <p:sp>
        <p:nvSpPr>
          <p:cNvPr id="401" name="Google Shape;401;g319782968e5_0_112">
            <a:extLst xmlns:a="http://schemas.openxmlformats.org/drawingml/2006/main">
              <a:ext uri="{FF2B5EF4-FFF2-40B4-BE49-F238E27FC236}">
                <a16:creationId xmlns:a16="http://schemas.microsoft.com/office/drawing/2014/main" id="{44E84EC4-9884-4941-9CD4-209A952FC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3697" y="0"/>
            <a:ext cx="2808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SERVIDOR </a:t>
            </a:r>
            <a:r>
              <a:rPr sz="1200" b="1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CREACIÓN DEL PROYECTO – CLIENTE WEB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02" name="Google Shape;402;g319782968e5_0_112">
            <a:extLst xmlns:a="http://schemas.openxmlformats.org/drawingml/2006/main">
              <a:ext uri="{FF2B5EF4-FFF2-40B4-BE49-F238E27FC236}">
                <a16:creationId xmlns:a16="http://schemas.microsoft.com/office/drawing/2014/main" id="{65A31BD1-4C53-4436-BD4A-95F1A5DF2D1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39100" y="1913200"/>
            <a:ext cx="8038500" cy="1803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457200" lvl="0" indent="-333756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Cambria"/>
              <a:buChar char="●"/>
            </a:pPr>
            <a:r>
              <a:rPr>
                <a:latin typeface="Cambria"/>
                <a:ea typeface="Cambria"/>
                <a:cs typeface="Cambria"/>
              </a:rPr>
              <a:t>DESPLIEGUE Y EJECUCIÓN</a:t>
            </a:r>
            <a:endParaRPr>
              <a:latin typeface="Cambria"/>
              <a:ea typeface="Cambria"/>
              <a:cs typeface="Cambria"/>
            </a:endParaRPr>
          </a:p>
          <a:p xmlns:a="http://schemas.openxmlformats.org/drawingml/2006/main">
            <a:pPr marL="457200" lvl="0" indent="-333756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Cambria"/>
              <a:buChar char="●"/>
            </a:pPr>
            <a:r>
              <a:rPr>
                <a:latin typeface="Cambria"/>
                <a:ea typeface="Cambria"/>
                <a:cs typeface="Cambria"/>
              </a:rPr>
              <a:t/>
            </a:r>
            <a:endParaRPr>
              <a:latin typeface="Cambria"/>
              <a:ea typeface="Cambria"/>
              <a:cs typeface="Cambria"/>
            </a:endParaRPr>
          </a:p>
          <a:p xmlns:a="http://schemas.openxmlformats.org/drawingml/2006/main">
            <a:pPr marL="457200" lvl="0" indent="-333756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Cambria"/>
              <a:buChar char="●"/>
            </a:pPr>
            <a:r>
              <a:rPr>
                <a:latin typeface="Cambria"/>
                <a:ea typeface="Cambria"/>
                <a:cs typeface="Cambria"/>
              </a:rPr>
              <a:t>Primero se despliega WS_CON_UNI_JAVA_SOAP en Payara. Luego se compila el cliente web con Maven, se despliega el archivo WAR y se abre el contexto de la aplicación en el navegador.</a:t>
            </a:r>
            <a:endParaRPr>
              <a:latin typeface="Cambria"/>
              <a:ea typeface="Cambria"/>
              <a:cs typeface="Cambria"/>
            </a:endParaRPr>
          </a:p>
        </p:txBody>
      </p:sp>
      <p:pic>
        <p:nvPicPr>
          <p:cNvPr id="3" name="Imagen 2">
            <a:extLst xmlns:a="http://schemas.openxmlformats.org/drawingml/2006/main">
              <a:ext uri="{FF2B5EF4-FFF2-40B4-BE49-F238E27FC236}">
                <a16:creationId xmlns:a16="http://schemas.microsoft.com/office/drawing/2014/main" id="{7A7139CE-65C1-4DD5-B181-53DA0634266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bcce7b0446454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35268" y="3257334"/>
            <a:ext cx="3200847" cy="3086531"/>
          </a:xfrm>
          <a:prstGeom xmlns:a="http://schemas.openxmlformats.org/drawingml/2006/main" prst="rect">
            <a:avLst/>
          </a:prstGeom>
        </p:spPr>
      </p:pic>
      <p:sp>
        <p:nvSpPr>
          <p:cNvPr id="403" name="Fondo blanco del contenido S21">
            <a:extLst xmlns:a="http://schemas.openxmlformats.org/drawingml/2006/main">
              <a:ext uri="{FF2B5EF4-FFF2-40B4-BE49-F238E27FC236}">
                <a16:creationId xmlns:a16="http://schemas.microsoft.com/office/drawing/2014/main" id="{F4666D95-7C49-45A9-82E0-827255828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3821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4" name="Franja superior azul S21">
            <a:extLst xmlns:a="http://schemas.openxmlformats.org/drawingml/2006/main">
              <a:ext uri="{FF2B5EF4-FFF2-40B4-BE49-F238E27FC236}">
                <a16:creationId xmlns:a16="http://schemas.microsoft.com/office/drawing/2014/main" id="{454C65D2-0C5C-4F83-AE0B-B42CD4B58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09600"/>
            <a:ext cx="894397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2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5" name="Acento superior 1 S21">
            <a:extLst xmlns:a="http://schemas.openxmlformats.org/drawingml/2006/main">
              <a:ext uri="{FF2B5EF4-FFF2-40B4-BE49-F238E27FC236}">
                <a16:creationId xmlns:a16="http://schemas.microsoft.com/office/drawing/2014/main" id="{3E895756-4AE9-41E8-9ACB-4BE882A43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57200"/>
            <a:ext cx="37052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2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6" name="Acento superior 2 S21">
            <a:extLst xmlns:a="http://schemas.openxmlformats.org/drawingml/2006/main">
              <a:ext uri="{FF2B5EF4-FFF2-40B4-BE49-F238E27FC236}">
                <a16:creationId xmlns:a16="http://schemas.microsoft.com/office/drawing/2014/main" id="{0A715A45-5E25-4064-8D8A-36051B0B0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57200"/>
            <a:ext cx="37052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94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7" name="Acento superior 3 S21">
            <a:extLst xmlns:a="http://schemas.openxmlformats.org/drawingml/2006/main">
              <a:ext uri="{FF2B5EF4-FFF2-40B4-BE49-F238E27FC236}">
                <a16:creationId xmlns:a16="http://schemas.microsoft.com/office/drawing/2014/main" id="{EE5200EF-AADE-4BEF-B497-DBACCD300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57200"/>
            <a:ext cx="13430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A3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8" name="Título de sección S21">
            <a:extLst xmlns:a="http://schemas.openxmlformats.org/drawingml/2006/main">
              <a:ext uri="{FF2B5EF4-FFF2-40B4-BE49-F238E27FC236}">
                <a16:creationId xmlns:a16="http://schemas.microsoft.com/office/drawing/2014/main" id="{E715B03C-C518-405C-9818-1D30EA91C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19175"/>
            <a:ext cx="828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defPPr>
            <a:lvl1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1pPr>
            <a:lvl2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2pPr>
            <a:lvl3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3pPr>
            <a:lvl4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4pPr>
            <a:lvl5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5pPr>
            <a:lvl6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6pPr>
            <a:lvl7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7pPr>
            <a:lvl8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8pPr>
            <a:lvl9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9pPr>
          </a:lstStyle>
          <a:p xmlns:a="http://schemas.openxmlformats.org/drawingml/2006/main">
            <a: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pPr>
            <a:r>
              <a:rPr sz="2798">
                <a:solidFill>
                  <a:srgbClr val="FFFFFF"/>
                </a:solidFill>
                <a:latin typeface="Gill Sans"/>
                <a:ea typeface="Gill Sans"/>
                <a:cs typeface="Gill Sans"/>
              </a:rPr>
              <a:t>DESARROLLO</a:t>
            </a:r>
          </a:p>
        </p:txBody>
      </p:sp>
      <p:sp>
        <p:nvSpPr>
          <p:cNvPr id="409" name="Título del contenido S21">
            <a:extLst xmlns:a="http://schemas.openxmlformats.org/drawingml/2006/main">
              <a:ext uri="{FF2B5EF4-FFF2-40B4-BE49-F238E27FC236}">
                <a16:creationId xmlns:a16="http://schemas.microsoft.com/office/drawing/2014/main" id="{B0D81D13-8B8D-4440-9F14-FBF52C138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38350"/>
            <a:ext cx="809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950" b="1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Despliegue en Payara</a:t>
            </a:r>
          </a:p>
        </p:txBody>
      </p:sp>
      <p:sp>
        <p:nvSpPr>
          <p:cNvPr id="410" name="Texto del contenido S21">
            <a:extLst xmlns:a="http://schemas.openxmlformats.org/drawingml/2006/main">
              <a:ext uri="{FF2B5EF4-FFF2-40B4-BE49-F238E27FC236}">
                <a16:creationId xmlns:a16="http://schemas.microsoft.com/office/drawing/2014/main" id="{7E0F96F8-B1AC-4B1B-8BC8-1B3A10BE0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19375"/>
            <a:ext cx="37147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575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Primero se despliega el servidor SOAP. Después se compila el cliente con Maven, se despliega su WAR y se abre el contexto web.</a:t>
            </a:r>
          </a:p>
        </p:txBody>
      </p:sp>
      <p:sp>
        <p:nvSpPr>
          <p:cNvPr id="411" name="Marcador imagen S21">
            <a:extLst xmlns:a="http://schemas.openxmlformats.org/drawingml/2006/main">
              <a:ext uri="{FF2B5EF4-FFF2-40B4-BE49-F238E27FC236}">
                <a16:creationId xmlns:a16="http://schemas.microsoft.com/office/drawing/2014/main" id="{A783D9E1-EDD4-45A5-A157-A02FD5803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571750"/>
            <a:ext cx="42862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8"/>
          </a:solidFill>
          <a:ln xmlns:a="http://schemas.openxmlformats.org/drawingml/2006/main" w="14288">
            <a:solidFill>
              <a:srgbClr val="73839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defPPr>
            <a:lvl1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1pPr>
            <a:lvl2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2pPr>
            <a:lvl3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3pPr>
            <a:lvl4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4pPr>
            <a:lvl5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5pPr>
            <a:lvl6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6pPr>
            <a:lvl7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7pPr>
            <a:lvl8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8pPr>
            <a:lvl9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pPr>
            <a:r>
              <a: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rPr>
              <a:t>CAPTURA PENDIENTE</a:t>
            </a:r>
          </a:p>
          <a:p xmlns:a="http://schemas.openxmlformats.org/drawingml/2006/main">
            <a: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pPr>
            <a:r>
              <a: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rPr>
              <a:t>Payara con el servidor SOAP y el WAR web desplegados</a:t>
            </a:r>
          </a:p>
        </p:txBody>
      </p:sp>
    </p:spTree>
    <p:extLst>
      <p:ext uri="{BB962C8B-B14F-4D97-AF65-F5344CB8AC3E}">
        <p14:creationId xmlns:p14="http://schemas.microsoft.com/office/powerpoint/2010/main" val="878259169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0" name="Google Shape;410;g319782968e5_0_135">
            <a:extLst xmlns:a="http://schemas.openxmlformats.org/drawingml/2006/main">
              <a:ext uri="{FF2B5EF4-FFF2-40B4-BE49-F238E27FC236}">
                <a16:creationId xmlns:a16="http://schemas.microsoft.com/office/drawing/2014/main" id="{6264CFDD-DDBE-46EA-9798-B485DB6A6D8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1192" y="702156"/>
            <a:ext cx="11029500" cy="101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t>DESARROLLO</a:t>
            </a:r>
            <a:endParaRPr/>
          </a:p>
        </p:txBody>
      </p:sp>
      <p:sp>
        <p:nvSpPr>
          <p:cNvPr id="411" name="Google Shape;411;g319782968e5_0_135">
            <a:extLst xmlns:a="http://schemas.openxmlformats.org/drawingml/2006/main">
              <a:ext uri="{FF2B5EF4-FFF2-40B4-BE49-F238E27FC236}">
                <a16:creationId xmlns:a16="http://schemas.microsoft.com/office/drawing/2014/main" id="{CB4A8B47-BE48-4A97-A917-167192DC5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3697" y="0"/>
            <a:ext cx="2808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SERVIDOR </a:t>
            </a:r>
            <a:r>
              <a:rPr sz="1200" b="1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CREACIÓN DEL PROYECTO – CLIENTE WEB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2" name="Google Shape;412;g319782968e5_0_135">
            <a:extLst xmlns:a="http://schemas.openxmlformats.org/drawingml/2006/main">
              <a:ext uri="{FF2B5EF4-FFF2-40B4-BE49-F238E27FC236}">
                <a16:creationId xmlns:a16="http://schemas.microsoft.com/office/drawing/2014/main" id="{C9FB03B7-3000-458E-8F54-AF6B57AA2F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326975" y="2523925"/>
            <a:ext cx="2808300" cy="36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457200" lvl="0" indent="-333756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Cambria"/>
              <a:buChar char="●"/>
            </a:pPr>
            <a:r>
              <a:rPr>
                <a:latin typeface="Cambria"/>
                <a:ea typeface="Cambria"/>
                <a:cs typeface="Cambria"/>
              </a:rPr>
              <a:t>PANTALLA DE ACCESO WEB</a:t>
            </a:r>
            <a:endParaRPr>
              <a:latin typeface="Cambria"/>
              <a:ea typeface="Cambria"/>
              <a:cs typeface="Cambria"/>
            </a:endParaRPr>
          </a:p>
          <a:p xmlns:a="http://schemas.openxmlformats.org/drawingml/2006/main">
            <a:pPr marL="457200" lvl="0" indent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t/>
            </a:r>
            <a:endParaRPr>
              <a:latin typeface="Cambria"/>
              <a:ea typeface="Cambria"/>
              <a:cs typeface="Cambria"/>
            </a:endParaRPr>
          </a:p>
          <a:p xmlns:a="http://schemas.openxmlformats.org/drawingml/2006/main">
            <a:pPr marL="457200" lvl="0" indent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t>El formulario envía las credenciales al Servlet de autenticación. Las credenciales iniciales se configuran en el servidor y no deben aparecer en las capturas de evidencia.</a:t>
            </a:r>
            <a:endParaRPr>
              <a:latin typeface="Cambria"/>
              <a:ea typeface="Cambria"/>
              <a:cs typeface="Cambria"/>
            </a:endParaRPr>
          </a:p>
        </p:txBody>
      </p:sp>
      <p:pic>
        <p:nvPicPr>
          <p:cNvPr id="6" name="image30.png">
            <a:extLst xmlns:a="http://schemas.openxmlformats.org/drawingml/2006/main">
              <a:ext uri="{FF2B5EF4-FFF2-40B4-BE49-F238E27FC236}">
                <a16:creationId xmlns:a16="http://schemas.microsoft.com/office/drawing/2014/main" id="{5BB925CF-72A4-4523-BE49-BBFCE5519E2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4173acdf624bc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3359" y="2804085"/>
            <a:ext cx="5399405" cy="2755900"/>
          </a:xfrm>
          <a:prstGeom xmlns:a="http://schemas.openxmlformats.org/drawingml/2006/main" prst="rect">
            <a:avLst/>
          </a:prstGeom>
        </p:spPr>
      </p:pic>
      <p:sp>
        <p:nvSpPr>
          <p:cNvPr id="413" name="Fondo blanco del contenido S22">
            <a:extLst xmlns:a="http://schemas.openxmlformats.org/drawingml/2006/main">
              <a:ext uri="{FF2B5EF4-FFF2-40B4-BE49-F238E27FC236}">
                <a16:creationId xmlns:a16="http://schemas.microsoft.com/office/drawing/2014/main" id="{A64DE1DF-1F79-4094-88CE-679CC40D0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3821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4" name="Franja superior azul S22">
            <a:extLst xmlns:a="http://schemas.openxmlformats.org/drawingml/2006/main">
              <a:ext uri="{FF2B5EF4-FFF2-40B4-BE49-F238E27FC236}">
                <a16:creationId xmlns:a16="http://schemas.microsoft.com/office/drawing/2014/main" id="{DB7037E4-68DE-47C2-A46E-66CDB2A7E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09600"/>
            <a:ext cx="894397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2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5" name="Acento superior 1 S22">
            <a:extLst xmlns:a="http://schemas.openxmlformats.org/drawingml/2006/main">
              <a:ext uri="{FF2B5EF4-FFF2-40B4-BE49-F238E27FC236}">
                <a16:creationId xmlns:a16="http://schemas.microsoft.com/office/drawing/2014/main" id="{F1B2D875-6CE0-4854-88C7-283077303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57200"/>
            <a:ext cx="37052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2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6" name="Acento superior 2 S22">
            <a:extLst xmlns:a="http://schemas.openxmlformats.org/drawingml/2006/main">
              <a:ext uri="{FF2B5EF4-FFF2-40B4-BE49-F238E27FC236}">
                <a16:creationId xmlns:a16="http://schemas.microsoft.com/office/drawing/2014/main" id="{68DD59A8-F1E2-4659-B216-2E9BF1FE4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57200"/>
            <a:ext cx="37052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94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7" name="Acento superior 3 S22">
            <a:extLst xmlns:a="http://schemas.openxmlformats.org/drawingml/2006/main">
              <a:ext uri="{FF2B5EF4-FFF2-40B4-BE49-F238E27FC236}">
                <a16:creationId xmlns:a16="http://schemas.microsoft.com/office/drawing/2014/main" id="{8242EAB0-7429-4545-8F3D-50732E6DC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57200"/>
            <a:ext cx="13430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A3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8" name="Título de sección S22">
            <a:extLst xmlns:a="http://schemas.openxmlformats.org/drawingml/2006/main">
              <a:ext uri="{FF2B5EF4-FFF2-40B4-BE49-F238E27FC236}">
                <a16:creationId xmlns:a16="http://schemas.microsoft.com/office/drawing/2014/main" id="{0C527865-BC8E-4C36-A6D5-7A70E4295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19175"/>
            <a:ext cx="828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defPPr>
            <a:lvl1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1pPr>
            <a:lvl2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2pPr>
            <a:lvl3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3pPr>
            <a:lvl4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4pPr>
            <a:lvl5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5pPr>
            <a:lvl6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6pPr>
            <a:lvl7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7pPr>
            <a:lvl8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8pPr>
            <a:lvl9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9pPr>
          </a:lstStyle>
          <a:p xmlns:a="http://schemas.openxmlformats.org/drawingml/2006/main">
            <a: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pPr>
            <a:r>
              <a:rPr sz="2798">
                <a:solidFill>
                  <a:srgbClr val="FFFFFF"/>
                </a:solidFill>
                <a:latin typeface="Gill Sans"/>
                <a:ea typeface="Gill Sans"/>
                <a:cs typeface="Gill Sans"/>
              </a:rPr>
              <a:t>DESARROLLO</a:t>
            </a:r>
          </a:p>
        </p:txBody>
      </p:sp>
      <p:sp>
        <p:nvSpPr>
          <p:cNvPr id="419" name="Título del contenido S22">
            <a:extLst xmlns:a="http://schemas.openxmlformats.org/drawingml/2006/main">
              <a:ext uri="{FF2B5EF4-FFF2-40B4-BE49-F238E27FC236}">
                <a16:creationId xmlns:a16="http://schemas.microsoft.com/office/drawing/2014/main" id="{6E8D1C57-FA02-41FC-B14A-CC31E2256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38350"/>
            <a:ext cx="809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950" b="1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Acceso web</a:t>
            </a:r>
          </a:p>
        </p:txBody>
      </p:sp>
      <p:sp>
        <p:nvSpPr>
          <p:cNvPr id="420" name="Texto del contenido S22">
            <a:extLst xmlns:a="http://schemas.openxmlformats.org/drawingml/2006/main">
              <a:ext uri="{FF2B5EF4-FFF2-40B4-BE49-F238E27FC236}">
                <a16:creationId xmlns:a16="http://schemas.microsoft.com/office/drawing/2014/main" id="{8D0E4F10-EECF-4A05-88AE-DDF5ABF5F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19375"/>
            <a:ext cx="37147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575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AutenticacionServlet invoca el servicio y guarda el token en sesión HTTP. FiltroSesion protege las rutas privadas.</a:t>
            </a:r>
          </a:p>
        </p:txBody>
      </p:sp>
      <p:sp>
        <p:nvSpPr>
          <p:cNvPr id="421" name="Marcador imagen S22">
            <a:extLst xmlns:a="http://schemas.openxmlformats.org/drawingml/2006/main">
              <a:ext uri="{FF2B5EF4-FFF2-40B4-BE49-F238E27FC236}">
                <a16:creationId xmlns:a16="http://schemas.microsoft.com/office/drawing/2014/main" id="{253E1287-41B6-4D6F-9A2B-90E94BCD8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571750"/>
            <a:ext cx="42862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8"/>
          </a:solidFill>
          <a:ln xmlns:a="http://schemas.openxmlformats.org/drawingml/2006/main" w="14288">
            <a:solidFill>
              <a:srgbClr val="73839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defPPr>
            <a:lvl1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1pPr>
            <a:lvl2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2pPr>
            <a:lvl3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3pPr>
            <a:lvl4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4pPr>
            <a:lvl5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5pPr>
            <a:lvl6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6pPr>
            <a:lvl7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7pPr>
            <a:lvl8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8pPr>
            <a:lvl9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pPr>
            <a:r>
              <a: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rPr>
              <a:t>CAPTURA PENDIENTE</a:t>
            </a:r>
          </a:p>
          <a:p xmlns:a="http://schemas.openxmlformats.org/drawingml/2006/main">
            <a: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pPr>
            <a:r>
              <a: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rPr>
              <a:t>Formulario web de acceso, sin credenciales visibles</a:t>
            </a:r>
          </a:p>
        </p:txBody>
      </p:sp>
    </p:spTree>
    <p:extLst>
      <p:ext uri="{BB962C8B-B14F-4D97-AF65-F5344CB8AC3E}">
        <p14:creationId xmlns:p14="http://schemas.microsoft.com/office/powerpoint/2010/main" val="2021516807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8" name="Google Shape;418;g319782968e5_0_123">
            <a:extLst xmlns:a="http://schemas.openxmlformats.org/drawingml/2006/main">
              <a:ext uri="{FF2B5EF4-FFF2-40B4-BE49-F238E27FC236}">
                <a16:creationId xmlns:a16="http://schemas.microsoft.com/office/drawing/2014/main" id="{B106C63B-D378-4759-AA82-FE8C9173B8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1192" y="702156"/>
            <a:ext cx="11029500" cy="101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t>DESARROLLO</a:t>
            </a:r>
            <a:endParaRPr/>
          </a:p>
        </p:txBody>
      </p:sp>
      <p:sp>
        <p:nvSpPr>
          <p:cNvPr id="419" name="Google Shape;419;g319782968e5_0_123">
            <a:extLst xmlns:a="http://schemas.openxmlformats.org/drawingml/2006/main">
              <a:ext uri="{FF2B5EF4-FFF2-40B4-BE49-F238E27FC236}">
                <a16:creationId xmlns:a16="http://schemas.microsoft.com/office/drawing/2014/main" id="{66B363B7-452F-4E39-9220-1DB95D4B7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3697" y="0"/>
            <a:ext cx="2808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SERVIDOR </a:t>
            </a:r>
            <a:r>
              <a:rPr sz="1200" b="1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CREACIÓN DEL PROYECTO – CLIENTE WEB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0" name="Google Shape;420;g319782968e5_0_123">
            <a:extLst xmlns:a="http://schemas.openxmlformats.org/drawingml/2006/main">
              <a:ext uri="{FF2B5EF4-FFF2-40B4-BE49-F238E27FC236}">
                <a16:creationId xmlns:a16="http://schemas.microsoft.com/office/drawing/2014/main" id="{CDE54F07-9753-41F7-925A-60657A81CC7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81200" y="2523925"/>
            <a:ext cx="2808300" cy="36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457200" lvl="0" indent="-333756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Char char="●"/>
            </a:pPr>
            <a:r>
              <a:rPr>
                <a:latin typeface="Cambria"/>
                <a:ea typeface="Cambria"/>
                <a:cs typeface="Cambria"/>
              </a:rPr>
              <a:t>PANTALLA DE CONVERSIÓN WEB</a:t>
            </a:r>
            <a:endParaRPr>
              <a:latin typeface="Cambria"/>
              <a:ea typeface="Cambria"/>
              <a:cs typeface="Cambria"/>
            </a:endParaRPr>
          </a:p>
          <a:p xmlns:a="http://schemas.openxmlformats.org/drawingml/2006/main">
            <a:pPr marL="457200" lvl="0" indent="-333756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Char char="●"/>
            </a:pPr>
            <a:r>
              <a:rPr>
                <a:latin typeface="Cambria"/>
                <a:ea typeface="Cambria"/>
                <a:cs typeface="Cambria"/>
              </a:rPr>
              <a:t/>
            </a:r>
            <a:endParaRPr>
              <a:latin typeface="Cambria"/>
              <a:ea typeface="Cambria"/>
              <a:cs typeface="Cambria"/>
            </a:endParaRPr>
          </a:p>
          <a:p xmlns:a="http://schemas.openxmlformats.org/drawingml/2006/main">
            <a:pPr marL="457200" lvl="0" indent="-333756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Char char="●"/>
            </a:pPr>
            <a:r>
              <a:rPr>
                <a:latin typeface="Cambria"/>
                <a:ea typeface="Cambria"/>
                <a:cs typeface="Cambria"/>
              </a:rPr>
              <a:t>El usuario selecciona la categoría y las unidades de origen y destino, ingresa el valor y envía la operación al cliente SOAP.</a:t>
            </a:r>
            <a:endParaRPr>
              <a:latin typeface="Cambria"/>
              <a:ea typeface="Cambria"/>
              <a:cs typeface="Cambria"/>
            </a:endParaRPr>
          </a:p>
        </p:txBody>
      </p:sp>
      <p:pic>
        <p:nvPicPr>
          <p:cNvPr id="6" name="image50.png">
            <a:extLst xmlns:a="http://schemas.openxmlformats.org/drawingml/2006/main">
              <a:ext uri="{FF2B5EF4-FFF2-40B4-BE49-F238E27FC236}">
                <a16:creationId xmlns:a16="http://schemas.microsoft.com/office/drawing/2014/main" id="{D92090E1-F64B-4797-A45C-6B3C7F82100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0122d025764f8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86896" y="2718547"/>
            <a:ext cx="5399405" cy="2819400"/>
          </a:xfrm>
          <a:prstGeom xmlns:a="http://schemas.openxmlformats.org/drawingml/2006/main" prst="rect">
            <a:avLst/>
          </a:prstGeom>
        </p:spPr>
      </p:pic>
      <p:sp>
        <p:nvSpPr>
          <p:cNvPr id="421" name="Fondo blanco del contenido S23">
            <a:extLst xmlns:a="http://schemas.openxmlformats.org/drawingml/2006/main">
              <a:ext uri="{FF2B5EF4-FFF2-40B4-BE49-F238E27FC236}">
                <a16:creationId xmlns:a16="http://schemas.microsoft.com/office/drawing/2014/main" id="{D08937AF-4F1A-4523-8922-D64D96738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3821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2" name="Franja superior azul S23">
            <a:extLst xmlns:a="http://schemas.openxmlformats.org/drawingml/2006/main">
              <a:ext uri="{FF2B5EF4-FFF2-40B4-BE49-F238E27FC236}">
                <a16:creationId xmlns:a16="http://schemas.microsoft.com/office/drawing/2014/main" id="{6B08D76A-F0F5-494E-B9BE-179A68DC0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09600"/>
            <a:ext cx="894397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2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3" name="Acento superior 1 S23">
            <a:extLst xmlns:a="http://schemas.openxmlformats.org/drawingml/2006/main">
              <a:ext uri="{FF2B5EF4-FFF2-40B4-BE49-F238E27FC236}">
                <a16:creationId xmlns:a16="http://schemas.microsoft.com/office/drawing/2014/main" id="{03D46EA4-0C3E-4B20-A778-513625981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57200"/>
            <a:ext cx="37052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2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4" name="Acento superior 2 S23">
            <a:extLst xmlns:a="http://schemas.openxmlformats.org/drawingml/2006/main">
              <a:ext uri="{FF2B5EF4-FFF2-40B4-BE49-F238E27FC236}">
                <a16:creationId xmlns:a16="http://schemas.microsoft.com/office/drawing/2014/main" id="{C2EF3113-66FC-4DE6-8EAF-8FEB4F3FB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57200"/>
            <a:ext cx="37052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94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5" name="Acento superior 3 S23">
            <a:extLst xmlns:a="http://schemas.openxmlformats.org/drawingml/2006/main">
              <a:ext uri="{FF2B5EF4-FFF2-40B4-BE49-F238E27FC236}">
                <a16:creationId xmlns:a16="http://schemas.microsoft.com/office/drawing/2014/main" id="{5B170949-9AFA-4A27-AE76-720B400ED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57200"/>
            <a:ext cx="13430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A3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6" name="Título de sección S23">
            <a:extLst xmlns:a="http://schemas.openxmlformats.org/drawingml/2006/main">
              <a:ext uri="{FF2B5EF4-FFF2-40B4-BE49-F238E27FC236}">
                <a16:creationId xmlns:a16="http://schemas.microsoft.com/office/drawing/2014/main" id="{0BDCB881-C54E-4E8D-98F6-353609D62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19175"/>
            <a:ext cx="828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defPPr>
            <a:lvl1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1pPr>
            <a:lvl2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2pPr>
            <a:lvl3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3pPr>
            <a:lvl4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4pPr>
            <a:lvl5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5pPr>
            <a:lvl6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6pPr>
            <a:lvl7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7pPr>
            <a:lvl8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8pPr>
            <a:lvl9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9pPr>
          </a:lstStyle>
          <a:p xmlns:a="http://schemas.openxmlformats.org/drawingml/2006/main">
            <a: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pPr>
            <a:r>
              <a:rPr sz="2798">
                <a:solidFill>
                  <a:srgbClr val="FFFFFF"/>
                </a:solidFill>
                <a:latin typeface="Gill Sans"/>
                <a:ea typeface="Gill Sans"/>
                <a:cs typeface="Gill Sans"/>
              </a:rPr>
              <a:t>DESARROLLO</a:t>
            </a:r>
          </a:p>
        </p:txBody>
      </p:sp>
      <p:sp>
        <p:nvSpPr>
          <p:cNvPr id="427" name="Título del contenido S23">
            <a:extLst xmlns:a="http://schemas.openxmlformats.org/drawingml/2006/main">
              <a:ext uri="{FF2B5EF4-FFF2-40B4-BE49-F238E27FC236}">
                <a16:creationId xmlns:a16="http://schemas.microsoft.com/office/drawing/2014/main" id="{79B794E5-A0B7-43E4-9C80-E187745A0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38350"/>
            <a:ext cx="809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950" b="1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Conversor web</a:t>
            </a:r>
          </a:p>
        </p:txBody>
      </p:sp>
      <p:sp>
        <p:nvSpPr>
          <p:cNvPr id="428" name="Texto del contenido S23">
            <a:extLst xmlns:a="http://schemas.openxmlformats.org/drawingml/2006/main">
              <a:ext uri="{FF2B5EF4-FFF2-40B4-BE49-F238E27FC236}">
                <a16:creationId xmlns:a16="http://schemas.microsoft.com/office/drawing/2014/main" id="{BE2B1544-39EF-4F75-9185-DEADF766B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19375"/>
            <a:ext cx="37147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575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El usuario selecciona categoría y unidades, ingresa el valor y envía la conversión al servicio SOAP.</a:t>
            </a:r>
          </a:p>
        </p:txBody>
      </p:sp>
      <p:sp>
        <p:nvSpPr>
          <p:cNvPr id="429" name="Marcador imagen S23">
            <a:extLst xmlns:a="http://schemas.openxmlformats.org/drawingml/2006/main">
              <a:ext uri="{FF2B5EF4-FFF2-40B4-BE49-F238E27FC236}">
                <a16:creationId xmlns:a16="http://schemas.microsoft.com/office/drawing/2014/main" id="{55452C2D-72CC-4B84-98F9-5C344CBC1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571750"/>
            <a:ext cx="42862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8"/>
          </a:solidFill>
          <a:ln xmlns:a="http://schemas.openxmlformats.org/drawingml/2006/main" w="14288">
            <a:solidFill>
              <a:srgbClr val="73839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defPPr>
            <a:lvl1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1pPr>
            <a:lvl2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2pPr>
            <a:lvl3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3pPr>
            <a:lvl4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4pPr>
            <a:lvl5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5pPr>
            <a:lvl6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6pPr>
            <a:lvl7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7pPr>
            <a:lvl8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8pPr>
            <a:lvl9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pPr>
            <a:r>
              <a: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rPr>
              <a:t>CAPTURA PENDIENTE</a:t>
            </a:r>
          </a:p>
          <a:p xmlns:a="http://schemas.openxmlformats.org/drawingml/2006/main">
            <a: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pPr>
            <a:r>
              <a: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rPr>
              <a:t>Página conversor.jsp con categoría, unidades y respuesta real</a:t>
            </a:r>
          </a:p>
        </p:txBody>
      </p:sp>
    </p:spTree>
    <p:extLst>
      <p:ext uri="{BB962C8B-B14F-4D97-AF65-F5344CB8AC3E}">
        <p14:creationId xmlns:p14="http://schemas.microsoft.com/office/powerpoint/2010/main" val="1021919969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6" name="Google Shape;426;p37">
            <a:extLst xmlns:a="http://schemas.openxmlformats.org/drawingml/2006/main">
              <a:ext uri="{FF2B5EF4-FFF2-40B4-BE49-F238E27FC236}">
                <a16:creationId xmlns:a16="http://schemas.microsoft.com/office/drawing/2014/main" id="{20B74DBD-D60C-4178-901E-1FA3ADE23D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1192" y="702156"/>
            <a:ext cx="11029616" cy="1013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t>DESARROLLO</a:t>
            </a:r>
            <a:endParaRPr/>
          </a:p>
        </p:txBody>
      </p:sp>
      <p:sp>
        <p:nvSpPr>
          <p:cNvPr id="427" name="Google Shape;427;p37">
            <a:extLst xmlns:a="http://schemas.openxmlformats.org/drawingml/2006/main">
              <a:ext uri="{FF2B5EF4-FFF2-40B4-BE49-F238E27FC236}">
                <a16:creationId xmlns:a16="http://schemas.microsoft.com/office/drawing/2014/main" id="{F100B0FA-0D45-4CBF-9B86-20BC4457A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3697" y="0"/>
            <a:ext cx="2808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SERVIDOR </a:t>
            </a:r>
            <a:r>
              <a:rPr sz="1200" b="1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CREACIÓN DEL PROYECTO – CLIENTE MOVIL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8" name="Google Shape;428;p37">
            <a:extLst xmlns:a="http://schemas.openxmlformats.org/drawingml/2006/main">
              <a:ext uri="{FF2B5EF4-FFF2-40B4-BE49-F238E27FC236}">
                <a16:creationId xmlns:a16="http://schemas.microsoft.com/office/drawing/2014/main" id="{46213C4F-350F-4EF1-BD18-CB7BCC4B0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75" y="1921878"/>
            <a:ext cx="8576700" cy="73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1800" b="1" i="0" u="none" strike="noStrike" cap="none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1.6 	CREACIÓN DEL PROYECTO – CLIENTE MÓVIL</a:t>
            </a:r>
            <a:br>
              <a:rPr sz="1800" b="1" i="0" u="none" strike="noStrike" cap="none">
                <a:solidFill>
                  <a:srgbClr val="3D3D3D"/>
                </a:solidFill>
                <a:latin typeface="Cambria"/>
                <a:ea typeface="Cambria"/>
                <a:cs typeface="Cambria"/>
              </a:rPr>
            </a:br>
            <a:endParaRPr sz="1800" b="0" i="0" u="none" strike="noStrike" cap="none">
              <a:solidFill>
                <a:srgbClr val="3D3D3D"/>
              </a:solidFill>
              <a:latin typeface="Gill Sans"/>
              <a:ea typeface="Gill Sans"/>
              <a:cs typeface="Gill Sans"/>
            </a:endParaRPr>
          </a:p>
        </p:txBody>
      </p:sp>
      <p:sp>
        <p:nvSpPr>
          <p:cNvPr id="429" name="Google Shape;429;p37">
            <a:extLst xmlns:a="http://schemas.openxmlformats.org/drawingml/2006/main">
              <a:ext uri="{FF2B5EF4-FFF2-40B4-BE49-F238E27FC236}">
                <a16:creationId xmlns:a16="http://schemas.microsoft.com/office/drawing/2014/main" id="{B8D43190-4105-4D0E-BFA9-9E3272D6684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81200" y="2253923"/>
            <a:ext cx="4178100" cy="321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r>
              <a:t>CLIENTE ANDROID EN JAVA</a:t>
            </a:r>
            <a:endParaRPr sz="1564" b="1">
              <a:latin typeface="Cambria"/>
              <a:ea typeface="Cambria"/>
              <a:cs typeface="Cambria"/>
            </a:endParaRP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564" b="1">
                <a:latin typeface="Cambria"/>
                <a:ea typeface="Cambria"/>
                <a:cs typeface="Cambria"/>
              </a:rPr>
              <a:t/>
            </a:r>
            <a:endParaRPr sz="1564" b="1">
              <a:latin typeface="Cambria"/>
              <a:ea typeface="Cambria"/>
              <a:cs typeface="Cambria"/>
            </a:endParaRP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564">
                <a:latin typeface="Cambria"/>
                <a:ea typeface="Cambria"/>
                <a:cs typeface="Cambria"/>
              </a:rPr>
              <a:t>La aplicación usa Android Studio, Gradle y Java 21. El proyecto configura compileSdk 35 y minSdk 26. Android no incluye JAX-WS, por eso el cliente construye y procesa SOAP 1.1 directamente.</a:t>
            </a:r>
            <a:endParaRPr sz="1564">
              <a:latin typeface="Cambria"/>
              <a:ea typeface="Cambria"/>
              <a:cs typeface="Cambria"/>
            </a:endParaRPr>
          </a:p>
        </p:txBody>
      </p:sp>
      <p:pic>
        <p:nvPicPr>
          <p:cNvPr id="430" name="Google Shape;430;p37">
            <a:extLst xmlns:a="http://schemas.openxmlformats.org/drawingml/2006/main">
              <a:ext uri="{FF2B5EF4-FFF2-40B4-BE49-F238E27FC236}">
                <a16:creationId xmlns:a16="http://schemas.microsoft.com/office/drawing/2014/main" id="{B067F5EB-C4AF-4FCC-9541-715C63F9E5D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a758a5aca38497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418749" y="2402189"/>
            <a:ext cx="1606875" cy="16918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31" name="Google Shape;431;p37">
            <a:extLst xmlns:a="http://schemas.openxmlformats.org/drawingml/2006/main">
              <a:ext uri="{FF2B5EF4-FFF2-40B4-BE49-F238E27FC236}">
                <a16:creationId xmlns:a16="http://schemas.microsoft.com/office/drawing/2014/main" id="{FCA9D2A6-8662-4F9D-9234-6291A439354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3a29f16ad0141ca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410937" y="4209124"/>
            <a:ext cx="3622500" cy="19178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32" name="Google Shape;432;p37">
            <a:extLst xmlns:a="http://schemas.openxmlformats.org/drawingml/2006/main">
              <a:ext uri="{FF2B5EF4-FFF2-40B4-BE49-F238E27FC236}">
                <a16:creationId xmlns:a16="http://schemas.microsoft.com/office/drawing/2014/main" id="{F05434CA-1F8C-4763-A6C8-A0A527CCD3A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95a486ccf2a44c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04275" y="5528800"/>
            <a:ext cx="4335775" cy="599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33" name="Fondo blanco del contenido S24">
            <a:extLst xmlns:a="http://schemas.openxmlformats.org/drawingml/2006/main">
              <a:ext uri="{FF2B5EF4-FFF2-40B4-BE49-F238E27FC236}">
                <a16:creationId xmlns:a16="http://schemas.microsoft.com/office/drawing/2014/main" id="{8AAD1CBB-272B-4CC8-B363-A9117DAAA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3821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4" name="Franja superior azul S24">
            <a:extLst xmlns:a="http://schemas.openxmlformats.org/drawingml/2006/main">
              <a:ext uri="{FF2B5EF4-FFF2-40B4-BE49-F238E27FC236}">
                <a16:creationId xmlns:a16="http://schemas.microsoft.com/office/drawing/2014/main" id="{AF56F0A7-986E-4D23-8CCF-81CAEAD3C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09600"/>
            <a:ext cx="894397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2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5" name="Acento superior 1 S24">
            <a:extLst xmlns:a="http://schemas.openxmlformats.org/drawingml/2006/main">
              <a:ext uri="{FF2B5EF4-FFF2-40B4-BE49-F238E27FC236}">
                <a16:creationId xmlns:a16="http://schemas.microsoft.com/office/drawing/2014/main" id="{46C110C0-3A6B-47E7-9A9D-B992837C0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57200"/>
            <a:ext cx="37052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2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6" name="Acento superior 2 S24">
            <a:extLst xmlns:a="http://schemas.openxmlformats.org/drawingml/2006/main">
              <a:ext uri="{FF2B5EF4-FFF2-40B4-BE49-F238E27FC236}">
                <a16:creationId xmlns:a16="http://schemas.microsoft.com/office/drawing/2014/main" id="{24B3DB4D-B729-4AD2-93BE-82E364084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57200"/>
            <a:ext cx="37052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94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7" name="Acento superior 3 S24">
            <a:extLst xmlns:a="http://schemas.openxmlformats.org/drawingml/2006/main">
              <a:ext uri="{FF2B5EF4-FFF2-40B4-BE49-F238E27FC236}">
                <a16:creationId xmlns:a16="http://schemas.microsoft.com/office/drawing/2014/main" id="{17DF7B68-A40E-4A03-8865-17EB7D618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57200"/>
            <a:ext cx="13430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A3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8" name="Título de sección S24">
            <a:extLst xmlns:a="http://schemas.openxmlformats.org/drawingml/2006/main">
              <a:ext uri="{FF2B5EF4-FFF2-40B4-BE49-F238E27FC236}">
                <a16:creationId xmlns:a16="http://schemas.microsoft.com/office/drawing/2014/main" id="{F1E10FFF-13CC-429F-B249-F15309F5D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19175"/>
            <a:ext cx="828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defPPr>
            <a:lvl1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1pPr>
            <a:lvl2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2pPr>
            <a:lvl3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3pPr>
            <a:lvl4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4pPr>
            <a:lvl5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5pPr>
            <a:lvl6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6pPr>
            <a:lvl7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7pPr>
            <a:lvl8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8pPr>
            <a:lvl9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9pPr>
          </a:lstStyle>
          <a:p xmlns:a="http://schemas.openxmlformats.org/drawingml/2006/main">
            <a: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pPr>
            <a:r>
              <a:rPr sz="2798">
                <a:solidFill>
                  <a:srgbClr val="FFFFFF"/>
                </a:solidFill>
                <a:latin typeface="Gill Sans"/>
                <a:ea typeface="Gill Sans"/>
                <a:cs typeface="Gill Sans"/>
              </a:rPr>
              <a:t>DESARROLLO</a:t>
            </a:r>
          </a:p>
        </p:txBody>
      </p:sp>
      <p:sp>
        <p:nvSpPr>
          <p:cNvPr id="439" name="Título del contenido S24">
            <a:extLst xmlns:a="http://schemas.openxmlformats.org/drawingml/2006/main">
              <a:ext uri="{FF2B5EF4-FFF2-40B4-BE49-F238E27FC236}">
                <a16:creationId xmlns:a16="http://schemas.microsoft.com/office/drawing/2014/main" id="{062F9DEA-DD14-4465-9417-CD29B94E1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38350"/>
            <a:ext cx="809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950" b="1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Aplicación Android en Java</a:t>
            </a:r>
          </a:p>
        </p:txBody>
      </p:sp>
      <p:sp>
        <p:nvSpPr>
          <p:cNvPr id="440" name="Texto del contenido S24">
            <a:extLst xmlns:a="http://schemas.openxmlformats.org/drawingml/2006/main">
              <a:ext uri="{FF2B5EF4-FFF2-40B4-BE49-F238E27FC236}">
                <a16:creationId xmlns:a16="http://schemas.microsoft.com/office/drawing/2014/main" id="{D888977A-2A6C-450F-947A-861C8FF7A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19375"/>
            <a:ext cx="37147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575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El cliente usa Android Studio, Gradle y Java. Configura compileSdk 35 y minSdk 26, y procesa SOAP 1.1 sin JAX-WS.</a:t>
            </a:r>
          </a:p>
        </p:txBody>
      </p:sp>
      <p:sp>
        <p:nvSpPr>
          <p:cNvPr id="441" name="Marcador imagen S24">
            <a:extLst xmlns:a="http://schemas.openxmlformats.org/drawingml/2006/main">
              <a:ext uri="{FF2B5EF4-FFF2-40B4-BE49-F238E27FC236}">
                <a16:creationId xmlns:a16="http://schemas.microsoft.com/office/drawing/2014/main" id="{715F4679-B35F-4B8C-A16A-310001D62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571750"/>
            <a:ext cx="42862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8"/>
          </a:solidFill>
          <a:ln xmlns:a="http://schemas.openxmlformats.org/drawingml/2006/main" w="14288">
            <a:solidFill>
              <a:srgbClr val="73839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defPPr>
            <a:lvl1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1pPr>
            <a:lvl2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2pPr>
            <a:lvl3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3pPr>
            <a:lvl4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4pPr>
            <a:lvl5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5pPr>
            <a:lvl6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6pPr>
            <a:lvl7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7pPr>
            <a:lvl8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8pPr>
            <a:lvl9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pPr>
            <a:r>
              <a: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rPr>
              <a:t>CAPTURA PENDIENTE</a:t>
            </a:r>
          </a:p>
          <a:p xmlns:a="http://schemas.openxmlformats.org/drawingml/2006/main">
            <a: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pPr>
            <a:r>
              <a: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rPr>
              <a:t>Proyecto Android en Android Studio y configuración Gradle para Java</a:t>
            </a:r>
          </a:p>
        </p:txBody>
      </p:sp>
    </p:spTree>
    <p:extLst>
      <p:ext uri="{BB962C8B-B14F-4D97-AF65-F5344CB8AC3E}">
        <p14:creationId xmlns:p14="http://schemas.microsoft.com/office/powerpoint/2010/main" val="1640911689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7" name="Google Shape;437;g2d624313899_0_157">
            <a:extLst xmlns:a="http://schemas.openxmlformats.org/drawingml/2006/main">
              <a:ext uri="{FF2B5EF4-FFF2-40B4-BE49-F238E27FC236}">
                <a16:creationId xmlns:a16="http://schemas.microsoft.com/office/drawing/2014/main" id="{97E13A9E-E94E-4A69-A920-FEDB5A14B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1192" y="702156"/>
            <a:ext cx="11029500" cy="101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t>DESARROLLO</a:t>
            </a:r>
            <a:endParaRPr/>
          </a:p>
        </p:txBody>
      </p:sp>
      <p:sp>
        <p:nvSpPr>
          <p:cNvPr id="438" name="Google Shape;438;g2d624313899_0_157">
            <a:extLst xmlns:a="http://schemas.openxmlformats.org/drawingml/2006/main">
              <a:ext uri="{FF2B5EF4-FFF2-40B4-BE49-F238E27FC236}">
                <a16:creationId xmlns:a16="http://schemas.microsoft.com/office/drawing/2014/main" id="{A711369F-8A55-4163-8D0F-FE102980B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3697" y="0"/>
            <a:ext cx="2808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SERVIDOR </a:t>
            </a:r>
            <a:r>
              <a:rPr sz="1200" b="1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CREACIÓN DEL PROYECTO – CLIENTE MOVIL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9" name="Google Shape;439;g2d624313899_0_157">
            <a:extLst xmlns:a="http://schemas.openxmlformats.org/drawingml/2006/main">
              <a:ext uri="{FF2B5EF4-FFF2-40B4-BE49-F238E27FC236}">
                <a16:creationId xmlns:a16="http://schemas.microsoft.com/office/drawing/2014/main" id="{BBD1BFED-EFD3-4DA1-B96E-572E7F3EA94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81200" y="2253925"/>
            <a:ext cx="3644100" cy="348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14467"/>
              <a:buNone/>
            </a:pPr>
            <a:r>
              <a:rPr sz="1564" b="1">
                <a:latin typeface="Cambria"/>
                <a:ea typeface="Cambria"/>
                <a:cs typeface="Cambria"/>
              </a:rPr>
              <a:t>ESTRUCTURA MVC</a:t>
            </a: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14467"/>
              <a:buNone/>
            </a:pPr>
            <a:r>
              <a:rPr sz="1564">
                <a:latin typeface="Cambria"/>
                <a:ea typeface="Cambria"/>
                <a:cs typeface="Cambria"/>
              </a:rPr>
              <a:t/>
            </a:r>
            <a:endParaRPr sz="1564">
              <a:latin typeface="Cambria"/>
              <a:ea typeface="Cambria"/>
              <a:cs typeface="Cambria"/>
            </a:endParaRP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14467"/>
              <a:buNone/>
            </a:pPr>
            <a:r>
              <a:rPr sz="1564">
                <a:latin typeface="Cambria"/>
                <a:ea typeface="Cambria"/>
                <a:cs typeface="Cambria"/>
              </a:rPr>
              <a:t>El modelo mantiene sesión, opciones de catálogo y respuestas. Las vistas usan LoginActivity y ConversionesActivity. Los controladores gestionan acceso, recuperación de clave y conversiones.</a:t>
            </a:r>
            <a:endParaRPr sz="1564">
              <a:latin typeface="Cambria"/>
              <a:ea typeface="Cambria"/>
              <a:cs typeface="Cambria"/>
            </a:endParaRPr>
          </a:p>
        </p:txBody>
      </p:sp>
      <p:pic>
        <p:nvPicPr>
          <p:cNvPr id="6" name="image39.png">
            <a:extLst xmlns:a="http://schemas.openxmlformats.org/drawingml/2006/main">
              <a:ext uri="{FF2B5EF4-FFF2-40B4-BE49-F238E27FC236}">
                <a16:creationId xmlns:a16="http://schemas.microsoft.com/office/drawing/2014/main" id="{8C93D2F4-EDB8-4AE4-8D91-49BA218E53F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793a3836ef457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41537" y="2559253"/>
            <a:ext cx="3225165" cy="3159760"/>
          </a:xfrm>
          <a:prstGeom xmlns:a="http://schemas.openxmlformats.org/drawingml/2006/main" prst="rect">
            <a:avLst/>
          </a:prstGeom>
        </p:spPr>
      </p:pic>
      <p:sp>
        <p:nvSpPr>
          <p:cNvPr id="440" name="Fondo blanco del contenido S25">
            <a:extLst xmlns:a="http://schemas.openxmlformats.org/drawingml/2006/main">
              <a:ext uri="{FF2B5EF4-FFF2-40B4-BE49-F238E27FC236}">
                <a16:creationId xmlns:a16="http://schemas.microsoft.com/office/drawing/2014/main" id="{4D6C8F5D-C850-45DE-84BD-E1D8E4610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3821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1" name="Franja superior azul S25">
            <a:extLst xmlns:a="http://schemas.openxmlformats.org/drawingml/2006/main">
              <a:ext uri="{FF2B5EF4-FFF2-40B4-BE49-F238E27FC236}">
                <a16:creationId xmlns:a16="http://schemas.microsoft.com/office/drawing/2014/main" id="{CC5FC4A9-80F4-4A60-8370-B9315BA5C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09600"/>
            <a:ext cx="894397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2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2" name="Acento superior 1 S25">
            <a:extLst xmlns:a="http://schemas.openxmlformats.org/drawingml/2006/main">
              <a:ext uri="{FF2B5EF4-FFF2-40B4-BE49-F238E27FC236}">
                <a16:creationId xmlns:a16="http://schemas.microsoft.com/office/drawing/2014/main" id="{61875E91-B130-4570-A7F0-643E87D27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57200"/>
            <a:ext cx="37052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2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3" name="Acento superior 2 S25">
            <a:extLst xmlns:a="http://schemas.openxmlformats.org/drawingml/2006/main">
              <a:ext uri="{FF2B5EF4-FFF2-40B4-BE49-F238E27FC236}">
                <a16:creationId xmlns:a16="http://schemas.microsoft.com/office/drawing/2014/main" id="{FAAFC002-C7FD-4302-8788-299E8A360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57200"/>
            <a:ext cx="37052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94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4" name="Acento superior 3 S25">
            <a:extLst xmlns:a="http://schemas.openxmlformats.org/drawingml/2006/main">
              <a:ext uri="{FF2B5EF4-FFF2-40B4-BE49-F238E27FC236}">
                <a16:creationId xmlns:a16="http://schemas.microsoft.com/office/drawing/2014/main" id="{F02B3237-D721-445A-A2CE-6911459D9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57200"/>
            <a:ext cx="13430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A3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5" name="Título de sección S25">
            <a:extLst xmlns:a="http://schemas.openxmlformats.org/drawingml/2006/main">
              <a:ext uri="{FF2B5EF4-FFF2-40B4-BE49-F238E27FC236}">
                <a16:creationId xmlns:a16="http://schemas.microsoft.com/office/drawing/2014/main" id="{9202EAD8-21A1-4D40-9DF6-BB0082D48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19175"/>
            <a:ext cx="828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defPPr>
            <a:lvl1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1pPr>
            <a:lvl2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2pPr>
            <a:lvl3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3pPr>
            <a:lvl4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4pPr>
            <a:lvl5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5pPr>
            <a:lvl6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6pPr>
            <a:lvl7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7pPr>
            <a:lvl8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8pPr>
            <a:lvl9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9pPr>
          </a:lstStyle>
          <a:p xmlns:a="http://schemas.openxmlformats.org/drawingml/2006/main">
            <a: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pPr>
            <a:r>
              <a:rPr sz="2798">
                <a:solidFill>
                  <a:srgbClr val="FFFFFF"/>
                </a:solidFill>
                <a:latin typeface="Gill Sans"/>
                <a:ea typeface="Gill Sans"/>
                <a:cs typeface="Gill Sans"/>
              </a:rPr>
              <a:t>DESARROLLO</a:t>
            </a:r>
          </a:p>
        </p:txBody>
      </p:sp>
      <p:sp>
        <p:nvSpPr>
          <p:cNvPr id="446" name="Título del contenido S25">
            <a:extLst xmlns:a="http://schemas.openxmlformats.org/drawingml/2006/main">
              <a:ext uri="{FF2B5EF4-FFF2-40B4-BE49-F238E27FC236}">
                <a16:creationId xmlns:a16="http://schemas.microsoft.com/office/drawing/2014/main" id="{33B885D6-0964-4F60-B871-681AB08C9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38350"/>
            <a:ext cx="809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950" b="1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MVC en Android</a:t>
            </a:r>
          </a:p>
        </p:txBody>
      </p:sp>
      <p:sp>
        <p:nvSpPr>
          <p:cNvPr id="447" name="Texto del contenido S25">
            <a:extLst xmlns:a="http://schemas.openxmlformats.org/drawingml/2006/main">
              <a:ext uri="{FF2B5EF4-FFF2-40B4-BE49-F238E27FC236}">
                <a16:creationId xmlns:a16="http://schemas.microsoft.com/office/drawing/2014/main" id="{7DC4677D-4F3C-4637-A507-A0E20EE78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19375"/>
            <a:ext cx="37147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575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El modelo contiene sesión y respuestas. Las Activities presentan las vistas; los controladores coordinan acceso, catálogo y conversiones.</a:t>
            </a:r>
          </a:p>
        </p:txBody>
      </p:sp>
      <p:sp>
        <p:nvSpPr>
          <p:cNvPr id="448" name="Marcador imagen S25">
            <a:extLst xmlns:a="http://schemas.openxmlformats.org/drawingml/2006/main">
              <a:ext uri="{FF2B5EF4-FFF2-40B4-BE49-F238E27FC236}">
                <a16:creationId xmlns:a16="http://schemas.microsoft.com/office/drawing/2014/main" id="{64C87309-146F-4CB6-8290-B5F951CAF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571750"/>
            <a:ext cx="42862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8"/>
          </a:solidFill>
          <a:ln xmlns:a="http://schemas.openxmlformats.org/drawingml/2006/main" w="14288">
            <a:solidFill>
              <a:srgbClr val="73839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defPPr>
            <a:lvl1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1pPr>
            <a:lvl2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2pPr>
            <a:lvl3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3pPr>
            <a:lvl4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4pPr>
            <a:lvl5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5pPr>
            <a:lvl6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6pPr>
            <a:lvl7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7pPr>
            <a:lvl8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8pPr>
            <a:lvl9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pPr>
            <a:r>
              <a: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rPr>
              <a:t>CAPTURA PENDIENTE</a:t>
            </a:r>
          </a:p>
          <a:p xmlns:a="http://schemas.openxmlformats.org/drawingml/2006/main">
            <a: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pPr>
            <a:r>
              <a: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rPr>
              <a:t>Paquetes de Android, Activities y layouts de la interfaz</a:t>
            </a:r>
          </a:p>
        </p:txBody>
      </p:sp>
    </p:spTree>
    <p:extLst>
      <p:ext uri="{BB962C8B-B14F-4D97-AF65-F5344CB8AC3E}">
        <p14:creationId xmlns:p14="http://schemas.microsoft.com/office/powerpoint/2010/main" val="279380378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5" name="Google Shape;445;g2d624313899_0_172">
            <a:extLst xmlns:a="http://schemas.openxmlformats.org/drawingml/2006/main">
              <a:ext uri="{FF2B5EF4-FFF2-40B4-BE49-F238E27FC236}">
                <a16:creationId xmlns:a16="http://schemas.microsoft.com/office/drawing/2014/main" id="{69E8BA5B-F8D5-439A-8FCA-0F15B30596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1192" y="702156"/>
            <a:ext cx="11029500" cy="101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t>DESARROLLO</a:t>
            </a:r>
            <a:endParaRPr/>
          </a:p>
        </p:txBody>
      </p:sp>
      <p:sp>
        <p:nvSpPr>
          <p:cNvPr id="446" name="Google Shape;446;g2d624313899_0_172">
            <a:extLst xmlns:a="http://schemas.openxmlformats.org/drawingml/2006/main">
              <a:ext uri="{FF2B5EF4-FFF2-40B4-BE49-F238E27FC236}">
                <a16:creationId xmlns:a16="http://schemas.microsoft.com/office/drawing/2014/main" id="{2E9E6797-8BB8-47D4-B50D-F423DED0E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3697" y="0"/>
            <a:ext cx="2808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SERVIDOR </a:t>
            </a:r>
            <a:r>
              <a:rPr sz="1200" b="1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CREACIÓN DEL PROYECTO – CLIENTE MOVIL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47" name="Google Shape;447;g2d624313899_0_172">
            <a:extLst xmlns:a="http://schemas.openxmlformats.org/drawingml/2006/main">
              <a:ext uri="{FF2B5EF4-FFF2-40B4-BE49-F238E27FC236}">
                <a16:creationId xmlns:a16="http://schemas.microsoft.com/office/drawing/2014/main" id="{3C9B328F-5313-4CD7-B89C-BF34A7E9545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91075" y="1294250"/>
            <a:ext cx="3888600" cy="321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r>
              <a:t>SERVICIO SOAP</a:t>
            </a:r>
            <a:endParaRPr sz="1564" b="1">
              <a:latin typeface="Cambria"/>
              <a:ea typeface="Cambria"/>
              <a:cs typeface="Cambria"/>
            </a:endParaRP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r>
              <a:rPr sz="1564" b="1">
                <a:latin typeface="Cambria"/>
                <a:ea typeface="Cambria"/>
                <a:cs typeface="Cambria"/>
              </a:rPr>
              <a:t>ClienteSoap arma el sobre SOAP 1.1, envía la solicitud con HttpURLConnection y procesa el XML con DOM, de acuerdo con el WSDL del servidor.</a:t>
            </a:r>
            <a:endParaRPr sz="1564" b="1">
              <a:latin typeface="Cambria"/>
              <a:ea typeface="Cambria"/>
              <a:cs typeface="Cambria"/>
            </a:endParaRPr>
          </a:p>
        </p:txBody>
      </p:sp>
      <p:sp>
        <p:nvSpPr>
          <p:cNvPr id="448" name="Google Shape;448;g2d624313899_0_172">
            <a:extLst xmlns:a="http://schemas.openxmlformats.org/drawingml/2006/main">
              <a:ext uri="{FF2B5EF4-FFF2-40B4-BE49-F238E27FC236}">
                <a16:creationId xmlns:a16="http://schemas.microsoft.com/office/drawing/2014/main" id="{BC59B9EF-BFD2-4C0A-9B38-F4C9C4587610}"/>
              </a:ext>
            </a:extLst>
          </p:cNvPr>
          <p:cNvSpPr>
            <a:spLocks xmlns:a="http://schemas.openxmlformats.org/drawingml/2006/main" noGrp="1"/>
          </p:cNvSpPr>
          <p:nvPr>
            <p:ph type="body" idx="9999"/>
          </p:nvPr>
        </p:nvSpPr>
        <p:spPr>
          <a:xfrm xmlns:a="http://schemas.openxmlformats.org/drawingml/2006/main">
            <a:off x="4698075" y="1376600"/>
            <a:ext cx="3888600" cy="321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r>
              <a:t>EJECUCIÓN ASÍNCRONA</a:t>
            </a:r>
            <a:endParaRPr sz="1564" b="1">
              <a:latin typeface="Cambria"/>
              <a:ea typeface="Cambria"/>
              <a:cs typeface="Cambria"/>
            </a:endParaRP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564" b="1">
                <a:latin typeface="Cambria"/>
                <a:ea typeface="Cambria"/>
                <a:cs typeface="Cambria"/>
              </a:rPr>
              <a:t>EjecutorAndroid realiza las llamadas de red en segundo plano. Las vistas reciben el resultado mediante las interfaces que implementan los controladores.</a:t>
            </a:r>
            <a:endParaRPr sz="1564" b="1">
              <a:latin typeface="Cambria"/>
              <a:ea typeface="Cambria"/>
              <a:cs typeface="Cambria"/>
            </a:endParaRPr>
          </a:p>
        </p:txBody>
      </p:sp>
      <p:pic>
        <p:nvPicPr>
          <p:cNvPr id="3" name="Imagen 2">
            <a:extLst xmlns:a="http://schemas.openxmlformats.org/drawingml/2006/main">
              <a:ext uri="{FF2B5EF4-FFF2-40B4-BE49-F238E27FC236}">
                <a16:creationId xmlns:a16="http://schemas.microsoft.com/office/drawing/2014/main" id="{026E7E5E-BEE8-44FD-BEC0-ACBA043826F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9977e7c95043e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1075" y="3711388"/>
            <a:ext cx="3478914" cy="2259718"/>
          </a:xfrm>
          <a:prstGeom xmlns:a="http://schemas.openxmlformats.org/drawingml/2006/main" prst="rect">
            <a:avLst/>
          </a:prstGeom>
        </p:spPr>
      </p:pic>
      <p:pic>
        <p:nvPicPr>
          <p:cNvPr id="7" name="Imagen 6">
            <a:extLst xmlns:a="http://schemas.openxmlformats.org/drawingml/2006/main">
              <a:ext uri="{FF2B5EF4-FFF2-40B4-BE49-F238E27FC236}">
                <a16:creationId xmlns:a16="http://schemas.microsoft.com/office/drawing/2014/main" id="{8349009D-AD21-4289-8BC9-4A4A34042A6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6e6eed2ccc4fe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80331" y="3429000"/>
            <a:ext cx="3802710" cy="2848362"/>
          </a:xfrm>
          <a:prstGeom xmlns:a="http://schemas.openxmlformats.org/drawingml/2006/main" prst="rect">
            <a:avLst/>
          </a:prstGeom>
        </p:spPr>
      </p:pic>
      <p:sp>
        <p:nvSpPr>
          <p:cNvPr id="449" name="Fondo blanco del contenido S26">
            <a:extLst xmlns:a="http://schemas.openxmlformats.org/drawingml/2006/main">
              <a:ext uri="{FF2B5EF4-FFF2-40B4-BE49-F238E27FC236}">
                <a16:creationId xmlns:a16="http://schemas.microsoft.com/office/drawing/2014/main" id="{D971DC92-B8DC-4031-B20C-58FDF04B9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3821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0" name="Franja superior azul S26">
            <a:extLst xmlns:a="http://schemas.openxmlformats.org/drawingml/2006/main">
              <a:ext uri="{FF2B5EF4-FFF2-40B4-BE49-F238E27FC236}">
                <a16:creationId xmlns:a16="http://schemas.microsoft.com/office/drawing/2014/main" id="{49C14951-6456-42BC-B3FD-775AA79B1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09600"/>
            <a:ext cx="894397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2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1" name="Acento superior 1 S26">
            <a:extLst xmlns:a="http://schemas.openxmlformats.org/drawingml/2006/main">
              <a:ext uri="{FF2B5EF4-FFF2-40B4-BE49-F238E27FC236}">
                <a16:creationId xmlns:a16="http://schemas.microsoft.com/office/drawing/2014/main" id="{DD5859FA-BAAD-4CA9-908C-C31A2C22F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57200"/>
            <a:ext cx="37052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2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2" name="Acento superior 2 S26">
            <a:extLst xmlns:a="http://schemas.openxmlformats.org/drawingml/2006/main">
              <a:ext uri="{FF2B5EF4-FFF2-40B4-BE49-F238E27FC236}">
                <a16:creationId xmlns:a16="http://schemas.microsoft.com/office/drawing/2014/main" id="{B44B3B89-C150-49FE-82DB-5B9527E57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57200"/>
            <a:ext cx="37052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94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3" name="Acento superior 3 S26">
            <a:extLst xmlns:a="http://schemas.openxmlformats.org/drawingml/2006/main">
              <a:ext uri="{FF2B5EF4-FFF2-40B4-BE49-F238E27FC236}">
                <a16:creationId xmlns:a16="http://schemas.microsoft.com/office/drawing/2014/main" id="{8CD2E941-4D9A-423C-B53E-E2547F6C9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57200"/>
            <a:ext cx="13430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A3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4" name="Título de sección S26">
            <a:extLst xmlns:a="http://schemas.openxmlformats.org/drawingml/2006/main">
              <a:ext uri="{FF2B5EF4-FFF2-40B4-BE49-F238E27FC236}">
                <a16:creationId xmlns:a16="http://schemas.microsoft.com/office/drawing/2014/main" id="{BE158337-47F4-43DE-815A-F1FE43558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19175"/>
            <a:ext cx="828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defPPr>
            <a:lvl1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1pPr>
            <a:lvl2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2pPr>
            <a:lvl3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3pPr>
            <a:lvl4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4pPr>
            <a:lvl5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5pPr>
            <a:lvl6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6pPr>
            <a:lvl7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7pPr>
            <a:lvl8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8pPr>
            <a:lvl9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9pPr>
          </a:lstStyle>
          <a:p xmlns:a="http://schemas.openxmlformats.org/drawingml/2006/main">
            <a: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pPr>
            <a:r>
              <a:rPr sz="2798">
                <a:solidFill>
                  <a:srgbClr val="FFFFFF"/>
                </a:solidFill>
                <a:latin typeface="Gill Sans"/>
                <a:ea typeface="Gill Sans"/>
                <a:cs typeface="Gill Sans"/>
              </a:rPr>
              <a:t>DESARROLLO</a:t>
            </a:r>
          </a:p>
        </p:txBody>
      </p:sp>
      <p:sp>
        <p:nvSpPr>
          <p:cNvPr id="455" name="Título del contenido S26">
            <a:extLst xmlns:a="http://schemas.openxmlformats.org/drawingml/2006/main">
              <a:ext uri="{FF2B5EF4-FFF2-40B4-BE49-F238E27FC236}">
                <a16:creationId xmlns:a16="http://schemas.microsoft.com/office/drawing/2014/main" id="{9A76324D-3B57-4E4D-AB20-6DD0AAACD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38350"/>
            <a:ext cx="809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950" b="1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Cliente SOAP para Android</a:t>
            </a:r>
          </a:p>
        </p:txBody>
      </p:sp>
      <p:sp>
        <p:nvSpPr>
          <p:cNvPr id="456" name="Texto del contenido S26">
            <a:extLst xmlns:a="http://schemas.openxmlformats.org/drawingml/2006/main">
              <a:ext uri="{FF2B5EF4-FFF2-40B4-BE49-F238E27FC236}">
                <a16:creationId xmlns:a16="http://schemas.microsoft.com/office/drawing/2014/main" id="{50725EFB-17BE-494F-AD97-D16F71C14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19375"/>
            <a:ext cx="37147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575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ClienteSoap construye el sobre SOAP 1.1, envía HTTP y lee XML con DOM. EjecutorAndroid realiza las llamadas fuera del hilo de interfaz.</a:t>
            </a:r>
          </a:p>
        </p:txBody>
      </p:sp>
      <p:sp>
        <p:nvSpPr>
          <p:cNvPr id="457" name="Marcador imagen S26">
            <a:extLst xmlns:a="http://schemas.openxmlformats.org/drawingml/2006/main">
              <a:ext uri="{FF2B5EF4-FFF2-40B4-BE49-F238E27FC236}">
                <a16:creationId xmlns:a16="http://schemas.microsoft.com/office/drawing/2014/main" id="{ADDD61EA-5CBA-49A6-A135-9E830B80C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571750"/>
            <a:ext cx="42862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8"/>
          </a:solidFill>
          <a:ln xmlns:a="http://schemas.openxmlformats.org/drawingml/2006/main" w="14288">
            <a:solidFill>
              <a:srgbClr val="73839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defPPr>
            <a:lvl1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1pPr>
            <a:lvl2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2pPr>
            <a:lvl3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3pPr>
            <a:lvl4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4pPr>
            <a:lvl5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5pPr>
            <a:lvl6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6pPr>
            <a:lvl7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7pPr>
            <a:lvl8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8pPr>
            <a:lvl9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pPr>
            <a:r>
              <a: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rPr>
              <a:t>CAPTURA PENDIENTE</a:t>
            </a:r>
          </a:p>
          <a:p xmlns:a="http://schemas.openxmlformats.org/drawingml/2006/main">
            <a: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pPr>
            <a:r>
              <a: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rPr>
              <a:t>ClienteSoap.java y EjecutorAndroid.java con la comunicación asíncrona</a:t>
            </a:r>
          </a:p>
        </p:txBody>
      </p:sp>
    </p:spTree>
    <p:extLst>
      <p:ext uri="{BB962C8B-B14F-4D97-AF65-F5344CB8AC3E}">
        <p14:creationId xmlns:p14="http://schemas.microsoft.com/office/powerpoint/2010/main" val="1403681092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5" name="Google Shape;455;g2d624313899_0_193">
            <a:extLst xmlns:a="http://schemas.openxmlformats.org/drawingml/2006/main">
              <a:ext uri="{FF2B5EF4-FFF2-40B4-BE49-F238E27FC236}">
                <a16:creationId xmlns:a16="http://schemas.microsoft.com/office/drawing/2014/main" id="{EF6D16A2-F23F-4AA8-A034-1FD65BD2B8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1192" y="702156"/>
            <a:ext cx="11029500" cy="101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t>DESARROLLO</a:t>
            </a:r>
            <a:endParaRPr/>
          </a:p>
        </p:txBody>
      </p:sp>
      <p:sp>
        <p:nvSpPr>
          <p:cNvPr id="456" name="Google Shape;456;g2d624313899_0_193">
            <a:extLst xmlns:a="http://schemas.openxmlformats.org/drawingml/2006/main">
              <a:ext uri="{FF2B5EF4-FFF2-40B4-BE49-F238E27FC236}">
                <a16:creationId xmlns:a16="http://schemas.microsoft.com/office/drawing/2014/main" id="{20FDCADB-3D8C-4387-AB11-ED3102F17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3697" y="0"/>
            <a:ext cx="2808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SERVIDOR </a:t>
            </a:r>
            <a:r>
              <a:rPr sz="1200" b="1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CREACIÓN DEL PROYECTO – CLIENTE MOVIL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7" name="Google Shape;457;g2d624313899_0_193">
            <a:extLst xmlns:a="http://schemas.openxmlformats.org/drawingml/2006/main">
              <a:ext uri="{FF2B5EF4-FFF2-40B4-BE49-F238E27FC236}">
                <a16:creationId xmlns:a16="http://schemas.microsoft.com/office/drawing/2014/main" id="{33C9DDFC-77B6-4366-879E-EAFF36F2244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91075" y="1294250"/>
            <a:ext cx="3888600" cy="321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r>
              <a:t>ACCESO Y RECUPERACIÓN</a:t>
            </a:r>
            <a:endParaRPr sz="1564" b="1">
              <a:latin typeface="Cambria"/>
              <a:ea typeface="Cambria"/>
              <a:cs typeface="Cambria"/>
            </a:endParaRP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r>
              <a:rPr sz="1564" b="1">
                <a:latin typeface="Cambria"/>
                <a:ea typeface="Cambria"/>
                <a:cs typeface="Cambria"/>
              </a:rPr>
              <a:t>LoginActivity permite autenticarse y recuperar la clave. El controlador muestra el resultado del servicio y abre la pantalla de conversión tras un acceso correcto.</a:t>
            </a:r>
            <a:endParaRPr sz="1564" b="1">
              <a:latin typeface="Cambria"/>
              <a:ea typeface="Cambria"/>
              <a:cs typeface="Cambria"/>
            </a:endParaRPr>
          </a:p>
        </p:txBody>
      </p:sp>
      <p:sp>
        <p:nvSpPr>
          <p:cNvPr id="458" name="Google Shape;458;g2d624313899_0_193">
            <a:extLst xmlns:a="http://schemas.openxmlformats.org/drawingml/2006/main">
              <a:ext uri="{FF2B5EF4-FFF2-40B4-BE49-F238E27FC236}">
                <a16:creationId xmlns:a16="http://schemas.microsoft.com/office/drawing/2014/main" id="{E0597831-357B-40F9-8737-323F67357C6C}"/>
              </a:ext>
            </a:extLst>
          </p:cNvPr>
          <p:cNvSpPr>
            <a:spLocks xmlns:a="http://schemas.openxmlformats.org/drawingml/2006/main" noGrp="1"/>
          </p:cNvSpPr>
          <p:nvPr>
            <p:ph type="body" idx="9999"/>
          </p:nvPr>
        </p:nvSpPr>
        <p:spPr>
          <a:xfrm xmlns:a="http://schemas.openxmlformats.org/drawingml/2006/main">
            <a:off x="4698075" y="1376600"/>
            <a:ext cx="3888600" cy="321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r>
              <a:t>CONVERSIÓN EN ANDROID</a:t>
            </a:r>
            <a:endParaRPr sz="1564" b="1">
              <a:latin typeface="Cambria"/>
              <a:ea typeface="Cambria"/>
              <a:cs typeface="Cambria"/>
            </a:endParaRP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r>
              <a:rPr sz="1564" b="1">
                <a:latin typeface="Cambria"/>
                <a:ea typeface="Cambria"/>
                <a:cs typeface="Cambria"/>
              </a:rPr>
              <a:t>ConversionesActivity consulta categorías y unidades, recibe el valor y muestra el resultado. El usuario puede intercambiar las unidades de origen y destino.</a:t>
            </a:r>
            <a:endParaRPr sz="1564" b="1">
              <a:latin typeface="Cambria"/>
              <a:ea typeface="Cambria"/>
              <a:cs typeface="Cambria"/>
            </a:endParaRPr>
          </a:p>
        </p:txBody>
      </p:sp>
      <p:pic>
        <p:nvPicPr>
          <p:cNvPr id="3" name="Imagen 2">
            <a:extLst xmlns:a="http://schemas.openxmlformats.org/drawingml/2006/main">
              <a:ext uri="{FF2B5EF4-FFF2-40B4-BE49-F238E27FC236}">
                <a16:creationId xmlns:a16="http://schemas.microsoft.com/office/drawing/2014/main" id="{13E1B76A-2307-4589-8351-A6FC0E6ABD0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88d68af481499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5071" y="3523400"/>
            <a:ext cx="3704493" cy="2290259"/>
          </a:xfrm>
          <a:prstGeom xmlns:a="http://schemas.openxmlformats.org/drawingml/2006/main" prst="rect">
            <a:avLst/>
          </a:prstGeom>
        </p:spPr>
      </p:pic>
      <p:pic>
        <p:nvPicPr>
          <p:cNvPr id="5" name="Imagen 4">
            <a:extLst xmlns:a="http://schemas.openxmlformats.org/drawingml/2006/main">
              <a:ext uri="{FF2B5EF4-FFF2-40B4-BE49-F238E27FC236}">
                <a16:creationId xmlns:a16="http://schemas.microsoft.com/office/drawing/2014/main" id="{1CB8839F-3B66-4C7D-B0CD-9CAD1A00E42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7c53a1c920477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96586" y="3395466"/>
            <a:ext cx="3346888" cy="3121255"/>
          </a:xfrm>
          <a:prstGeom xmlns:a="http://schemas.openxmlformats.org/drawingml/2006/main" prst="rect">
            <a:avLst/>
          </a:prstGeom>
        </p:spPr>
      </p:pic>
      <p:sp>
        <p:nvSpPr>
          <p:cNvPr id="459" name="Fondo blanco del contenido S27">
            <a:extLst xmlns:a="http://schemas.openxmlformats.org/drawingml/2006/main">
              <a:ext uri="{FF2B5EF4-FFF2-40B4-BE49-F238E27FC236}">
                <a16:creationId xmlns:a16="http://schemas.microsoft.com/office/drawing/2014/main" id="{23DB77FC-2AAD-4775-B20D-E8D88D129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3821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0" name="Franja superior azul S27">
            <a:extLst xmlns:a="http://schemas.openxmlformats.org/drawingml/2006/main">
              <a:ext uri="{FF2B5EF4-FFF2-40B4-BE49-F238E27FC236}">
                <a16:creationId xmlns:a16="http://schemas.microsoft.com/office/drawing/2014/main" id="{E2166A42-A45C-455E-8FFD-4EC468C6D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09600"/>
            <a:ext cx="894397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2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1" name="Acento superior 1 S27">
            <a:extLst xmlns:a="http://schemas.openxmlformats.org/drawingml/2006/main">
              <a:ext uri="{FF2B5EF4-FFF2-40B4-BE49-F238E27FC236}">
                <a16:creationId xmlns:a16="http://schemas.microsoft.com/office/drawing/2014/main" id="{40B81B91-6483-4BD7-815F-75F0F1F70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57200"/>
            <a:ext cx="37052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2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2" name="Acento superior 2 S27">
            <a:extLst xmlns:a="http://schemas.openxmlformats.org/drawingml/2006/main">
              <a:ext uri="{FF2B5EF4-FFF2-40B4-BE49-F238E27FC236}">
                <a16:creationId xmlns:a16="http://schemas.microsoft.com/office/drawing/2014/main" id="{A1BE27F7-3D75-4519-ADBE-AD853C5E7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57200"/>
            <a:ext cx="37052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94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3" name="Acento superior 3 S27">
            <a:extLst xmlns:a="http://schemas.openxmlformats.org/drawingml/2006/main">
              <a:ext uri="{FF2B5EF4-FFF2-40B4-BE49-F238E27FC236}">
                <a16:creationId xmlns:a16="http://schemas.microsoft.com/office/drawing/2014/main" id="{39393A65-58AC-4323-9C64-423C56600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57200"/>
            <a:ext cx="13430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A3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4" name="Título de sección S27">
            <a:extLst xmlns:a="http://schemas.openxmlformats.org/drawingml/2006/main">
              <a:ext uri="{FF2B5EF4-FFF2-40B4-BE49-F238E27FC236}">
                <a16:creationId xmlns:a16="http://schemas.microsoft.com/office/drawing/2014/main" id="{AE7C23E2-BCDB-48DE-A7E8-64862E342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19175"/>
            <a:ext cx="828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defPPr>
            <a:lvl1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1pPr>
            <a:lvl2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2pPr>
            <a:lvl3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3pPr>
            <a:lvl4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4pPr>
            <a:lvl5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5pPr>
            <a:lvl6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6pPr>
            <a:lvl7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7pPr>
            <a:lvl8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8pPr>
            <a:lvl9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9pPr>
          </a:lstStyle>
          <a:p xmlns:a="http://schemas.openxmlformats.org/drawingml/2006/main">
            <a: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pPr>
            <a:r>
              <a:rPr sz="2798">
                <a:solidFill>
                  <a:srgbClr val="FFFFFF"/>
                </a:solidFill>
                <a:latin typeface="Gill Sans"/>
                <a:ea typeface="Gill Sans"/>
                <a:cs typeface="Gill Sans"/>
              </a:rPr>
              <a:t>DESARROLLO</a:t>
            </a:r>
          </a:p>
        </p:txBody>
      </p:sp>
      <p:sp>
        <p:nvSpPr>
          <p:cNvPr id="465" name="Título del contenido S27">
            <a:extLst xmlns:a="http://schemas.openxmlformats.org/drawingml/2006/main">
              <a:ext uri="{FF2B5EF4-FFF2-40B4-BE49-F238E27FC236}">
                <a16:creationId xmlns:a16="http://schemas.microsoft.com/office/drawing/2014/main" id="{B9A9886D-99C8-4CEF-B216-8A526E51E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38350"/>
            <a:ext cx="809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950" b="1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Pantallas Android</a:t>
            </a:r>
          </a:p>
        </p:txBody>
      </p:sp>
      <p:sp>
        <p:nvSpPr>
          <p:cNvPr id="466" name="Texto del contenido S27">
            <a:extLst xmlns:a="http://schemas.openxmlformats.org/drawingml/2006/main">
              <a:ext uri="{FF2B5EF4-FFF2-40B4-BE49-F238E27FC236}">
                <a16:creationId xmlns:a16="http://schemas.microsoft.com/office/drawing/2014/main" id="{3AA67702-DF98-438B-ACFC-57DF88277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19375"/>
            <a:ext cx="37147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575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LoginActivity permite acceder y recuperar la clave. ConversionesActivity muestra el catálogo y el resultado de la operación.</a:t>
            </a:r>
          </a:p>
        </p:txBody>
      </p:sp>
      <p:sp>
        <p:nvSpPr>
          <p:cNvPr id="467" name="Marcador imagen S27">
            <a:extLst xmlns:a="http://schemas.openxmlformats.org/drawingml/2006/main">
              <a:ext uri="{FF2B5EF4-FFF2-40B4-BE49-F238E27FC236}">
                <a16:creationId xmlns:a16="http://schemas.microsoft.com/office/drawing/2014/main" id="{D8B134C4-058A-4623-A550-101D628AD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571750"/>
            <a:ext cx="42862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8"/>
          </a:solidFill>
          <a:ln xmlns:a="http://schemas.openxmlformats.org/drawingml/2006/main" w="14288">
            <a:solidFill>
              <a:srgbClr val="73839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defPPr>
            <a:lvl1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1pPr>
            <a:lvl2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2pPr>
            <a:lvl3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3pPr>
            <a:lvl4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4pPr>
            <a:lvl5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5pPr>
            <a:lvl6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6pPr>
            <a:lvl7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7pPr>
            <a:lvl8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8pPr>
            <a:lvl9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pPr>
            <a:r>
              <a: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rPr>
              <a:t>CAPTURA PENDIENTE</a:t>
            </a:r>
          </a:p>
          <a:p xmlns:a="http://schemas.openxmlformats.org/drawingml/2006/main">
            <a: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pPr>
            <a:r>
              <a: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rPr>
              <a:t>Capturas de LoginActivity y ConversionesActivity con datos de demostración</a:t>
            </a:r>
          </a:p>
        </p:txBody>
      </p:sp>
    </p:spTree>
    <p:extLst>
      <p:ext uri="{BB962C8B-B14F-4D97-AF65-F5344CB8AC3E}">
        <p14:creationId xmlns:p14="http://schemas.microsoft.com/office/powerpoint/2010/main" val="646949066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3" name="Google Shape;493;g2d6d00c5bd2_3_16">
            <a:extLst xmlns:a="http://schemas.openxmlformats.org/drawingml/2006/main">
              <a:ext uri="{FF2B5EF4-FFF2-40B4-BE49-F238E27FC236}">
                <a16:creationId xmlns:a16="http://schemas.microsoft.com/office/drawing/2014/main" id="{76D4E37B-0932-4F6B-AD59-188CAC6765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1192" y="702156"/>
            <a:ext cx="11029500" cy="101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t>DESARROLLO</a:t>
            </a:r>
            <a:endParaRPr/>
          </a:p>
        </p:txBody>
      </p:sp>
      <p:sp>
        <p:nvSpPr>
          <p:cNvPr id="494" name="Google Shape;494;g2d6d00c5bd2_3_16">
            <a:extLst xmlns:a="http://schemas.openxmlformats.org/drawingml/2006/main">
              <a:ext uri="{FF2B5EF4-FFF2-40B4-BE49-F238E27FC236}">
                <a16:creationId xmlns:a16="http://schemas.microsoft.com/office/drawing/2014/main" id="{4DB5DEDD-91A5-4E5C-9887-A1A8A0CE6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3697" y="0"/>
            <a:ext cx="2808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SERVIDOR </a:t>
            </a:r>
            <a:r>
              <a:rPr sz="1200" b="1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CREACIÓN DEL PROYECTO – CLIENTE MOVIL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95" name="Google Shape;495;g2d6d00c5bd2_3_16">
            <a:extLst xmlns:a="http://schemas.openxmlformats.org/drawingml/2006/main">
              <a:ext uri="{FF2B5EF4-FFF2-40B4-BE49-F238E27FC236}">
                <a16:creationId xmlns:a16="http://schemas.microsoft.com/office/drawing/2014/main" id="{D82E8753-DE02-449B-A435-A6439553B4E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81200" y="1984125"/>
            <a:ext cx="8589300" cy="11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 fontScale="87771" lnSpcReduction="10000"/>
          </a:bodyPr>
          <a:lstStyle xmlns:a="http://schemas.openxmlformats.org/drawingml/2006/main"/>
          <a:p xmlns:a="http://schemas.openxmlformats.org/drawingml/2006/main">
            <a:pPr marL="457200" lvl="0" indent="-317981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ct val="91998"/>
              <a:buFont typeface="Cambria"/>
              <a:buChar char="●"/>
            </a:pPr>
            <a:r>
              <a:rPr>
                <a:latin typeface="Cambria"/>
                <a:ea typeface="Cambria"/>
                <a:cs typeface="Cambria"/>
              </a:rPr>
              <a:t>EJECUCIÓN EN EMULADOR O TELÉFONO</a:t>
            </a:r>
            <a:endParaRPr>
              <a:latin typeface="Cambria"/>
              <a:ea typeface="Cambria"/>
              <a:cs typeface="Cambria"/>
            </a:endParaRPr>
          </a:p>
          <a:p xmlns:a="http://schemas.openxmlformats.org/drawingml/2006/main">
            <a:pPr marL="914400" lvl="1" indent="-317982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ct val="103500"/>
              <a:buFont typeface="Cambria"/>
              <a:buChar char="○"/>
            </a:pPr>
            <a:r>
              <a:rPr>
                <a:latin typeface="Cambria"/>
                <a:ea typeface="Cambria"/>
                <a:cs typeface="Cambria"/>
              </a:rPr>
              <a:t/>
            </a:r>
            <a:endParaRPr>
              <a:latin typeface="Cambria"/>
              <a:ea typeface="Cambria"/>
              <a:cs typeface="Cambria"/>
            </a:endParaRPr>
          </a:p>
          <a:p xmlns:a="http://schemas.openxmlformats.org/drawingml/2006/main">
            <a:pPr marL="914400" lvl="1" indent="-317982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ct val="103500"/>
              <a:buFont typeface="Cambria"/>
              <a:buChar char="○"/>
            </a:pPr>
            <a:r>
              <a:rPr>
                <a:latin typeface="Cambria"/>
                <a:ea typeface="Cambria"/>
                <a:cs typeface="Cambria"/>
              </a:rPr>
              <a:t>En el emulador, la URL usa 10.0.2.2 para acceder al servidor Payara del computador. En un teléfono físico se configura la IP del computador dentro de la misma red. El token permanece en memoria.</a:t>
            </a:r>
            <a:endParaRPr>
              <a:latin typeface="Cambria"/>
              <a:ea typeface="Cambria"/>
              <a:cs typeface="Cambria"/>
            </a:endParaRPr>
          </a:p>
        </p:txBody>
      </p:sp>
      <p:pic>
        <p:nvPicPr>
          <p:cNvPr id="7" name="image51.png">
            <a:extLst xmlns:a="http://schemas.openxmlformats.org/drawingml/2006/main">
              <a:ext uri="{FF2B5EF4-FFF2-40B4-BE49-F238E27FC236}">
                <a16:creationId xmlns:a16="http://schemas.microsoft.com/office/drawing/2014/main" id="{F2D15193-4668-4DB4-A832-0A785EA0C32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800599c6414d7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107289" y="3132225"/>
            <a:ext cx="1720640" cy="3469750"/>
          </a:xfrm>
          <a:prstGeom xmlns:a="http://schemas.openxmlformats.org/drawingml/2006/main" prst="rect">
            <a:avLst/>
          </a:prstGeom>
        </p:spPr>
      </p:pic>
      <p:pic>
        <p:nvPicPr>
          <p:cNvPr id="8" name="image32.png">
            <a:extLst xmlns:a="http://schemas.openxmlformats.org/drawingml/2006/main">
              <a:ext uri="{FF2B5EF4-FFF2-40B4-BE49-F238E27FC236}">
                <a16:creationId xmlns:a16="http://schemas.microsoft.com/office/drawing/2014/main" id="{89751387-2F68-4E89-91B3-6056E0B545A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75aa9ba59f471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75360" y="3132224"/>
            <a:ext cx="1577205" cy="3469750"/>
          </a:xfrm>
          <a:prstGeom xmlns:a="http://schemas.openxmlformats.org/drawingml/2006/main" prst="rect">
            <a:avLst/>
          </a:prstGeom>
        </p:spPr>
      </p:pic>
      <p:sp>
        <p:nvSpPr>
          <p:cNvPr id="496" name="Fondo blanco del contenido S28">
            <a:extLst xmlns:a="http://schemas.openxmlformats.org/drawingml/2006/main">
              <a:ext uri="{FF2B5EF4-FFF2-40B4-BE49-F238E27FC236}">
                <a16:creationId xmlns:a16="http://schemas.microsoft.com/office/drawing/2014/main" id="{0F8F7A9A-1844-4C9F-B713-F2B985E16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3821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7" name="Franja superior azul S28">
            <a:extLst xmlns:a="http://schemas.openxmlformats.org/drawingml/2006/main">
              <a:ext uri="{FF2B5EF4-FFF2-40B4-BE49-F238E27FC236}">
                <a16:creationId xmlns:a16="http://schemas.microsoft.com/office/drawing/2014/main" id="{FB4CF74C-F1D6-431F-A9FF-E666C8BC9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09600"/>
            <a:ext cx="894397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2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8" name="Acento superior 1 S28">
            <a:extLst xmlns:a="http://schemas.openxmlformats.org/drawingml/2006/main">
              <a:ext uri="{FF2B5EF4-FFF2-40B4-BE49-F238E27FC236}">
                <a16:creationId xmlns:a16="http://schemas.microsoft.com/office/drawing/2014/main" id="{4F034B58-AD51-445B-80BA-3F0770587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57200"/>
            <a:ext cx="37052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2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9" name="Acento superior 2 S28">
            <a:extLst xmlns:a="http://schemas.openxmlformats.org/drawingml/2006/main">
              <a:ext uri="{FF2B5EF4-FFF2-40B4-BE49-F238E27FC236}">
                <a16:creationId xmlns:a16="http://schemas.microsoft.com/office/drawing/2014/main" id="{018701D4-EC3C-4D19-96B8-15621E901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57200"/>
            <a:ext cx="37052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94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0" name="Acento superior 3 S28">
            <a:extLst xmlns:a="http://schemas.openxmlformats.org/drawingml/2006/main">
              <a:ext uri="{FF2B5EF4-FFF2-40B4-BE49-F238E27FC236}">
                <a16:creationId xmlns:a16="http://schemas.microsoft.com/office/drawing/2014/main" id="{ED3511A2-3B59-4F5E-9C04-72D25F2CC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57200"/>
            <a:ext cx="13430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A3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1" name="Título de sección S28">
            <a:extLst xmlns:a="http://schemas.openxmlformats.org/drawingml/2006/main">
              <a:ext uri="{FF2B5EF4-FFF2-40B4-BE49-F238E27FC236}">
                <a16:creationId xmlns:a16="http://schemas.microsoft.com/office/drawing/2014/main" id="{D87B2D20-5A02-4B88-96F7-53558BBA2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19175"/>
            <a:ext cx="828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defPPr>
            <a:lvl1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1pPr>
            <a:lvl2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2pPr>
            <a:lvl3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3pPr>
            <a:lvl4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4pPr>
            <a:lvl5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5pPr>
            <a:lvl6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6pPr>
            <a:lvl7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7pPr>
            <a:lvl8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8pPr>
            <a:lvl9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9pPr>
          </a:lstStyle>
          <a:p xmlns:a="http://schemas.openxmlformats.org/drawingml/2006/main">
            <a: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pPr>
            <a:r>
              <a:rPr sz="2798">
                <a:solidFill>
                  <a:srgbClr val="FFFFFF"/>
                </a:solidFill>
                <a:latin typeface="Gill Sans"/>
                <a:ea typeface="Gill Sans"/>
                <a:cs typeface="Gill Sans"/>
              </a:rPr>
              <a:t>DESARROLLO</a:t>
            </a:r>
          </a:p>
        </p:txBody>
      </p:sp>
      <p:sp>
        <p:nvSpPr>
          <p:cNvPr id="502" name="Título del contenido S28">
            <a:extLst xmlns:a="http://schemas.openxmlformats.org/drawingml/2006/main">
              <a:ext uri="{FF2B5EF4-FFF2-40B4-BE49-F238E27FC236}">
                <a16:creationId xmlns:a16="http://schemas.microsoft.com/office/drawing/2014/main" id="{D2BEE5D1-4017-4B39-BFD7-640962480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38350"/>
            <a:ext cx="809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950" b="1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Ejecución en emulador o teléfono</a:t>
            </a:r>
          </a:p>
        </p:txBody>
      </p:sp>
      <p:sp>
        <p:nvSpPr>
          <p:cNvPr id="503" name="Texto del contenido S28">
            <a:extLst xmlns:a="http://schemas.openxmlformats.org/drawingml/2006/main">
              <a:ext uri="{FF2B5EF4-FFF2-40B4-BE49-F238E27FC236}">
                <a16:creationId xmlns:a16="http://schemas.microsoft.com/office/drawing/2014/main" id="{A8D77F2B-F7D9-495C-B797-C2356D4C6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19375"/>
            <a:ext cx="37147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575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El emulador accede al servidor del computador mediante 10.0.2.2. Un teléfono usa la IP local del computador en la misma red.</a:t>
            </a:r>
          </a:p>
        </p:txBody>
      </p:sp>
      <p:sp>
        <p:nvSpPr>
          <p:cNvPr id="504" name="Marcador imagen S28">
            <a:extLst xmlns:a="http://schemas.openxmlformats.org/drawingml/2006/main">
              <a:ext uri="{FF2B5EF4-FFF2-40B4-BE49-F238E27FC236}">
                <a16:creationId xmlns:a16="http://schemas.microsoft.com/office/drawing/2014/main" id="{239F7038-8312-48C6-8460-424563F24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571750"/>
            <a:ext cx="42862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8"/>
          </a:solidFill>
          <a:ln xmlns:a="http://schemas.openxmlformats.org/drawingml/2006/main" w="14288">
            <a:solidFill>
              <a:srgbClr val="73839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defPPr>
            <a:lvl1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1pPr>
            <a:lvl2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2pPr>
            <a:lvl3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3pPr>
            <a:lvl4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4pPr>
            <a:lvl5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5pPr>
            <a:lvl6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6pPr>
            <a:lvl7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7pPr>
            <a:lvl8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8pPr>
            <a:lvl9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pPr>
            <a:r>
              <a: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rPr>
              <a:t>CAPTURA PENDIENTE</a:t>
            </a:r>
          </a:p>
          <a:p xmlns:a="http://schemas.openxmlformats.org/drawingml/2006/main">
            <a: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pPr>
            <a:r>
              <a: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rPr>
              <a:t>Aplicación en emulador o teléfono conectada al servidor; ocultar credenciales</a:t>
            </a:r>
          </a:p>
        </p:txBody>
      </p:sp>
    </p:spTree>
    <p:extLst>
      <p:ext uri="{BB962C8B-B14F-4D97-AF65-F5344CB8AC3E}">
        <p14:creationId xmlns:p14="http://schemas.microsoft.com/office/powerpoint/2010/main" val="410950106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2" name="Google Shape;502;p41">
            <a:extLst xmlns:a="http://schemas.openxmlformats.org/drawingml/2006/main">
              <a:ext uri="{FF2B5EF4-FFF2-40B4-BE49-F238E27FC236}">
                <a16:creationId xmlns:a16="http://schemas.microsoft.com/office/drawing/2014/main" id="{283F3EE5-FC96-4487-B185-340D6D319C7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1192" y="702156"/>
            <a:ext cx="11029500" cy="101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t>CONCLUSIONES</a:t>
            </a:r>
            <a:endParaRPr/>
          </a:p>
        </p:txBody>
      </p:sp>
      <p:sp>
        <p:nvSpPr>
          <p:cNvPr id="503" name="Google Shape;503;p41">
            <a:extLst xmlns:a="http://schemas.openxmlformats.org/drawingml/2006/main">
              <a:ext uri="{FF2B5EF4-FFF2-40B4-BE49-F238E27FC236}">
                <a16:creationId xmlns:a16="http://schemas.microsoft.com/office/drawing/2014/main" id="{681336E7-660A-4C0A-86FC-7A20E490930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81192" y="2180496"/>
            <a:ext cx="8589300" cy="367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sz="1900">
                <a:latin typeface="Cambria"/>
                <a:ea typeface="Cambria"/>
                <a:cs typeface="Cambria"/>
              </a:rPr>
              <a:t>El mismo contrato SOAP sirve a cuatro clientes Java: consola, escritorio, web y Android. El servicio centraliza las reglas de autenticación, catálogo y conversión, por lo que los cálculos se ejecutan en el servidor y no se duplican en cada interfaz.</a:t>
            </a:r>
            <a:endParaRPr sz="1900"/>
          </a:p>
          <a:p xmlns:a="http://schemas.openxmlformats.org/drawingml/2006/main">
            <a:pPr marL="0" marR="0" lvl="0" indent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sz="1900">
                <a:latin typeface="Cambria"/>
                <a:ea typeface="Cambria"/>
                <a:cs typeface="Cambria"/>
              </a:rPr>
              <a:t/>
            </a:r>
            <a:endParaRPr sz="1900"/>
          </a:p>
          <a:p xmlns:a="http://schemas.openxmlformats.org/drawingml/2006/main">
            <a:pPr marL="0" marR="0" lvl="0" indent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sz="1900">
                <a:latin typeface="Cambria"/>
                <a:ea typeface="Cambria"/>
                <a:cs typeface="Cambria"/>
              </a:rPr>
              <a:t>El proyecto funciona sin base de datos: las credenciales, las sesiones y el catálogo viven en memoria. Las sesiones vencen a los 15 minutos y un reinicio del servidor invalida los tokens.</a:t>
            </a:r>
            <a:endParaRPr sz="1900"/>
          </a:p>
        </p:txBody>
      </p:sp>
      <p:sp>
        <p:nvSpPr>
          <p:cNvPr id="504" name="Google Shape;504;p41">
            <a:extLst xmlns:a="http://schemas.openxmlformats.org/drawingml/2006/main">
              <a:ext uri="{FF2B5EF4-FFF2-40B4-BE49-F238E27FC236}">
                <a16:creationId xmlns:a16="http://schemas.microsoft.com/office/drawing/2014/main" id="{777D9E80-39BB-4C10-8B65-DBA15BBB2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3697" y="0"/>
            <a:ext cx="2808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SERVIDOR </a:t>
            </a:r>
            <a:r>
              <a:rPr sz="1200" b="1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CONCLUSIONES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74692561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9" name="Google Shape;509;p42">
            <a:extLst xmlns:a="http://schemas.openxmlformats.org/drawingml/2006/main">
              <a:ext uri="{FF2B5EF4-FFF2-40B4-BE49-F238E27FC236}">
                <a16:creationId xmlns:a16="http://schemas.microsoft.com/office/drawing/2014/main" id="{04C8B163-DCCF-4FDD-9F6C-649F6077C91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1192" y="702156"/>
            <a:ext cx="11029616" cy="1013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t>RECOMENDACIONES</a:t>
            </a:r>
            <a:endParaRPr/>
          </a:p>
        </p:txBody>
      </p:sp>
      <p:sp>
        <p:nvSpPr>
          <p:cNvPr id="510" name="Google Shape;510;p42">
            <a:extLst xmlns:a="http://schemas.openxmlformats.org/drawingml/2006/main">
              <a:ext uri="{FF2B5EF4-FFF2-40B4-BE49-F238E27FC236}">
                <a16:creationId xmlns:a16="http://schemas.microsoft.com/office/drawing/2014/main" id="{6CA3BCC0-3724-43D6-A0BB-5BAB9A53E1A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81200" y="2025325"/>
            <a:ext cx="8500800" cy="429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457200" lvl="0" indent="-340106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56"/>
              <a:buChar char="◼"/>
            </a:pPr>
            <a:r>
              <a:rPr sz="1900"/>
              <a:t>Configurar el endpoint y las credenciales mediante propiedades del servidor para cada entorno.</a:t>
            </a:r>
          </a:p>
          <a:p xmlns:a="http://schemas.openxmlformats.org/drawingml/2006/main">
            <a:pPr marL="457200" lvl="0" indent="-340106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56"/>
              <a:buChar char="◼"/>
            </a:pPr>
            <a:r>
              <a:rPr sz="1900"/>
              <a:t/>
            </a:r>
          </a:p>
          <a:p xmlns:a="http://schemas.openxmlformats.org/drawingml/2006/main">
            <a:pPr marL="457200" lvl="0" indent="-340106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56"/>
              <a:buChar char="◼"/>
            </a:pPr>
            <a:r>
              <a:rPr sz="1900"/>
              <a:t>Usar HTTPS cuando el servicio salga de la red de laboratorio, porque el endpoint actual puede operar sobre HTTP.</a:t>
            </a:r>
          </a:p>
          <a:p xmlns:a="http://schemas.openxmlformats.org/drawingml/2006/main">
            <a:pPr marL="457200" lvl="0" indent="-340106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56"/>
              <a:buChar char="◼"/>
            </a:pPr>
            <a:r>
              <a:rPr sz="1900"/>
              <a:t/>
            </a:r>
          </a:p>
          <a:p xmlns:a="http://schemas.openxmlformats.org/drawingml/2006/main">
            <a:pPr marL="457200" lvl="0" indent="-340106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56"/>
              <a:buChar char="◼"/>
            </a:pPr>
            <a:r>
              <a:rPr sz="1900"/>
              <a:t>Mantener coordinados el WSDL local y el servicio desplegado cuando cambie el contrato.</a:t>
            </a:r>
          </a:p>
          <a:p xmlns:a="http://schemas.openxmlformats.org/drawingml/2006/main">
            <a:pPr marL="457200" lvl="0" indent="-340106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56"/>
              <a:buChar char="◼"/>
            </a:pPr>
            <a:r>
              <a:rPr sz="1900"/>
              <a:t/>
            </a:r>
          </a:p>
          <a:p xmlns:a="http://schemas.openxmlformats.org/drawingml/2006/main">
            <a:pPr marL="457200" lvl="0" indent="-340106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56"/>
              <a:buChar char="◼"/>
            </a:pPr>
            <a:r>
              <a:rPr sz="1900"/>
              <a:t>Ampliar las pruebas de integración para verificar los cuatro clientes contra el mismo servidor antes de cada entrega.</a:t>
            </a:r>
          </a:p>
        </p:txBody>
      </p:sp>
      <p:sp>
        <p:nvSpPr>
          <p:cNvPr id="511" name="Google Shape;511;p42">
            <a:extLst xmlns:a="http://schemas.openxmlformats.org/drawingml/2006/main">
              <a:ext uri="{FF2B5EF4-FFF2-40B4-BE49-F238E27FC236}">
                <a16:creationId xmlns:a16="http://schemas.microsoft.com/office/drawing/2014/main" id="{27026B6E-6479-4996-9769-C4319FDF0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3697" y="0"/>
            <a:ext cx="2808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SERVIDOR </a:t>
            </a:r>
            <a:r>
              <a:rPr sz="1200" b="1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RECOMENDACIONES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86378069"/>
      </p:ext>
    </p:extLst>
  </p:cSld>
</p:sld>
</file>

<file path=ppt/theme/theme1.xml><?xml version="1.0" encoding="utf-8"?>
<a:theme xmlns:a="http://schemas.openxmlformats.org/drawingml/2006/main" name="Dividendo">
  <a:themeElements>
    <a:clrScheme name="Dividend">
      <a:dk1>
        <a:srgbClr val="000000"/>
      </a:dk1>
      <a:lt1>
        <a:srgbClr val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2026-10-23T21:16:53.8720000Z</dcterms:created>
  <dcterms:modified xsi:type="dcterms:W3CDTF">2026-10-23T21:16:53.8720000Z</dcterms:modified>
</coreProperties>
</file>