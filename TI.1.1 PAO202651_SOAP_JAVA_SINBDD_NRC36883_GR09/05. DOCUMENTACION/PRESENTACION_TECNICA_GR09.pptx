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embeddedFontLst>
    <p:embeddedFont>
      <p:font typeface="Cambria" panose="02040503050406030204" pitchFamily="18" charset="0"/>
      <p:regular r:id="rId33"/>
      <p:bold r:id="rId34"/>
      <p:italic r:id="rId35"/>
      <p:boldItalic r:id="rId36"/>
    </p:embeddedFont>
    <p:embeddedFont>
      <p:font typeface="Gill Sans" panose="020B0604020202020204" charset="0"/>
      <p:regular r:id="rId37"/>
      <p:bold r:id="rId38"/>
    </p:embeddedFont>
  </p:embeddedFontLst>
  <p:defaultTextStyle>
    <a:defPPr marR="0" algn="l">
      <a:lnSpc>
        <a:spcPct val="100000"/>
      </a:lnSpc>
      <a:spcBef>
        <a:spcPts val="0"/>
      </a:spcBef>
      <a:spcAft>
        <a:spcPts val="0"/>
      </a:spcAft>
      <a:buNone/>
    </a:defPPr>
    <a:lvl1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2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portada.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alcance y canales.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propósito y alcance.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04. SERVIDOR/WS_CON_UNI_JAVA_SOAP/README.md; pom.xml; WSConUni.java.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WSConUni.java; WS_CON_UNI_JAVA_SOAP/src/main/resources/WSConUni.wsdl.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ConversorUnidadesServices.java; Respuesta.java; README del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ConversorUnidadesServices.java; README del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Clases ec.edu.monster.pruebas del servidor y PruebaIntegracionSOAP.java.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04. CLICON/CLI_CON_UNI_JAVA_SOAP/README.md; pom.xml.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MainConsola.java; ControladorConsola.java; ClienteSoap.java; RespuestaSoap.java.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VistaConsola.java; ControladorConsola.java.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cliente de consola; PruebaMenuConsola.java.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04. CLIESC/CLI_ESC_CON_UNI_JAVA_SOAP/README.md; pom.xml.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ControladorConversiones.java; ControladorLogin.java; modelo y vista Swing.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LoginFrame.java; VentanaConversiones.java; GestorPantallas.java.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LoginFrame.java; ControladorLogin.java.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VentanaConversiones.java; ControladorConversiones.java.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04. CLIWEB/CLI_WEB_CON_UNI_JAVA_SOAP/README.md; pom.xml; web.xml.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ConversionServlet.java; ClienteSoap.java; ConversorWebService.java.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AutenticacionServlet.java; FiltroSesion.java; FiltroCsrf.java; login.jsp.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cliente web; pom.xml.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login.jsp; AutenticacionServlet.java.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conversor.jsp; ConversionServlet.java.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04. CLIMOV/CLI_MOV_CON_UNI_JAVA_SOAP/README.md; app/build.gradle.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Android; modelo, vista y controladores.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ClienteSoap.java; EjecutorAndroid.java.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LoginActivity.java; ConversionesActivity.java; ControladorLogin.java; ControladorConversiones.java.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Android; app/src/main/res/values/config.xml.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los cuatro clientes y del servidor; 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servidor; README de los cuatro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>
            <a:extLst>
              <a:ext uri="{FF2B5EF4-FFF2-40B4-BE49-F238E27FC236}">
                <a16:creationId xmlns:a16="http://schemas.microsoft.com/office/drawing/2014/main" id="{81F7DFCF-B0B0-43C9-A25F-44FF7933E329}"/>
              </a:ext>
            </a:extLst>
          </p:cNvPr>
          <p:cNvSpPr>
            <a:spLocks noGrp="1"/>
          </p:cNvSpPr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>
              <a:ext uri="{FF2B5EF4-FFF2-40B4-BE49-F238E27FC236}">
                <a16:creationId xmlns:a16="http://schemas.microsoft.com/office/drawing/2014/main" id="{AECFF515-8A5A-4EE8-A018-C63EEADF9A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>
            <a:extLst>
              <a:ext uri="{FF2B5EF4-FFF2-40B4-BE49-F238E27FC236}">
                <a16:creationId xmlns:a16="http://schemas.microsoft.com/office/drawing/2014/main" id="{7F0FAADA-8C5F-466B-9914-A15E066F9E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>
            <a:extLst>
              <a:ext uri="{FF2B5EF4-FFF2-40B4-BE49-F238E27FC236}">
                <a16:creationId xmlns:a16="http://schemas.microsoft.com/office/drawing/2014/main" id="{907C1668-2893-43C4-9F67-CF18FBDDFA7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>
            <a:extLst>
              <a:ext uri="{FF2B5EF4-FFF2-40B4-BE49-F238E27FC236}">
                <a16:creationId xmlns:a16="http://schemas.microsoft.com/office/drawing/2014/main" id="{E7C77B1B-9B39-4371-9052-4EE8EA8C714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>
            <a:extLst>
              <a:ext uri="{FF2B5EF4-FFF2-40B4-BE49-F238E27FC236}">
                <a16:creationId xmlns:a16="http://schemas.microsoft.com/office/drawing/2014/main" id="{2FCD1942-86CE-4912-B1F4-C8512F89AD0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>
            <a:extLst>
              <a:ext uri="{FF2B5EF4-FFF2-40B4-BE49-F238E27FC236}">
                <a16:creationId xmlns:a16="http://schemas.microsoft.com/office/drawing/2014/main" id="{DA2EAED6-10C7-421F-957B-EA4BCD951F94}"/>
              </a:ext>
            </a:extLst>
          </p:cNvPr>
          <p:cNvSpPr>
            <a:spLocks noGrp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>
              <a:ext uri="{FF2B5EF4-FFF2-40B4-BE49-F238E27FC236}">
                <a16:creationId xmlns:a16="http://schemas.microsoft.com/office/drawing/2014/main" id="{820F1418-23B4-4753-B2ED-EDF7764F5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>
            <a:extLst>
              <a:ext uri="{FF2B5EF4-FFF2-40B4-BE49-F238E27FC236}">
                <a16:creationId xmlns:a16="http://schemas.microsoft.com/office/drawing/2014/main" id="{726DEA27-0080-4940-A41F-93FA08344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>
            <a:extLst>
              <a:ext uri="{FF2B5EF4-FFF2-40B4-BE49-F238E27FC236}">
                <a16:creationId xmlns:a16="http://schemas.microsoft.com/office/drawing/2014/main" id="{102D231E-32CF-42DF-82BC-2E9809FD3BF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>
            <a:extLst>
              <a:ext uri="{FF2B5EF4-FFF2-40B4-BE49-F238E27FC236}">
                <a16:creationId xmlns:a16="http://schemas.microsoft.com/office/drawing/2014/main" id="{19FCC995-593F-44F5-BE3C-D2EA1607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>
            <a:extLst>
              <a:ext uri="{FF2B5EF4-FFF2-40B4-BE49-F238E27FC236}">
                <a16:creationId xmlns:a16="http://schemas.microsoft.com/office/drawing/2014/main" id="{1774677B-22F4-47A0-B40A-98F33D27645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>
            <a:extLst>
              <a:ext uri="{FF2B5EF4-FFF2-40B4-BE49-F238E27FC236}">
                <a16:creationId xmlns:a16="http://schemas.microsoft.com/office/drawing/2014/main" id="{A28D9EF3-4C91-4723-9203-6830AB35665D}"/>
              </a:ext>
            </a:extLst>
          </p:cNvPr>
          <p:cNvSpPr>
            <a:spLocks noGrp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>
              <a:ext uri="{FF2B5EF4-FFF2-40B4-BE49-F238E27FC236}">
                <a16:creationId xmlns:a16="http://schemas.microsoft.com/office/drawing/2014/main" id="{481B5944-5F49-4025-B4C0-7015B51F0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>
            <a:extLst>
              <a:ext uri="{FF2B5EF4-FFF2-40B4-BE49-F238E27FC236}">
                <a16:creationId xmlns:a16="http://schemas.microsoft.com/office/drawing/2014/main" id="{C8F05D42-1F7B-431F-8F65-F5BAE32E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>
            <a:extLst>
              <a:ext uri="{FF2B5EF4-FFF2-40B4-BE49-F238E27FC236}">
                <a16:creationId xmlns:a16="http://schemas.microsoft.com/office/drawing/2014/main" id="{CFFF0A8E-CD25-4A14-8748-E52FAECA427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>
            <a:extLst>
              <a:ext uri="{FF2B5EF4-FFF2-40B4-BE49-F238E27FC236}">
                <a16:creationId xmlns:a16="http://schemas.microsoft.com/office/drawing/2014/main" id="{087C1B5E-5074-4CCA-BBCC-E9C9E8D1631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>
            <a:extLst>
              <a:ext uri="{FF2B5EF4-FFF2-40B4-BE49-F238E27FC236}">
                <a16:creationId xmlns:a16="http://schemas.microsoft.com/office/drawing/2014/main" id="{9D6B3F20-2351-4972-A58C-66FC442ACF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>
            <a:extLst>
              <a:ext uri="{FF2B5EF4-FFF2-40B4-BE49-F238E27FC236}">
                <a16:creationId xmlns:a16="http://schemas.microsoft.com/office/drawing/2014/main" id="{E82128D7-3D14-4383-A20C-51E6333DF3A8}"/>
              </a:ext>
            </a:extLst>
          </p:cNvPr>
          <p:cNvSpPr>
            <a:spLocks noGrp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>
              <a:ext uri="{FF2B5EF4-FFF2-40B4-BE49-F238E27FC236}">
                <a16:creationId xmlns:a16="http://schemas.microsoft.com/office/drawing/2014/main" id="{A5D71FAD-5DDE-447D-9E8C-DF391383A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>
            <a:extLst>
              <a:ext uri="{FF2B5EF4-FFF2-40B4-BE49-F238E27FC236}">
                <a16:creationId xmlns:a16="http://schemas.microsoft.com/office/drawing/2014/main" id="{534CED20-E911-486D-A46D-8250D6954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>
            <a:extLst>
              <a:ext uri="{FF2B5EF4-FFF2-40B4-BE49-F238E27FC236}">
                <a16:creationId xmlns:a16="http://schemas.microsoft.com/office/drawing/2014/main" id="{152BBE31-7BF2-4878-BC66-EABB333ED61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>
            <a:extLst>
              <a:ext uri="{FF2B5EF4-FFF2-40B4-BE49-F238E27FC236}">
                <a16:creationId xmlns:a16="http://schemas.microsoft.com/office/drawing/2014/main" id="{E144B5FC-8BA8-42DB-991B-B97D051E981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>
            <a:extLst>
              <a:ext uri="{FF2B5EF4-FFF2-40B4-BE49-F238E27FC236}">
                <a16:creationId xmlns:a16="http://schemas.microsoft.com/office/drawing/2014/main" id="{8814986B-B3D5-4023-92DA-5E66FFEEC13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>
            <a:extLst>
              <a:ext uri="{FF2B5EF4-FFF2-40B4-BE49-F238E27FC236}">
                <a16:creationId xmlns:a16="http://schemas.microsoft.com/office/drawing/2014/main" id="{434FFCB9-36F8-4DD2-9F86-F149062B16B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>
            <a:extLst>
              <a:ext uri="{FF2B5EF4-FFF2-40B4-BE49-F238E27FC236}">
                <a16:creationId xmlns:a16="http://schemas.microsoft.com/office/drawing/2014/main" id="{A47DCEB2-AFF5-4C93-8459-BA856408545E}"/>
              </a:ext>
            </a:extLst>
          </p:cNvPr>
          <p:cNvSpPr>
            <a:spLocks noGrp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>
              <a:ext uri="{FF2B5EF4-FFF2-40B4-BE49-F238E27FC236}">
                <a16:creationId xmlns:a16="http://schemas.microsoft.com/office/drawing/2014/main" id="{96C0BAFD-703C-4798-B264-B1463D8CC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>
            <a:extLst>
              <a:ext uri="{FF2B5EF4-FFF2-40B4-BE49-F238E27FC236}">
                <a16:creationId xmlns:a16="http://schemas.microsoft.com/office/drawing/2014/main" id="{58CF630C-968B-4DD4-B0C5-8F61CE4BDC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>
            <a:extLst>
              <a:ext uri="{FF2B5EF4-FFF2-40B4-BE49-F238E27FC236}">
                <a16:creationId xmlns:a16="http://schemas.microsoft.com/office/drawing/2014/main" id="{BA978D04-EBEA-4AB5-B8FA-9CAA19B8AE1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>
            <a:extLst>
              <a:ext uri="{FF2B5EF4-FFF2-40B4-BE49-F238E27FC236}">
                <a16:creationId xmlns:a16="http://schemas.microsoft.com/office/drawing/2014/main" id="{FB26FA00-50E6-4256-99B3-8A427F6E8F5C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>
            <a:extLst>
              <a:ext uri="{FF2B5EF4-FFF2-40B4-BE49-F238E27FC236}">
                <a16:creationId xmlns:a16="http://schemas.microsoft.com/office/drawing/2014/main" id="{D5D229BD-B398-450E-BD8E-0893B06BD21B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>
            <a:extLst>
              <a:ext uri="{FF2B5EF4-FFF2-40B4-BE49-F238E27FC236}">
                <a16:creationId xmlns:a16="http://schemas.microsoft.com/office/drawing/2014/main" id="{E7B022CB-B59B-4D66-B534-784561399AF4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>
            <a:extLst>
              <a:ext uri="{FF2B5EF4-FFF2-40B4-BE49-F238E27FC236}">
                <a16:creationId xmlns:a16="http://schemas.microsoft.com/office/drawing/2014/main" id="{E9F00149-9248-4461-821A-5B56F9A675B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>
            <a:extLst>
              <a:ext uri="{FF2B5EF4-FFF2-40B4-BE49-F238E27FC236}">
                <a16:creationId xmlns:a16="http://schemas.microsoft.com/office/drawing/2014/main" id="{8FC45D92-E1AD-4496-B594-FDA4CB09C5C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>
            <a:extLst>
              <a:ext uri="{FF2B5EF4-FFF2-40B4-BE49-F238E27FC236}">
                <a16:creationId xmlns:a16="http://schemas.microsoft.com/office/drawing/2014/main" id="{CBF91A3E-77E7-481B-A6FA-910CE3EAC908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>
            <a:extLst>
              <a:ext uri="{FF2B5EF4-FFF2-40B4-BE49-F238E27FC236}">
                <a16:creationId xmlns:a16="http://schemas.microsoft.com/office/drawing/2014/main" id="{AEA012E0-295D-40C2-A6F1-7F0EC10E7EB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>
            <a:extLst>
              <a:ext uri="{FF2B5EF4-FFF2-40B4-BE49-F238E27FC236}">
                <a16:creationId xmlns:a16="http://schemas.microsoft.com/office/drawing/2014/main" id="{18E12064-317B-4349-BC4E-5A49E5395C2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>
              <a:ext uri="{FF2B5EF4-FFF2-40B4-BE49-F238E27FC236}">
                <a16:creationId xmlns:a16="http://schemas.microsoft.com/office/drawing/2014/main" id="{1D0858B1-957F-4F3B-A568-2BDCCB1E67C8}"/>
              </a:ext>
            </a:extLst>
          </p:cNvPr>
          <p:cNvSpPr>
            <a:spLocks noGrp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>
              <a:ext uri="{FF2B5EF4-FFF2-40B4-BE49-F238E27FC236}">
                <a16:creationId xmlns:a16="http://schemas.microsoft.com/office/drawing/2014/main" id="{737991D4-8CBE-493F-ABA6-6CA2F5238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>
            <a:extLst>
              <a:ext uri="{FF2B5EF4-FFF2-40B4-BE49-F238E27FC236}">
                <a16:creationId xmlns:a16="http://schemas.microsoft.com/office/drawing/2014/main" id="{4CB699C7-DD8D-4B02-B119-B3A046381B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>
            <a:extLst>
              <a:ext uri="{FF2B5EF4-FFF2-40B4-BE49-F238E27FC236}">
                <a16:creationId xmlns:a16="http://schemas.microsoft.com/office/drawing/2014/main" id="{0012E0E8-22D2-4828-96D4-07289747E03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>
            <a:extLst>
              <a:ext uri="{FF2B5EF4-FFF2-40B4-BE49-F238E27FC236}">
                <a16:creationId xmlns:a16="http://schemas.microsoft.com/office/drawing/2014/main" id="{BE212704-F63D-4467-B4D1-E1A05DF28A6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>
            <a:extLst>
              <a:ext uri="{FF2B5EF4-FFF2-40B4-BE49-F238E27FC236}">
                <a16:creationId xmlns:a16="http://schemas.microsoft.com/office/drawing/2014/main" id="{4A1B2026-EB38-44EF-A0AF-764273F97F5C}"/>
              </a:ext>
            </a:extLst>
          </p:cNvPr>
          <p:cNvSpPr>
            <a:spLocks noGrp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>
              <a:ext uri="{FF2B5EF4-FFF2-40B4-BE49-F238E27FC236}">
                <a16:creationId xmlns:a16="http://schemas.microsoft.com/office/drawing/2014/main" id="{DE9E385E-1F19-492B-847A-E036CBF98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>
            <a:extLst>
              <a:ext uri="{FF2B5EF4-FFF2-40B4-BE49-F238E27FC236}">
                <a16:creationId xmlns:a16="http://schemas.microsoft.com/office/drawing/2014/main" id="{1139554F-F0F8-4A5B-B738-EE4DA1C1A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>
            <a:extLst>
              <a:ext uri="{FF2B5EF4-FFF2-40B4-BE49-F238E27FC236}">
                <a16:creationId xmlns:a16="http://schemas.microsoft.com/office/drawing/2014/main" id="{DCA3C867-D9A9-44CC-B2AF-39136477F9A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>
            <a:extLst>
              <a:ext uri="{FF2B5EF4-FFF2-40B4-BE49-F238E27FC236}">
                <a16:creationId xmlns:a16="http://schemas.microsoft.com/office/drawing/2014/main" id="{B4E33A82-B0DC-4FF4-BFBF-BF541E648C0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>
            <a:extLst>
              <a:ext uri="{FF2B5EF4-FFF2-40B4-BE49-F238E27FC236}">
                <a16:creationId xmlns:a16="http://schemas.microsoft.com/office/drawing/2014/main" id="{71C7612B-45BE-43C6-9BFF-BECCDB1C04A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>
            <a:extLst>
              <a:ext uri="{FF2B5EF4-FFF2-40B4-BE49-F238E27FC236}">
                <a16:creationId xmlns:a16="http://schemas.microsoft.com/office/drawing/2014/main" id="{6D9F8C13-E65B-48CC-9AE4-0E674D01C6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>
            <a:extLst>
              <a:ext uri="{FF2B5EF4-FFF2-40B4-BE49-F238E27FC236}">
                <a16:creationId xmlns:a16="http://schemas.microsoft.com/office/drawing/2014/main" id="{FE40F1DB-BF19-412F-99B5-E52B408B8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>
            <a:extLst>
              <a:ext uri="{FF2B5EF4-FFF2-40B4-BE49-F238E27FC236}">
                <a16:creationId xmlns:a16="http://schemas.microsoft.com/office/drawing/2014/main" id="{061DACDE-73F5-41D1-A5D0-4175AC1FAEA4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>
            <a:extLst>
              <a:ext uri="{FF2B5EF4-FFF2-40B4-BE49-F238E27FC236}">
                <a16:creationId xmlns:a16="http://schemas.microsoft.com/office/drawing/2014/main" id="{DCE36001-0315-4E88-BBB8-F2243A3545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>
            <a:extLst>
              <a:ext uri="{FF2B5EF4-FFF2-40B4-BE49-F238E27FC236}">
                <a16:creationId xmlns:a16="http://schemas.microsoft.com/office/drawing/2014/main" id="{EFB92BCB-7165-46A6-8AE3-5E0B97FDCC1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>
            <a:extLst>
              <a:ext uri="{FF2B5EF4-FFF2-40B4-BE49-F238E27FC236}">
                <a16:creationId xmlns:a16="http://schemas.microsoft.com/office/drawing/2014/main" id="{8F0D7E44-3EF0-4FA7-8BDB-5B23F508AE1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>
            <a:extLst>
              <a:ext uri="{FF2B5EF4-FFF2-40B4-BE49-F238E27FC236}">
                <a16:creationId xmlns:a16="http://schemas.microsoft.com/office/drawing/2014/main" id="{42859624-3DA2-4025-8BEE-1EEACB439CB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>
            <a:extLst>
              <a:ext uri="{FF2B5EF4-FFF2-40B4-BE49-F238E27FC236}">
                <a16:creationId xmlns:a16="http://schemas.microsoft.com/office/drawing/2014/main" id="{03468C5A-88D6-4A4C-BBDC-77B858D7E78C}"/>
              </a:ext>
            </a:extLst>
          </p:cNvPr>
          <p:cNvSpPr>
            <a:spLocks noGrp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>
              <a:ext uri="{FF2B5EF4-FFF2-40B4-BE49-F238E27FC236}">
                <a16:creationId xmlns:a16="http://schemas.microsoft.com/office/drawing/2014/main" id="{C38EF062-CE41-4E56-AA64-0AE8CA85E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>
            <a:extLst>
              <a:ext uri="{FF2B5EF4-FFF2-40B4-BE49-F238E27FC236}">
                <a16:creationId xmlns:a16="http://schemas.microsoft.com/office/drawing/2014/main" id="{D1C2769B-2F77-494B-B5CE-DF37CC66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>
            <a:extLst>
              <a:ext uri="{FF2B5EF4-FFF2-40B4-BE49-F238E27FC236}">
                <a16:creationId xmlns:a16="http://schemas.microsoft.com/office/drawing/2014/main" id="{C0202F61-654C-400D-B437-6BAECD25B84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>
            <a:extLst>
              <a:ext uri="{FF2B5EF4-FFF2-40B4-BE49-F238E27FC236}">
                <a16:creationId xmlns:a16="http://schemas.microsoft.com/office/drawing/2014/main" id="{9B1AF221-CF0C-43F5-8ECC-A47C4BE252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>
            <a:extLst>
              <a:ext uri="{FF2B5EF4-FFF2-40B4-BE49-F238E27FC236}">
                <a16:creationId xmlns:a16="http://schemas.microsoft.com/office/drawing/2014/main" id="{A3B6E066-2920-400B-ABBD-194544AA75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>
            <a:extLst>
              <a:ext uri="{FF2B5EF4-FFF2-40B4-BE49-F238E27FC236}">
                <a16:creationId xmlns:a16="http://schemas.microsoft.com/office/drawing/2014/main" id="{E69CB720-1EA3-41DB-B965-7890B9D942EE}"/>
              </a:ext>
            </a:extLst>
          </p:cNvPr>
          <p:cNvSpPr>
            <a:spLocks noGrp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>
              <a:ext uri="{FF2B5EF4-FFF2-40B4-BE49-F238E27FC236}">
                <a16:creationId xmlns:a16="http://schemas.microsoft.com/office/drawing/2014/main" id="{03771F2A-C701-4CBC-BECB-8E1FFEC4C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>
            <a:extLst>
              <a:ext uri="{FF2B5EF4-FFF2-40B4-BE49-F238E27FC236}">
                <a16:creationId xmlns:a16="http://schemas.microsoft.com/office/drawing/2014/main" id="{61209296-AE15-4408-9417-D3E5158E8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>
            <a:extLst>
              <a:ext uri="{FF2B5EF4-FFF2-40B4-BE49-F238E27FC236}">
                <a16:creationId xmlns:a16="http://schemas.microsoft.com/office/drawing/2014/main" id="{ADEEDEAB-444A-40E8-91D7-939B1C2A5BE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>
            <a:extLst>
              <a:ext uri="{FF2B5EF4-FFF2-40B4-BE49-F238E27FC236}">
                <a16:creationId xmlns:a16="http://schemas.microsoft.com/office/drawing/2014/main" id="{7502D426-5355-4074-9DC4-A52F04B3B1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>
            <a:extLst>
              <a:ext uri="{FF2B5EF4-FFF2-40B4-BE49-F238E27FC236}">
                <a16:creationId xmlns:a16="http://schemas.microsoft.com/office/drawing/2014/main" id="{0DD6D9CD-B23E-42A1-809A-2A59800F78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>
            <a:extLst>
              <a:ext uri="{FF2B5EF4-FFF2-40B4-BE49-F238E27FC236}">
                <a16:creationId xmlns:a16="http://schemas.microsoft.com/office/drawing/2014/main" id="{28BC7AC6-7EB3-464A-8784-CB739CBB9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44">
            <a:extLst>
              <a:ext uri="{FF2B5EF4-FFF2-40B4-BE49-F238E27FC236}">
                <a16:creationId xmlns:a16="http://schemas.microsoft.com/office/drawing/2014/main" id="{1AE3E04F-CC4F-4463-955A-09E6F3782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8" name="Google Shape;8;p44">
            <a:extLst>
              <a:ext uri="{FF2B5EF4-FFF2-40B4-BE49-F238E27FC236}">
                <a16:creationId xmlns:a16="http://schemas.microsoft.com/office/drawing/2014/main" id="{AB2F1B22-6333-4C66-AA79-3225A6B627D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9" name="Google Shape;9;p44">
            <a:extLst>
              <a:ext uri="{FF2B5EF4-FFF2-40B4-BE49-F238E27FC236}">
                <a16:creationId xmlns:a16="http://schemas.microsoft.com/office/drawing/2014/main" id="{B72B0364-F582-4558-98B6-6DCD1ADE140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10" name="Google Shape;10;p44">
            <a:extLst>
              <a:ext uri="{FF2B5EF4-FFF2-40B4-BE49-F238E27FC236}">
                <a16:creationId xmlns:a16="http://schemas.microsoft.com/office/drawing/2014/main" id="{834E625B-5E90-460C-B2A9-8D5293E0F86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>
              <a:ext uri="{FF2B5EF4-FFF2-40B4-BE49-F238E27FC236}">
                <a16:creationId xmlns:a16="http://schemas.microsoft.com/office/drawing/2014/main" id="{55D2A79D-BCB1-401A-B50E-4CEE4F0A3831}"/>
              </a:ext>
            </a:extLst>
          </p:cNvPr>
          <p:cNvSpPr>
            <a:spLocks noGrp="1"/>
          </p:cNvSpPr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>
              <a:ext uri="{FF2B5EF4-FFF2-40B4-BE49-F238E27FC236}">
                <a16:creationId xmlns:a16="http://schemas.microsoft.com/office/drawing/2014/main" id="{DC4D634B-B635-4B26-B8ED-28068DF4CA13}"/>
              </a:ext>
            </a:extLst>
          </p:cNvPr>
          <p:cNvSpPr>
            <a:spLocks noGrp="1"/>
          </p:cNvSpPr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>
              <a:ext uri="{FF2B5EF4-FFF2-40B4-BE49-F238E27FC236}">
                <a16:creationId xmlns:a16="http://schemas.microsoft.com/office/drawing/2014/main" id="{4A18FF3E-8485-45E6-A6DF-E8B36086755F}"/>
              </a:ext>
            </a:extLst>
          </p:cNvPr>
          <p:cNvSpPr>
            <a:spLocks noGrp="1"/>
          </p:cNvSpPr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8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>
            <a:extLst>
              <a:ext uri="{FF2B5EF4-FFF2-40B4-BE49-F238E27FC236}">
                <a16:creationId xmlns:a16="http://schemas.microsoft.com/office/drawing/2014/main" id="{A3D3BC27-38C9-4577-B9CA-B341FC715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 fontScale="90345"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endParaRPr/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CONVERSOR DE UNIDADES</a:t>
            </a:r>
            <a:endParaRPr/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SOAP JAVA</a:t>
            </a:r>
            <a:endParaRPr/>
          </a:p>
        </p:txBody>
      </p:sp>
      <p:sp>
        <p:nvSpPr>
          <p:cNvPr id="97" name="Google Shape;97;p1">
            <a:extLst>
              <a:ext uri="{FF2B5EF4-FFF2-40B4-BE49-F238E27FC236}">
                <a16:creationId xmlns:a16="http://schemas.microsoft.com/office/drawing/2014/main" id="{B45318DE-2B33-4B0F-9B21-BCBF45B8D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t>INTEGRANTES:  Parra Rosales Sebastián Enrique</a:t>
            </a:r>
            <a:endParaRPr b="1">
              <a:solidFill>
                <a:schemeClr val="lt1"/>
              </a:solidFill>
            </a:endParaRPr>
          </a:p>
          <a:p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Sagnay Pilamunga Luis Eduardo</a:t>
            </a:r>
            <a:endParaRPr>
              <a:solidFill>
                <a:schemeClr val="lt1"/>
              </a:solidFill>
            </a:endParaRPr>
          </a:p>
          <a:p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Yépez Morán Jefferson David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>
              <a:ext uri="{FF2B5EF4-FFF2-40B4-BE49-F238E27FC236}">
                <a16:creationId xmlns:a16="http://schemas.microsoft.com/office/drawing/2014/main" id="{CF0005BE-44E9-4814-B7A8-B47DC0217A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ln>
            <a:noFill/>
          </a:ln>
        </p:spPr>
      </p:pic>
      <p:sp>
        <p:nvSpPr>
          <p:cNvPr id="99" name="Google Shape;99;p1">
            <a:extLst>
              <a:ext uri="{FF2B5EF4-FFF2-40B4-BE49-F238E27FC236}">
                <a16:creationId xmlns:a16="http://schemas.microsoft.com/office/drawing/2014/main" id="{9CD1E8BB-8354-4AD6-B770-62910AE302B9}"/>
              </a:ext>
            </a:extLst>
          </p:cNvPr>
          <p:cNvSpPr>
            <a:spLocks noGrp="1"/>
          </p:cNvSpPr>
          <p:nvPr/>
        </p:nvSpPr>
        <p:spPr>
          <a:xfrm>
            <a:off x="7239000" y="5301806"/>
            <a:ext cx="4572000" cy="1235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 08/10/2026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  <a:p>
            <a:pPr marL="0" marR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ING: Eduardo Mauricio Campaña Ortega</a:t>
            </a:r>
          </a:p>
        </p:txBody>
      </p:sp>
      <p:sp>
        <p:nvSpPr>
          <p:cNvPr id="100" name="Google Shape;100;p1">
            <a:extLst>
              <a:ext uri="{FF2B5EF4-FFF2-40B4-BE49-F238E27FC236}">
                <a16:creationId xmlns:a16="http://schemas.microsoft.com/office/drawing/2014/main" id="{111340CB-9A53-468E-BAB9-D0074805D87E}"/>
              </a:ext>
            </a:extLst>
          </p:cNvPr>
          <p:cNvSpPr>
            <a:spLocks noGrp="1"/>
          </p:cNvSpPr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41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>
            <a:extLst>
              <a:ext uri="{FF2B5EF4-FFF2-40B4-BE49-F238E27FC236}">
                <a16:creationId xmlns:a16="http://schemas.microsoft.com/office/drawing/2014/main" id="{BFEC824B-B37F-4C9F-9487-AFC41E7CB619}"/>
              </a:ext>
            </a:extLst>
          </p:cNvPr>
          <p:cNvSpPr>
            <a:spLocks noGrp="1"/>
          </p:cNvSpPr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>
              <a:ext uri="{FF2B5EF4-FFF2-40B4-BE49-F238E27FC236}">
                <a16:creationId xmlns:a16="http://schemas.microsoft.com/office/drawing/2014/main" id="{108AD997-5CC0-4B49-9372-403A26D0F3B7}"/>
              </a:ext>
            </a:extLst>
          </p:cNvPr>
          <p:cNvSpPr>
            <a:spLocks noGrp="1"/>
          </p:cNvSpPr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>
              <a:ext uri="{FF2B5EF4-FFF2-40B4-BE49-F238E27FC236}">
                <a16:creationId xmlns:a16="http://schemas.microsoft.com/office/drawing/2014/main" id="{7219CC9D-242A-4E8E-93F5-D852BED95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lnSpcReduction="10000"/>
          </a:bodyPr>
          <a:lstStyle/>
          <a:p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CREACIÓN DEL SERVIDOR SOAP EN JAVA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>
            <a:extLst>
              <a:ext uri="{FF2B5EF4-FFF2-40B4-BE49-F238E27FC236}">
                <a16:creationId xmlns:a16="http://schemas.microsoft.com/office/drawing/2014/main" id="{9ACABE79-29C4-42E7-9730-A5DE0923A7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ln>
            <a:noFill/>
          </a:ln>
        </p:spPr>
      </p:pic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0309BD7F-22B3-49D1-8D8B-024097B8FCB9}"/>
              </a:ext>
            </a:extLst>
          </p:cNvPr>
          <p:cNvSpPr>
            <a:spLocks noGrp="1"/>
          </p:cNvSpPr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Marcador arquitectura general">
            <a:extLst>
              <a:ext uri="{FF2B5EF4-FFF2-40B4-BE49-F238E27FC236}">
                <a16:creationId xmlns:a16="http://schemas.microsoft.com/office/drawing/2014/main" id="{29FC39B7-9574-426B-B866-FDB98D47CEED}"/>
              </a:ext>
            </a:extLst>
          </p:cNvPr>
          <p:cNvSpPr>
            <a:spLocks noGrp="1"/>
          </p:cNvSpPr>
          <p:nvPr/>
        </p:nvSpPr>
        <p:spPr>
          <a:xfrm>
            <a:off x="4791075" y="1933575"/>
            <a:ext cx="6486525" cy="3000375"/>
          </a:xfrm>
          <a:prstGeom prst="rect">
            <a:avLst/>
          </a:prstGeom>
          <a:solidFill>
            <a:srgbClr val="F1F4F8"/>
          </a:solidFill>
          <a:ln w="14288">
            <a:solidFill>
              <a:srgbClr val="73839C"/>
            </a:solidFill>
            <a:prstDash val="solid"/>
          </a:ln>
        </p:spPr>
        <p:txBody>
          <a:bodyPr/>
          <a:lstStyle>
            <a:def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IMAGEN PENDIENTE</a:t>
            </a:r>
          </a:p>
          <a:p>
            <a:pPr algn="ctr">
              <a:def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72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Diagrama general de arquitectura con el servidor SOAP central y los clientes de consola, escritorio, web y Android</a:t>
            </a:r>
          </a:p>
        </p:txBody>
      </p:sp>
    </p:spTree>
    <p:extLst>
      <p:ext uri="{BB962C8B-B14F-4D97-AF65-F5344CB8AC3E}">
        <p14:creationId xmlns:p14="http://schemas.microsoft.com/office/powerpoint/2010/main" val="613339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>
            <a:extLst>
              <a:ext uri="{FF2B5EF4-FFF2-40B4-BE49-F238E27FC236}">
                <a16:creationId xmlns:a16="http://schemas.microsoft.com/office/drawing/2014/main" id="{81065105-8CCE-4BB9-977C-826847859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115" name="Google Shape;115;p3">
            <a:extLst>
              <a:ext uri="{FF2B5EF4-FFF2-40B4-BE49-F238E27FC236}">
                <a16:creationId xmlns:a16="http://schemas.microsoft.com/office/drawing/2014/main" id="{E56724D6-6BD7-435B-B435-2DE44AAB7C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 OBJETIVO</a:t>
            </a:r>
            <a:endParaRPr/>
          </a:p>
          <a:p>
            <a:pPr marL="342900" marR="0" lvl="0" indent="-237744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>
                <a:latin typeface="Cambria"/>
                <a:ea typeface="Cambria"/>
                <a:cs typeface="Cambria"/>
              </a:rPr>
              <a:t>Implementar un servicio SOAP en Java que centralice la autenticación, el catálogo y las conversiones de longitud, masa y temperatura, para que los clientes de consola, escritorio, web y Android utilicen el mismo backend sin base de datos.</a:t>
            </a:r>
          </a:p>
        </p:txBody>
      </p:sp>
      <p:sp>
        <p:nvSpPr>
          <p:cNvPr id="116" name="Google Shape;116;p3">
            <a:extLst>
              <a:ext uri="{FF2B5EF4-FFF2-40B4-BE49-F238E27FC236}">
                <a16:creationId xmlns:a16="http://schemas.microsoft.com/office/drawing/2014/main" id="{570DFF06-AF3E-421D-AF8D-C398E7B826FD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6043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>
            <a:extLst>
              <a:ext uri="{FF2B5EF4-FFF2-40B4-BE49-F238E27FC236}">
                <a16:creationId xmlns:a16="http://schemas.microsoft.com/office/drawing/2014/main" id="{B6A2B5BD-9E40-4197-8D4E-03F69123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122" name="Google Shape;122;g2d6d00c5bd2_0_0">
            <a:extLst>
              <a:ext uri="{FF2B5EF4-FFF2-40B4-BE49-F238E27FC236}">
                <a16:creationId xmlns:a16="http://schemas.microsoft.com/office/drawing/2014/main" id="{0E4BFB10-2E6B-475C-81A7-70E55BE76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1.2  SERVIDOR SOAP</a:t>
            </a:r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</a:endParaRPr>
          </a:p>
          <a:p>
            <a:pPr marL="342900" marR="0" lvl="0" indent="-35078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El servidor Java 21 expone WSConUni como un servicio JAX-WS empaquetado en WAR. Payara publica el endpoint y el WSDL; la lógica de autenticación, catálogo y conversiones se ejecuta en una capa de servicio separada.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3" name="Google Shape;123;g2d6d00c5bd2_0_0">
            <a:extLst>
              <a:ext uri="{FF2B5EF4-FFF2-40B4-BE49-F238E27FC236}">
                <a16:creationId xmlns:a16="http://schemas.microsoft.com/office/drawing/2014/main" id="{D05DCEC7-19D9-4162-88BA-C10BE50C6864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image36.png">
            <a:extLst>
              <a:ext uri="{FF2B5EF4-FFF2-40B4-BE49-F238E27FC236}">
                <a16:creationId xmlns:a16="http://schemas.microsoft.com/office/drawing/2014/main" id="{AA23B7A3-31EF-4459-8CD1-710A819378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</p:spPr>
      </p:pic>
      <p:pic>
        <p:nvPicPr>
          <p:cNvPr id="8" name="image49.png">
            <a:extLst>
              <a:ext uri="{FF2B5EF4-FFF2-40B4-BE49-F238E27FC236}">
                <a16:creationId xmlns:a16="http://schemas.microsoft.com/office/drawing/2014/main" id="{0100DDEC-C176-4591-A5E5-1D2F1C941A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</p:spPr>
      </p:pic>
      <p:pic>
        <p:nvPicPr>
          <p:cNvPr id="9" name="image13.png">
            <a:extLst>
              <a:ext uri="{FF2B5EF4-FFF2-40B4-BE49-F238E27FC236}">
                <a16:creationId xmlns:a16="http://schemas.microsoft.com/office/drawing/2014/main" id="{85435166-53CB-4CCF-9800-140F63B273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</p:spPr>
      </p:pic>
      <p:sp>
        <p:nvSpPr>
          <p:cNvPr id="124" name="Fondo blanco del contenido S4">
            <a:extLst>
              <a:ext uri="{FF2B5EF4-FFF2-40B4-BE49-F238E27FC236}">
                <a16:creationId xmlns:a16="http://schemas.microsoft.com/office/drawing/2014/main" id="{FEBE8162-C7F9-45F5-9521-579D2BC22C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5" name="Franja superior azul S4">
            <a:extLst>
              <a:ext uri="{FF2B5EF4-FFF2-40B4-BE49-F238E27FC236}">
                <a16:creationId xmlns:a16="http://schemas.microsoft.com/office/drawing/2014/main" id="{39D9E7EC-A762-42CC-B02E-4CDED63F63EA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6" name="Acento superior 1 S4">
            <a:extLst>
              <a:ext uri="{FF2B5EF4-FFF2-40B4-BE49-F238E27FC236}">
                <a16:creationId xmlns:a16="http://schemas.microsoft.com/office/drawing/2014/main" id="{C823ECB7-1C40-433A-854B-1C246B421CCB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7" name="Acento superior 2 S4">
            <a:extLst>
              <a:ext uri="{FF2B5EF4-FFF2-40B4-BE49-F238E27FC236}">
                <a16:creationId xmlns:a16="http://schemas.microsoft.com/office/drawing/2014/main" id="{824D7EE9-FA03-4D14-ADD0-A9EE40F1D44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8" name="Acento superior 3 S4">
            <a:extLst>
              <a:ext uri="{FF2B5EF4-FFF2-40B4-BE49-F238E27FC236}">
                <a16:creationId xmlns:a16="http://schemas.microsoft.com/office/drawing/2014/main" id="{A37A10BA-5B05-48F3-9F14-DEEF82839B1B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9" name="Título de sección S4">
            <a:extLst>
              <a:ext uri="{FF2B5EF4-FFF2-40B4-BE49-F238E27FC236}">
                <a16:creationId xmlns:a16="http://schemas.microsoft.com/office/drawing/2014/main" id="{0184A6B3-80D0-4479-AA28-DB9D8B107EF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30" name="Título del contenido S4">
            <a:extLst>
              <a:ext uri="{FF2B5EF4-FFF2-40B4-BE49-F238E27FC236}">
                <a16:creationId xmlns:a16="http://schemas.microsoft.com/office/drawing/2014/main" id="{48D83C8D-47D9-4484-941C-E74C96FC45F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Servidor SOAP en Java</a:t>
            </a:r>
          </a:p>
        </p:txBody>
      </p:sp>
      <p:sp>
        <p:nvSpPr>
          <p:cNvPr id="131" name="Texto del contenido S4">
            <a:extLst>
              <a:ext uri="{FF2B5EF4-FFF2-40B4-BE49-F238E27FC236}">
                <a16:creationId xmlns:a16="http://schemas.microsoft.com/office/drawing/2014/main" id="{2725BC22-5BBC-4C5B-A11A-C3DA98006DBE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backend Java 21 expone WSConUni mediante JAX-WS y Maven lo empaqueta como WAR. Payara publica el endpoint y el WSDL.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4E81B0C-AE32-3A46-C1EA-E0C80F4DDD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560" y="2595320"/>
            <a:ext cx="3915321" cy="346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535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>
            <a:extLst>
              <a:ext uri="{FF2B5EF4-FFF2-40B4-BE49-F238E27FC236}">
                <a16:creationId xmlns:a16="http://schemas.microsoft.com/office/drawing/2014/main" id="{CC675180-01D1-4967-98CF-27ED72C4C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140" name="Google Shape;140;p9">
            <a:extLst>
              <a:ext uri="{FF2B5EF4-FFF2-40B4-BE49-F238E27FC236}">
                <a16:creationId xmlns:a16="http://schemas.microsoft.com/office/drawing/2014/main" id="{DDE7BBC6-8C57-4343-80E1-FD21CE851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CONTRATO SOAP Y OPERACIONES</a:t>
            </a:r>
            <a:endParaRPr sz="1350" b="1"/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endParaRPr sz="1800"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sz="1300">
                <a:latin typeface="Cambria"/>
                <a:ea typeface="Cambria"/>
                <a:cs typeface="Cambria"/>
              </a:rPr>
              <a:t>WSConUni expone autenticar, recuperarClave, obtenerCategorias, obtenerUnidades y convertir. El contrato WSDL define los parámetros y las respuestas estructuradas con estado, código y mensaje. La autenticación entrega un token; las consultas y conversiones requieren ese token.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41" name="Google Shape;141;p9">
            <a:extLst>
              <a:ext uri="{FF2B5EF4-FFF2-40B4-BE49-F238E27FC236}">
                <a16:creationId xmlns:a16="http://schemas.microsoft.com/office/drawing/2014/main" id="{091BF3A5-AEDB-464C-A13E-19CA7975709E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image6.png">
            <a:extLst>
              <a:ext uri="{FF2B5EF4-FFF2-40B4-BE49-F238E27FC236}">
                <a16:creationId xmlns:a16="http://schemas.microsoft.com/office/drawing/2014/main" id="{DB6A121A-4AB5-44A9-B824-040346739E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6342" y="3401152"/>
            <a:ext cx="2105025" cy="88582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E124BECD-493A-4A6F-BFDB-23AAFBE50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120" y="3429000"/>
            <a:ext cx="5843760" cy="2964849"/>
          </a:xfrm>
          <a:prstGeom prst="rect">
            <a:avLst/>
          </a:prstGeom>
        </p:spPr>
      </p:pic>
      <p:sp>
        <p:nvSpPr>
          <p:cNvPr id="142" name="Fondo blanco del contenido S5">
            <a:extLst>
              <a:ext uri="{FF2B5EF4-FFF2-40B4-BE49-F238E27FC236}">
                <a16:creationId xmlns:a16="http://schemas.microsoft.com/office/drawing/2014/main" id="{05A93352-8CC6-462D-83BF-4FFC1458ED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3" name="Franja superior azul S5">
            <a:extLst>
              <a:ext uri="{FF2B5EF4-FFF2-40B4-BE49-F238E27FC236}">
                <a16:creationId xmlns:a16="http://schemas.microsoft.com/office/drawing/2014/main" id="{7194CBD6-3B94-4F73-B6C6-278B32BF2DF2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4" name="Acento superior 1 S5">
            <a:extLst>
              <a:ext uri="{FF2B5EF4-FFF2-40B4-BE49-F238E27FC236}">
                <a16:creationId xmlns:a16="http://schemas.microsoft.com/office/drawing/2014/main" id="{CCDCF1EA-54D2-44F0-B851-C9C46577260C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5" name="Acento superior 2 S5">
            <a:extLst>
              <a:ext uri="{FF2B5EF4-FFF2-40B4-BE49-F238E27FC236}">
                <a16:creationId xmlns:a16="http://schemas.microsoft.com/office/drawing/2014/main" id="{ACF4D640-AFF5-4882-A3E4-C59D8143C747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6" name="Acento superior 3 S5">
            <a:extLst>
              <a:ext uri="{FF2B5EF4-FFF2-40B4-BE49-F238E27FC236}">
                <a16:creationId xmlns:a16="http://schemas.microsoft.com/office/drawing/2014/main" id="{1F5F0D56-A6A5-4B42-B5CA-4D3AC694774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7" name="Título de sección S5">
            <a:extLst>
              <a:ext uri="{FF2B5EF4-FFF2-40B4-BE49-F238E27FC236}">
                <a16:creationId xmlns:a16="http://schemas.microsoft.com/office/drawing/2014/main" id="{A276F549-C305-44C9-9FB8-6B31E1BD820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48" name="Título del contenido S5">
            <a:extLst>
              <a:ext uri="{FF2B5EF4-FFF2-40B4-BE49-F238E27FC236}">
                <a16:creationId xmlns:a16="http://schemas.microsoft.com/office/drawing/2014/main" id="{65565816-C780-430C-99FA-828F92C0B27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Contrato WSDL y operaciones</a:t>
            </a:r>
          </a:p>
        </p:txBody>
      </p:sp>
      <p:sp>
        <p:nvSpPr>
          <p:cNvPr id="149" name="Texto del contenido S5">
            <a:extLst>
              <a:ext uri="{FF2B5EF4-FFF2-40B4-BE49-F238E27FC236}">
                <a16:creationId xmlns:a16="http://schemas.microsoft.com/office/drawing/2014/main" id="{387EF7E7-9613-4AF8-8DFB-0C9012789926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servicio ofrece autenticar, recuperarClave, obtenerCategorias, obtenerUnidades y convertir. Las respuestas incluyen estado, código y mensaje.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E20E95A-D012-B9C1-C377-91B0C67A25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8475" y="2117244"/>
            <a:ext cx="4991528" cy="403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889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>
            <a:extLst>
              <a:ext uri="{FF2B5EF4-FFF2-40B4-BE49-F238E27FC236}">
                <a16:creationId xmlns:a16="http://schemas.microsoft.com/office/drawing/2014/main" id="{6AAAE119-557B-4C82-9985-28E5E80C9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149" name="Google Shape;149;g2d624313899_0_5">
            <a:extLst>
              <a:ext uri="{FF2B5EF4-FFF2-40B4-BE49-F238E27FC236}">
                <a16:creationId xmlns:a16="http://schemas.microsoft.com/office/drawing/2014/main" id="{37E99EA5-2406-4D5B-9BB0-482221DB0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ARQUITECTURA DEL SERVIDOR</a:t>
            </a:r>
          </a:p>
          <a:p>
            <a:pPr marL="45720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677" b="1">
              <a:latin typeface="Cambria"/>
              <a:ea typeface="Cambria"/>
              <a:cs typeface="Cambria"/>
            </a:endParaRPr>
          </a:p>
          <a:p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Noto Sans Symbols"/>
              <a:buChar char="∙"/>
            </a:pPr>
            <a:r>
              <a:rPr sz="1677">
                <a:latin typeface="Cambria"/>
                <a:ea typeface="Cambria"/>
                <a:cs typeface="Cambria"/>
              </a:rPr>
              <a:t>WSConUni publica las operaciones SOAP y delega las reglas de negocio en ConversorUnidadesServices. Respuesta normaliza los resultados y errores. El catálogo y las sesiones se almacenan en memoria, por lo que el sistema funciona sin conexión a una base de datos.</a:t>
            </a:r>
          </a:p>
        </p:txBody>
      </p:sp>
      <p:sp>
        <p:nvSpPr>
          <p:cNvPr id="150" name="Google Shape;150;g2d624313899_0_5">
            <a:extLst>
              <a:ext uri="{FF2B5EF4-FFF2-40B4-BE49-F238E27FC236}">
                <a16:creationId xmlns:a16="http://schemas.microsoft.com/office/drawing/2014/main" id="{2AC19248-6791-4B07-8F4F-4D8957F2ADBD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image5.png">
            <a:extLst>
              <a:ext uri="{FF2B5EF4-FFF2-40B4-BE49-F238E27FC236}">
                <a16:creationId xmlns:a16="http://schemas.microsoft.com/office/drawing/2014/main" id="{DAE93DA1-7DDE-423C-BA96-AA98704621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49937" y="2870106"/>
            <a:ext cx="3268557" cy="2033588"/>
          </a:xfrm>
          <a:prstGeom prst="rect">
            <a:avLst/>
          </a:prstGeom>
        </p:spPr>
      </p:pic>
      <p:sp>
        <p:nvSpPr>
          <p:cNvPr id="151" name="Fondo blanco del contenido S6">
            <a:extLst>
              <a:ext uri="{FF2B5EF4-FFF2-40B4-BE49-F238E27FC236}">
                <a16:creationId xmlns:a16="http://schemas.microsoft.com/office/drawing/2014/main" id="{2F8021FE-124F-4FA4-93E0-345350EAB1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2" name="Franja superior azul S6">
            <a:extLst>
              <a:ext uri="{FF2B5EF4-FFF2-40B4-BE49-F238E27FC236}">
                <a16:creationId xmlns:a16="http://schemas.microsoft.com/office/drawing/2014/main" id="{7A968A6F-662E-4184-ABCB-A87E5C7BC1F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3" name="Acento superior 1 S6">
            <a:extLst>
              <a:ext uri="{FF2B5EF4-FFF2-40B4-BE49-F238E27FC236}">
                <a16:creationId xmlns:a16="http://schemas.microsoft.com/office/drawing/2014/main" id="{63E17F5D-BDBB-4526-B1D2-F52610FB2E1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4" name="Acento superior 2 S6">
            <a:extLst>
              <a:ext uri="{FF2B5EF4-FFF2-40B4-BE49-F238E27FC236}">
                <a16:creationId xmlns:a16="http://schemas.microsoft.com/office/drawing/2014/main" id="{58729BF8-43D6-4B8B-AABB-99AAC1220845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5" name="Acento superior 3 S6">
            <a:extLst>
              <a:ext uri="{FF2B5EF4-FFF2-40B4-BE49-F238E27FC236}">
                <a16:creationId xmlns:a16="http://schemas.microsoft.com/office/drawing/2014/main" id="{879F4C14-BA16-4DA4-B505-3C3D77D6C9D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6" name="Título de sección S6">
            <a:extLst>
              <a:ext uri="{FF2B5EF4-FFF2-40B4-BE49-F238E27FC236}">
                <a16:creationId xmlns:a16="http://schemas.microsoft.com/office/drawing/2014/main" id="{B4CC9BBD-B390-468A-8047-35136FE9F5B9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57" name="Título del contenido S6">
            <a:extLst>
              <a:ext uri="{FF2B5EF4-FFF2-40B4-BE49-F238E27FC236}">
                <a16:creationId xmlns:a16="http://schemas.microsoft.com/office/drawing/2014/main" id="{4EB45468-B4AE-4978-BBAF-FD0A2582B26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Capas del servidor</a:t>
            </a:r>
          </a:p>
        </p:txBody>
      </p:sp>
      <p:sp>
        <p:nvSpPr>
          <p:cNvPr id="158" name="Texto del contenido S6">
            <a:extLst>
              <a:ext uri="{FF2B5EF4-FFF2-40B4-BE49-F238E27FC236}">
                <a16:creationId xmlns:a16="http://schemas.microsoft.com/office/drawing/2014/main" id="{67E3F2A0-262F-4D61-8759-308D34E88EF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WSConUni recibe las solicitudes SOAP y delega las reglas en ConversorUnidadesServices. Respuesta normaliza resultados y errores. No se usa base de datos.</a:t>
            </a:r>
          </a:p>
        </p:txBody>
      </p:sp>
      <p:sp>
        <p:nvSpPr>
          <p:cNvPr id="159" name="Marcador imagen S6">
            <a:extLst>
              <a:ext uri="{FF2B5EF4-FFF2-40B4-BE49-F238E27FC236}">
                <a16:creationId xmlns:a16="http://schemas.microsoft.com/office/drawing/2014/main" id="{E2EDF70A-571B-4FF8-B8B7-C4C72E87A14F}"/>
              </a:ext>
            </a:extLst>
          </p:cNvPr>
          <p:cNvSpPr>
            <a:spLocks noGrp="1"/>
          </p:cNvSpPr>
          <p:nvPr/>
        </p:nvSpPr>
        <p:spPr>
          <a:xfrm>
            <a:off x="4714875" y="2571750"/>
            <a:ext cx="4286250" cy="3238500"/>
          </a:xfrm>
          <a:prstGeom prst="rect">
            <a:avLst/>
          </a:prstGeom>
          <a:solidFill>
            <a:srgbClr val="F1F4F8"/>
          </a:solidFill>
          <a:ln w="14288">
            <a:solidFill>
              <a:srgbClr val="73839C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Diagrama de capas: endpoint SOAP, servicio de negocio y modelo Respuesta</a:t>
            </a:r>
          </a:p>
        </p:txBody>
      </p:sp>
    </p:spTree>
    <p:extLst>
      <p:ext uri="{BB962C8B-B14F-4D97-AF65-F5344CB8AC3E}">
        <p14:creationId xmlns:p14="http://schemas.microsoft.com/office/powerpoint/2010/main" val="365408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>
            <a:extLst>
              <a:ext uri="{FF2B5EF4-FFF2-40B4-BE49-F238E27FC236}">
                <a16:creationId xmlns:a16="http://schemas.microsoft.com/office/drawing/2014/main" id="{81900682-FC87-4335-B19D-4D8B3054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165" name="Google Shape;165;g2d624313899_0_26">
            <a:extLst>
              <a:ext uri="{FF2B5EF4-FFF2-40B4-BE49-F238E27FC236}">
                <a16:creationId xmlns:a16="http://schemas.microsoft.com/office/drawing/2014/main" id="{D51EFC6C-BF0B-403A-83B5-B54C270A4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827236"/>
            <a:ext cx="3709200" cy="39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LÓGICA Y SEGURIDAD</a:t>
            </a:r>
            <a:endParaRPr sz="1670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790"/>
              <a:buFont typeface="Arial"/>
              <a:buNone/>
            </a:pPr>
            <a:endParaRPr sz="1670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790"/>
              <a:buFont typeface="Arial"/>
              <a:buNone/>
            </a:pPr>
            <a:r>
              <a:rPr sz="1670">
                <a:latin typeface="Cambria"/>
                <a:ea typeface="Cambria"/>
                <a:cs typeface="Cambria"/>
              </a:rPr>
              <a:t>El servicio valida el token antes de consultar el catálogo o convertir. La sesión dura 15 minutos. El catálogo ofrece longitud, masa y temperatura; el servicio valida unidades compatibles y límites físicos antes de calcular.</a:t>
            </a:r>
          </a:p>
        </p:txBody>
      </p:sp>
      <p:sp>
        <p:nvSpPr>
          <p:cNvPr id="166" name="Google Shape;166;g2d624313899_0_26">
            <a:extLst>
              <a:ext uri="{FF2B5EF4-FFF2-40B4-BE49-F238E27FC236}">
                <a16:creationId xmlns:a16="http://schemas.microsoft.com/office/drawing/2014/main" id="{CA994428-09E8-46C9-B0FD-C6481B5029D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9B94815-5BE1-4D9C-BC91-5CDDEC66D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414" y="2817286"/>
            <a:ext cx="4441055" cy="3615432"/>
          </a:xfrm>
          <a:prstGeom prst="rect">
            <a:avLst/>
          </a:prstGeom>
        </p:spPr>
      </p:pic>
      <p:sp>
        <p:nvSpPr>
          <p:cNvPr id="167" name="Fondo blanco del contenido S7">
            <a:extLst>
              <a:ext uri="{FF2B5EF4-FFF2-40B4-BE49-F238E27FC236}">
                <a16:creationId xmlns:a16="http://schemas.microsoft.com/office/drawing/2014/main" id="{B6AA009B-D52D-4531-850F-F5B04C3FD1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8" name="Franja superior azul S7">
            <a:extLst>
              <a:ext uri="{FF2B5EF4-FFF2-40B4-BE49-F238E27FC236}">
                <a16:creationId xmlns:a16="http://schemas.microsoft.com/office/drawing/2014/main" id="{8EDAEAA8-9421-4E19-859A-0B826D0105A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9" name="Acento superior 1 S7">
            <a:extLst>
              <a:ext uri="{FF2B5EF4-FFF2-40B4-BE49-F238E27FC236}">
                <a16:creationId xmlns:a16="http://schemas.microsoft.com/office/drawing/2014/main" id="{E9FA2BD7-5DB7-448E-A5C5-9FB244A090C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0" name="Acento superior 2 S7">
            <a:extLst>
              <a:ext uri="{FF2B5EF4-FFF2-40B4-BE49-F238E27FC236}">
                <a16:creationId xmlns:a16="http://schemas.microsoft.com/office/drawing/2014/main" id="{9AC0DEAE-62BD-4802-A5A5-36B35C35067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1" name="Acento superior 3 S7">
            <a:extLst>
              <a:ext uri="{FF2B5EF4-FFF2-40B4-BE49-F238E27FC236}">
                <a16:creationId xmlns:a16="http://schemas.microsoft.com/office/drawing/2014/main" id="{793AE88A-31F2-4908-95EA-80C0C86CEE48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2" name="Título de sección S7">
            <a:extLst>
              <a:ext uri="{FF2B5EF4-FFF2-40B4-BE49-F238E27FC236}">
                <a16:creationId xmlns:a16="http://schemas.microsoft.com/office/drawing/2014/main" id="{963EB008-FB74-4C21-A7E5-88341747349C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73" name="Título del contenido S7">
            <a:extLst>
              <a:ext uri="{FF2B5EF4-FFF2-40B4-BE49-F238E27FC236}">
                <a16:creationId xmlns:a16="http://schemas.microsoft.com/office/drawing/2014/main" id="{DA61DBF0-8449-46D8-B338-29CA9DDE89D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Autenticación y sesión</a:t>
            </a:r>
          </a:p>
        </p:txBody>
      </p:sp>
      <p:sp>
        <p:nvSpPr>
          <p:cNvPr id="174" name="Texto del contenido S7">
            <a:extLst>
              <a:ext uri="{FF2B5EF4-FFF2-40B4-BE49-F238E27FC236}">
                <a16:creationId xmlns:a16="http://schemas.microsoft.com/office/drawing/2014/main" id="{87B3DC6D-DC55-4D92-8ECD-7AD46CD249D2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servidor valida el token antes de consultar o convertir. La sesión vence a los 15 minutos. El catálogo y las sesiones viven en memoria.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28C0EAF-9996-9A46-624B-C2028556D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625" y="2322324"/>
            <a:ext cx="5055922" cy="370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51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>
            <a:extLst>
              <a:ext uri="{FF2B5EF4-FFF2-40B4-BE49-F238E27FC236}">
                <a16:creationId xmlns:a16="http://schemas.microsoft.com/office/drawing/2014/main" id="{95FD1EF3-78B8-46B3-B95C-A62150EE6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189" name="Google Shape;189;g2d624313899_0_71">
            <a:extLst>
              <a:ext uri="{FF2B5EF4-FFF2-40B4-BE49-F238E27FC236}">
                <a16:creationId xmlns:a16="http://schemas.microsoft.com/office/drawing/2014/main" id="{074D5D96-9665-477D-9182-7E8B8C099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150" y="1921750"/>
            <a:ext cx="60186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PRUEBAS DEL SERVIDOR Y DEL CONTRATO SOAP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90" name="Google Shape;190;g2d624313899_0_71">
            <a:extLst>
              <a:ext uri="{FF2B5EF4-FFF2-40B4-BE49-F238E27FC236}">
                <a16:creationId xmlns:a16="http://schemas.microsoft.com/office/drawing/2014/main" id="{3954C951-A101-4E49-9A6C-8CD6EB77379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image10.png">
            <a:extLst>
              <a:ext uri="{FF2B5EF4-FFF2-40B4-BE49-F238E27FC236}">
                <a16:creationId xmlns:a16="http://schemas.microsoft.com/office/drawing/2014/main" id="{77FD0715-59CA-43DC-9F1C-0959F6801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79863" y="2724790"/>
            <a:ext cx="3776665" cy="1345186"/>
          </a:xfrm>
          <a:prstGeom prst="rect">
            <a:avLst/>
          </a:prstGeom>
        </p:spPr>
      </p:pic>
      <p:pic>
        <p:nvPicPr>
          <p:cNvPr id="10" name="image19.png">
            <a:extLst>
              <a:ext uri="{FF2B5EF4-FFF2-40B4-BE49-F238E27FC236}">
                <a16:creationId xmlns:a16="http://schemas.microsoft.com/office/drawing/2014/main" id="{5DC4F75C-BFD8-4335-BCC7-6667F1BAA8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71319" y="1994161"/>
            <a:ext cx="2849245" cy="2075815"/>
          </a:xfrm>
          <a:prstGeom prst="rect">
            <a:avLst/>
          </a:prstGeom>
        </p:spPr>
      </p:pic>
      <p:pic>
        <p:nvPicPr>
          <p:cNvPr id="11" name="image25.png">
            <a:extLst>
              <a:ext uri="{FF2B5EF4-FFF2-40B4-BE49-F238E27FC236}">
                <a16:creationId xmlns:a16="http://schemas.microsoft.com/office/drawing/2014/main" id="{086CB988-7A68-4E38-B5B7-5C2D7BED93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30934" y="4415104"/>
            <a:ext cx="2630216" cy="2008990"/>
          </a:xfrm>
          <a:prstGeom prst="rect">
            <a:avLst/>
          </a:prstGeom>
        </p:spPr>
      </p:pic>
      <p:pic>
        <p:nvPicPr>
          <p:cNvPr id="12" name="image46.png">
            <a:extLst>
              <a:ext uri="{FF2B5EF4-FFF2-40B4-BE49-F238E27FC236}">
                <a16:creationId xmlns:a16="http://schemas.microsoft.com/office/drawing/2014/main" id="{54F5A73B-60F1-479C-8352-E5ABA24C8A5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961150" y="4415104"/>
            <a:ext cx="2761232" cy="2172650"/>
          </a:xfrm>
          <a:prstGeom prst="rect">
            <a:avLst/>
          </a:prstGeom>
        </p:spPr>
      </p:pic>
      <p:pic>
        <p:nvPicPr>
          <p:cNvPr id="13" name="image28.png">
            <a:extLst>
              <a:ext uri="{FF2B5EF4-FFF2-40B4-BE49-F238E27FC236}">
                <a16:creationId xmlns:a16="http://schemas.microsoft.com/office/drawing/2014/main" id="{F7A56368-ED8B-4C16-A801-F6948497E2B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818100" y="4415104"/>
            <a:ext cx="2808980" cy="2070698"/>
          </a:xfrm>
          <a:prstGeom prst="rect">
            <a:avLst/>
          </a:prstGeom>
        </p:spPr>
      </p:pic>
      <p:sp>
        <p:nvSpPr>
          <p:cNvPr id="191" name="Fondo blanco del contenido S8">
            <a:extLst>
              <a:ext uri="{FF2B5EF4-FFF2-40B4-BE49-F238E27FC236}">
                <a16:creationId xmlns:a16="http://schemas.microsoft.com/office/drawing/2014/main" id="{6C189AB9-C3ED-481D-8602-BADF3F1621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2" name="Franja superior azul S8">
            <a:extLst>
              <a:ext uri="{FF2B5EF4-FFF2-40B4-BE49-F238E27FC236}">
                <a16:creationId xmlns:a16="http://schemas.microsoft.com/office/drawing/2014/main" id="{234A26A1-65D4-4E2F-BE42-E87C4D8F97C7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3" name="Acento superior 1 S8">
            <a:extLst>
              <a:ext uri="{FF2B5EF4-FFF2-40B4-BE49-F238E27FC236}">
                <a16:creationId xmlns:a16="http://schemas.microsoft.com/office/drawing/2014/main" id="{122B8BB6-54DB-4C20-8DF3-C554F4C9484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4" name="Acento superior 2 S8">
            <a:extLst>
              <a:ext uri="{FF2B5EF4-FFF2-40B4-BE49-F238E27FC236}">
                <a16:creationId xmlns:a16="http://schemas.microsoft.com/office/drawing/2014/main" id="{E0A5BABD-E39B-4FCC-B70F-CD38944A077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5" name="Acento superior 3 S8">
            <a:extLst>
              <a:ext uri="{FF2B5EF4-FFF2-40B4-BE49-F238E27FC236}">
                <a16:creationId xmlns:a16="http://schemas.microsoft.com/office/drawing/2014/main" id="{4A5B759C-3307-4C11-B698-AC70362B3538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6" name="Título de sección S8">
            <a:extLst>
              <a:ext uri="{FF2B5EF4-FFF2-40B4-BE49-F238E27FC236}">
                <a16:creationId xmlns:a16="http://schemas.microsoft.com/office/drawing/2014/main" id="{7DD61F77-B9B5-4B81-A85B-686920DB394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97" name="Título del contenido S8">
            <a:extLst>
              <a:ext uri="{FF2B5EF4-FFF2-40B4-BE49-F238E27FC236}">
                <a16:creationId xmlns:a16="http://schemas.microsoft.com/office/drawing/2014/main" id="{FAA1CFA9-594F-49A1-A793-542AE19D3BEA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Pruebas implementadas</a:t>
            </a:r>
          </a:p>
        </p:txBody>
      </p:sp>
      <p:sp>
        <p:nvSpPr>
          <p:cNvPr id="198" name="Texto del contenido S8">
            <a:extLst>
              <a:ext uri="{FF2B5EF4-FFF2-40B4-BE49-F238E27FC236}">
                <a16:creationId xmlns:a16="http://schemas.microsoft.com/office/drawing/2014/main" id="{376B1026-352A-4337-992A-FE8EA63ACAB1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repositorio incluye verificaciones de autenticación, catálogo, magnitudes, validaciones, expiración y una prueba de integración SOAP.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9772D7-4312-CDB0-685F-0AFBAD5291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2915" y="2117244"/>
            <a:ext cx="5182323" cy="234347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643D2B0-04D5-160C-63AE-62E524375F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0934" y="4839349"/>
            <a:ext cx="8899916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890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>
            <a:extLst>
              <a:ext uri="{FF2B5EF4-FFF2-40B4-BE49-F238E27FC236}">
                <a16:creationId xmlns:a16="http://schemas.microsoft.com/office/drawing/2014/main" id="{0A2AEAD9-CB91-402C-8650-58B88B3E2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221" name="Google Shape;221;g2d624313899_0_51">
            <a:extLst>
              <a:ext uri="{FF2B5EF4-FFF2-40B4-BE49-F238E27FC236}">
                <a16:creationId xmlns:a16="http://schemas.microsoft.com/office/drawing/2014/main" id="{03D82EAF-3A36-4C47-9E98-8632677D11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1.3  CLIENTE DE CONSOLA</a:t>
            </a: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</a:endParaRPr>
          </a:p>
          <a:p>
            <a:pPr marL="457200" lvl="0" indent="-32797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5"/>
              <a:buFont typeface="Cambria"/>
              <a:buChar char="◼"/>
            </a:pPr>
            <a:r>
              <a:rPr sz="1564">
                <a:latin typeface="Cambria"/>
                <a:ea typeface="Cambria"/>
                <a:cs typeface="Cambria"/>
              </a:rPr>
              <a:t>Aplicación Java con Maven. Las clases JAX-WS se generan desde el WSDL local. MainConsola configura el endpoint y conecta la vista de terminal con ControladorConsola, ClienteSoap y RespuestaSoap.</a:t>
            </a:r>
          </a:p>
        </p:txBody>
      </p:sp>
      <p:sp>
        <p:nvSpPr>
          <p:cNvPr id="222" name="Google Shape;222;g2d624313899_0_51">
            <a:extLst>
              <a:ext uri="{FF2B5EF4-FFF2-40B4-BE49-F238E27FC236}">
                <a16:creationId xmlns:a16="http://schemas.microsoft.com/office/drawing/2014/main" id="{E90E64E7-18A9-479A-B45A-B2A907F857C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image8.png">
            <a:extLst>
              <a:ext uri="{FF2B5EF4-FFF2-40B4-BE49-F238E27FC236}">
                <a16:creationId xmlns:a16="http://schemas.microsoft.com/office/drawing/2014/main" id="{459C0AE0-A9AE-457F-8085-BDB9C697FE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6506" y="3674580"/>
            <a:ext cx="4144010" cy="2828290"/>
          </a:xfrm>
          <a:prstGeom prst="rect">
            <a:avLst/>
          </a:prstGeom>
        </p:spPr>
      </p:pic>
      <p:pic>
        <p:nvPicPr>
          <p:cNvPr id="8" name="image22.png">
            <a:extLst>
              <a:ext uri="{FF2B5EF4-FFF2-40B4-BE49-F238E27FC236}">
                <a16:creationId xmlns:a16="http://schemas.microsoft.com/office/drawing/2014/main" id="{B5150E97-870D-4E3C-8AA5-20ED9BEFBD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740234" y="3657435"/>
            <a:ext cx="4201160" cy="2845435"/>
          </a:xfrm>
          <a:prstGeom prst="rect">
            <a:avLst/>
          </a:prstGeom>
        </p:spPr>
      </p:pic>
      <p:sp>
        <p:nvSpPr>
          <p:cNvPr id="223" name="Fondo blanco del contenido S9">
            <a:extLst>
              <a:ext uri="{FF2B5EF4-FFF2-40B4-BE49-F238E27FC236}">
                <a16:creationId xmlns:a16="http://schemas.microsoft.com/office/drawing/2014/main" id="{4079680B-A80F-4D41-A715-665D10D152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4" name="Franja superior azul S9">
            <a:extLst>
              <a:ext uri="{FF2B5EF4-FFF2-40B4-BE49-F238E27FC236}">
                <a16:creationId xmlns:a16="http://schemas.microsoft.com/office/drawing/2014/main" id="{785FE3C2-EF9B-4C50-931C-EC43D7B9E90E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5" name="Acento superior 1 S9">
            <a:extLst>
              <a:ext uri="{FF2B5EF4-FFF2-40B4-BE49-F238E27FC236}">
                <a16:creationId xmlns:a16="http://schemas.microsoft.com/office/drawing/2014/main" id="{0B257B3D-E075-44C7-8EFE-475C68A8F31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6" name="Acento superior 2 S9">
            <a:extLst>
              <a:ext uri="{FF2B5EF4-FFF2-40B4-BE49-F238E27FC236}">
                <a16:creationId xmlns:a16="http://schemas.microsoft.com/office/drawing/2014/main" id="{7A905043-0D6C-4530-847B-F5937251386E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7" name="Acento superior 3 S9">
            <a:extLst>
              <a:ext uri="{FF2B5EF4-FFF2-40B4-BE49-F238E27FC236}">
                <a16:creationId xmlns:a16="http://schemas.microsoft.com/office/drawing/2014/main" id="{6D395600-E786-4486-808E-221CB48D87BB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8" name="Título de sección S9">
            <a:extLst>
              <a:ext uri="{FF2B5EF4-FFF2-40B4-BE49-F238E27FC236}">
                <a16:creationId xmlns:a16="http://schemas.microsoft.com/office/drawing/2014/main" id="{DF095B71-FAAC-4B2B-A17A-13FCCB6176D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29" name="Título del contenido S9">
            <a:extLst>
              <a:ext uri="{FF2B5EF4-FFF2-40B4-BE49-F238E27FC236}">
                <a16:creationId xmlns:a16="http://schemas.microsoft.com/office/drawing/2014/main" id="{1551137B-84B0-4119-B4F9-FBFC9788391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consola Java</a:t>
            </a:r>
          </a:p>
        </p:txBody>
      </p:sp>
      <p:sp>
        <p:nvSpPr>
          <p:cNvPr id="230" name="Texto del contenido S9">
            <a:extLst>
              <a:ext uri="{FF2B5EF4-FFF2-40B4-BE49-F238E27FC236}">
                <a16:creationId xmlns:a16="http://schemas.microsoft.com/office/drawing/2014/main" id="{8DC260B4-94DC-4584-BA3F-D1BED4A91DB1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aplicación Maven genera el proxy JAX-WS desde el WSDL local. MainConsola configura el endpoint y conecta las capas de consola.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4D81F79-A9FF-F070-ED8C-5DD5D97B6A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521" y="2540382"/>
            <a:ext cx="4372585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689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>
            <a:extLst>
              <a:ext uri="{FF2B5EF4-FFF2-40B4-BE49-F238E27FC236}">
                <a16:creationId xmlns:a16="http://schemas.microsoft.com/office/drawing/2014/main" id="{3DA644E1-4937-4BA5-BBC3-0C4D99ECE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239" name="Google Shape;239;g2d624313899_0_95">
            <a:extLst>
              <a:ext uri="{FF2B5EF4-FFF2-40B4-BE49-F238E27FC236}">
                <a16:creationId xmlns:a16="http://schemas.microsoft.com/office/drawing/2014/main" id="{7F732EFD-1A6F-40D5-AE8D-85D4D67ED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 Y FLUJO</a:t>
            </a:r>
          </a:p>
          <a:p>
            <a:pPr marL="129241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65"/>
              <a:buNone/>
            </a:pPr>
            <a:endParaRPr sz="1670">
              <a:latin typeface="Cambria"/>
              <a:ea typeface="Cambria"/>
              <a:cs typeface="Cambria"/>
            </a:endParaRPr>
          </a:p>
          <a:p>
            <a:pPr marL="129241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65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VistaConsola muestra el menú, solicita credenciales y recoge los datos de conversión. El recorrido permite iniciar sesión, consultar categorías y unidades, convertir y recuperar la clave.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40" name="Google Shape;240;g2d624313899_0_95">
            <a:extLst>
              <a:ext uri="{FF2B5EF4-FFF2-40B4-BE49-F238E27FC236}">
                <a16:creationId xmlns:a16="http://schemas.microsoft.com/office/drawing/2014/main" id="{2AA3253F-4130-44F7-83CF-A5A252952326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Google Shape;241;g2d624313899_0_95">
            <a:extLst>
              <a:ext uri="{FF2B5EF4-FFF2-40B4-BE49-F238E27FC236}">
                <a16:creationId xmlns:a16="http://schemas.microsoft.com/office/drawing/2014/main" id="{9007928D-2ED9-4DF5-9186-14EC731DDB96}"/>
              </a:ext>
            </a:extLst>
          </p:cNvPr>
          <p:cNvSpPr>
            <a:spLocks noGrp="1"/>
          </p:cNvSpPr>
          <p:nvPr>
            <p:ph type="body" idx="9999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t>CONTROLADOR Y ADAPTADOR SOAP</a:t>
            </a: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99"/>
              <a:buFont typeface="Arial"/>
              <a:buNone/>
            </a:pP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ControladorConsola mantiene la sesión y coordina las operaciones. ClienteSoap invoca el puerto JAX-WS y convierte la respuesta del servicio al modelo RespuestaSoap.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FD03686-C862-4C22-A984-C43EB3C11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93" y="4064763"/>
            <a:ext cx="2955257" cy="18504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8ABC127-DA93-4178-86FF-DDECD771E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618" y="4064763"/>
            <a:ext cx="5172027" cy="1777483"/>
          </a:xfrm>
          <a:prstGeom prst="rect">
            <a:avLst/>
          </a:prstGeom>
        </p:spPr>
      </p:pic>
      <p:sp>
        <p:nvSpPr>
          <p:cNvPr id="242" name="Fondo blanco del contenido S10">
            <a:extLst>
              <a:ext uri="{FF2B5EF4-FFF2-40B4-BE49-F238E27FC236}">
                <a16:creationId xmlns:a16="http://schemas.microsoft.com/office/drawing/2014/main" id="{59F7E05F-5BD2-4D46-A8CA-24EDF95609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3" name="Franja superior azul S10">
            <a:extLst>
              <a:ext uri="{FF2B5EF4-FFF2-40B4-BE49-F238E27FC236}">
                <a16:creationId xmlns:a16="http://schemas.microsoft.com/office/drawing/2014/main" id="{E5C3EBB8-BBC7-4565-8DC8-5B0ADF650D7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4" name="Acento superior 1 S10">
            <a:extLst>
              <a:ext uri="{FF2B5EF4-FFF2-40B4-BE49-F238E27FC236}">
                <a16:creationId xmlns:a16="http://schemas.microsoft.com/office/drawing/2014/main" id="{88377406-CB7B-4E3F-819A-9FA28A58E923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5" name="Acento superior 2 S10">
            <a:extLst>
              <a:ext uri="{FF2B5EF4-FFF2-40B4-BE49-F238E27FC236}">
                <a16:creationId xmlns:a16="http://schemas.microsoft.com/office/drawing/2014/main" id="{E330C141-1293-43CC-BF8B-85A0FF97D8C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6" name="Acento superior 3 S10">
            <a:extLst>
              <a:ext uri="{FF2B5EF4-FFF2-40B4-BE49-F238E27FC236}">
                <a16:creationId xmlns:a16="http://schemas.microsoft.com/office/drawing/2014/main" id="{FC6BB1D6-015C-49AB-88DE-1343AAEA8BB7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7" name="Título de sección S10">
            <a:extLst>
              <a:ext uri="{FF2B5EF4-FFF2-40B4-BE49-F238E27FC236}">
                <a16:creationId xmlns:a16="http://schemas.microsoft.com/office/drawing/2014/main" id="{3560E954-8C68-4CFE-8D25-179B62C31BF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48" name="Título del contenido S10">
            <a:extLst>
              <a:ext uri="{FF2B5EF4-FFF2-40B4-BE49-F238E27FC236}">
                <a16:creationId xmlns:a16="http://schemas.microsoft.com/office/drawing/2014/main" id="{A15873B9-27B4-446A-9A0E-5441D5DD1BF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 y adaptador SOAP</a:t>
            </a:r>
          </a:p>
        </p:txBody>
      </p:sp>
      <p:sp>
        <p:nvSpPr>
          <p:cNvPr id="249" name="Texto del contenido S10">
            <a:extLst>
              <a:ext uri="{FF2B5EF4-FFF2-40B4-BE49-F238E27FC236}">
                <a16:creationId xmlns:a16="http://schemas.microsoft.com/office/drawing/2014/main" id="{5ABE798A-5CED-4A16-B959-8C538FBD5AE0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ControladorConsola administra el flujo y la sesión. ClienteSoap invoca el puerto JAX-WS y normaliza las respuestas del servidor.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1D43B17-CFA0-EF38-BD21-D3B836DC29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92" y="4689635"/>
            <a:ext cx="7640711" cy="20425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AC2B86D-E63C-96AB-7C99-47A395772C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137" y="2555922"/>
            <a:ext cx="4184362" cy="186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251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>
            <a:extLst>
              <a:ext uri="{FF2B5EF4-FFF2-40B4-BE49-F238E27FC236}">
                <a16:creationId xmlns:a16="http://schemas.microsoft.com/office/drawing/2014/main" id="{D9DB38A3-584F-4384-8791-CA425174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249" name="Google Shape;249;g2d624313899_0_111">
            <a:extLst>
              <a:ext uri="{FF2B5EF4-FFF2-40B4-BE49-F238E27FC236}">
                <a16:creationId xmlns:a16="http://schemas.microsoft.com/office/drawing/2014/main" id="{BE68EC00-3B4F-44FA-B8F0-CF6980C81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MENÚ DE CONSOLA</a:t>
            </a: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La interfaz separa los pasos de conversión: categoría, unidad de origen, unidad de destino y valor. Conserva las selecciones durante el proceso y presenta resultados o errores antes de regresar al menú.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50" name="Google Shape;250;g2d624313899_0_111">
            <a:extLst>
              <a:ext uri="{FF2B5EF4-FFF2-40B4-BE49-F238E27FC236}">
                <a16:creationId xmlns:a16="http://schemas.microsoft.com/office/drawing/2014/main" id="{445F796F-6704-4F68-81FE-91E97F4D89A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1F178A6-3E72-4581-8961-0CFFDB874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215" y="2617179"/>
            <a:ext cx="4878473" cy="2609244"/>
          </a:xfrm>
          <a:prstGeom prst="rect">
            <a:avLst/>
          </a:prstGeom>
        </p:spPr>
      </p:pic>
      <p:sp>
        <p:nvSpPr>
          <p:cNvPr id="251" name="Fondo blanco del contenido S11">
            <a:extLst>
              <a:ext uri="{FF2B5EF4-FFF2-40B4-BE49-F238E27FC236}">
                <a16:creationId xmlns:a16="http://schemas.microsoft.com/office/drawing/2014/main" id="{066CDABE-8CF3-4605-A94E-7E78BDD595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2" name="Franja superior azul S11">
            <a:extLst>
              <a:ext uri="{FF2B5EF4-FFF2-40B4-BE49-F238E27FC236}">
                <a16:creationId xmlns:a16="http://schemas.microsoft.com/office/drawing/2014/main" id="{974FAB9E-53A4-4B9E-A479-939F818BC8F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3" name="Acento superior 1 S11">
            <a:extLst>
              <a:ext uri="{FF2B5EF4-FFF2-40B4-BE49-F238E27FC236}">
                <a16:creationId xmlns:a16="http://schemas.microsoft.com/office/drawing/2014/main" id="{CC73F015-EF3F-4BA1-AE3B-0FDA56150CDE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4" name="Acento superior 2 S11">
            <a:extLst>
              <a:ext uri="{FF2B5EF4-FFF2-40B4-BE49-F238E27FC236}">
                <a16:creationId xmlns:a16="http://schemas.microsoft.com/office/drawing/2014/main" id="{B91C1963-8731-4FDC-83CF-53539BF8CB7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5" name="Acento superior 3 S11">
            <a:extLst>
              <a:ext uri="{FF2B5EF4-FFF2-40B4-BE49-F238E27FC236}">
                <a16:creationId xmlns:a16="http://schemas.microsoft.com/office/drawing/2014/main" id="{BB60DCBA-068B-4652-901E-FE11DD67C89D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6" name="Título de sección S11">
            <a:extLst>
              <a:ext uri="{FF2B5EF4-FFF2-40B4-BE49-F238E27FC236}">
                <a16:creationId xmlns:a16="http://schemas.microsoft.com/office/drawing/2014/main" id="{F0EF4153-B8EC-42AD-B416-5368AD375ECD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57" name="Título del contenido S11">
            <a:extLst>
              <a:ext uri="{FF2B5EF4-FFF2-40B4-BE49-F238E27FC236}">
                <a16:creationId xmlns:a16="http://schemas.microsoft.com/office/drawing/2014/main" id="{5C214074-F490-45C3-A226-8079E1A1C57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Menú y flujo de conversión</a:t>
            </a:r>
          </a:p>
        </p:txBody>
      </p:sp>
      <p:sp>
        <p:nvSpPr>
          <p:cNvPr id="258" name="Texto del contenido S11">
            <a:extLst>
              <a:ext uri="{FF2B5EF4-FFF2-40B4-BE49-F238E27FC236}">
                <a16:creationId xmlns:a16="http://schemas.microsoft.com/office/drawing/2014/main" id="{62E07DED-4413-4A93-8EB1-CAD6E100219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consola permite acceder, consultar categorías y unidades, convertir y recuperar la clave. El flujo solicita categoría, origen, destino y valor.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2F5CBC2-4717-03F5-91FB-C333FCE0C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457" y="2699635"/>
            <a:ext cx="2943636" cy="334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186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>
            <a:extLst>
              <a:ext uri="{FF2B5EF4-FFF2-40B4-BE49-F238E27FC236}">
                <a16:creationId xmlns:a16="http://schemas.microsoft.com/office/drawing/2014/main" id="{686A4864-8553-4965-A909-E7039796F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257" name="Google Shape;257;g2d624313899_0_138">
            <a:extLst>
              <a:ext uri="{FF2B5EF4-FFF2-40B4-BE49-F238E27FC236}">
                <a16:creationId xmlns:a16="http://schemas.microsoft.com/office/drawing/2014/main" id="{D2ED52B0-12ED-4F69-8443-75FE965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702138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EJECUCIÓN EN TERMINAL</a:t>
            </a:r>
            <a:endParaRPr sz="1564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r>
              <a:t>El cliente se ejecuta después de desplegar el servidor SOAP. Puede usar el endpoint local predeterminado o recibir otra URL como argumento o propiedad JVM.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58" name="Google Shape;258;g2d624313899_0_138">
            <a:extLst>
              <a:ext uri="{FF2B5EF4-FFF2-40B4-BE49-F238E27FC236}">
                <a16:creationId xmlns:a16="http://schemas.microsoft.com/office/drawing/2014/main" id="{0B83016B-588B-4396-AB84-57263B6BE0FE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image16.png">
            <a:extLst>
              <a:ext uri="{FF2B5EF4-FFF2-40B4-BE49-F238E27FC236}">
                <a16:creationId xmlns:a16="http://schemas.microsoft.com/office/drawing/2014/main" id="{05757D5D-24E6-4F29-AF16-49F71632CE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27647" y="1933668"/>
            <a:ext cx="2868295" cy="803275"/>
          </a:xfrm>
          <a:prstGeom prst="rect">
            <a:avLst/>
          </a:prstGeom>
        </p:spPr>
      </p:pic>
      <p:pic>
        <p:nvPicPr>
          <p:cNvPr id="10" name="image33.png">
            <a:extLst>
              <a:ext uri="{FF2B5EF4-FFF2-40B4-BE49-F238E27FC236}">
                <a16:creationId xmlns:a16="http://schemas.microsoft.com/office/drawing/2014/main" id="{85FCB150-0CFC-4DE5-8A78-1DF5F1D5F9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11657" y="3004463"/>
            <a:ext cx="2808061" cy="2643675"/>
          </a:xfrm>
          <a:prstGeom prst="rect">
            <a:avLst/>
          </a:prstGeom>
        </p:spPr>
      </p:pic>
      <p:pic>
        <p:nvPicPr>
          <p:cNvPr id="11" name="image47.png">
            <a:extLst>
              <a:ext uri="{FF2B5EF4-FFF2-40B4-BE49-F238E27FC236}">
                <a16:creationId xmlns:a16="http://schemas.microsoft.com/office/drawing/2014/main" id="{D0073B15-04E6-4AF0-AC8F-5AD6E6A01E6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227647" y="3004463"/>
            <a:ext cx="2808301" cy="2643675"/>
          </a:xfrm>
          <a:prstGeom prst="rect">
            <a:avLst/>
          </a:prstGeom>
        </p:spPr>
      </p:pic>
      <p:pic>
        <p:nvPicPr>
          <p:cNvPr id="12" name="image15.png">
            <a:extLst>
              <a:ext uri="{FF2B5EF4-FFF2-40B4-BE49-F238E27FC236}">
                <a16:creationId xmlns:a16="http://schemas.microsoft.com/office/drawing/2014/main" id="{8CF57823-AADA-4D17-8EB8-DC79D581D1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7680"/>
          <a:stretch>
            <a:fillRect/>
          </a:stretch>
        </p:blipFill>
        <p:spPr>
          <a:xfrm>
            <a:off x="6143877" y="3004463"/>
            <a:ext cx="2928407" cy="2643675"/>
          </a:xfrm>
          <a:prstGeom prst="rect">
            <a:avLst/>
          </a:prstGeom>
        </p:spPr>
      </p:pic>
      <p:sp>
        <p:nvSpPr>
          <p:cNvPr id="259" name="Fondo blanco del contenido S12">
            <a:extLst>
              <a:ext uri="{FF2B5EF4-FFF2-40B4-BE49-F238E27FC236}">
                <a16:creationId xmlns:a16="http://schemas.microsoft.com/office/drawing/2014/main" id="{3D104D45-7366-44DF-9022-29AF315293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0" name="Franja superior azul S12">
            <a:extLst>
              <a:ext uri="{FF2B5EF4-FFF2-40B4-BE49-F238E27FC236}">
                <a16:creationId xmlns:a16="http://schemas.microsoft.com/office/drawing/2014/main" id="{F5BCED6D-B134-4DBA-A059-5A5F78DBEDA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1" name="Acento superior 1 S12">
            <a:extLst>
              <a:ext uri="{FF2B5EF4-FFF2-40B4-BE49-F238E27FC236}">
                <a16:creationId xmlns:a16="http://schemas.microsoft.com/office/drawing/2014/main" id="{F4AE9DD6-B951-4FFD-BB57-44902E2AD54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2" name="Acento superior 2 S12">
            <a:extLst>
              <a:ext uri="{FF2B5EF4-FFF2-40B4-BE49-F238E27FC236}">
                <a16:creationId xmlns:a16="http://schemas.microsoft.com/office/drawing/2014/main" id="{47F52F99-CD76-4DC2-B233-8F7E9EC58BF8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3" name="Acento superior 3 S12">
            <a:extLst>
              <a:ext uri="{FF2B5EF4-FFF2-40B4-BE49-F238E27FC236}">
                <a16:creationId xmlns:a16="http://schemas.microsoft.com/office/drawing/2014/main" id="{41498AAB-6B01-494A-8968-EC569F14F7D3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4" name="Título de sección S12">
            <a:extLst>
              <a:ext uri="{FF2B5EF4-FFF2-40B4-BE49-F238E27FC236}">
                <a16:creationId xmlns:a16="http://schemas.microsoft.com/office/drawing/2014/main" id="{2F441F59-F12A-4E27-A9ED-7C13F10B38DF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65" name="Título del contenido S12">
            <a:extLst>
              <a:ext uri="{FF2B5EF4-FFF2-40B4-BE49-F238E27FC236}">
                <a16:creationId xmlns:a16="http://schemas.microsoft.com/office/drawing/2014/main" id="{650D48B8-C274-4DA7-B258-4B2AA4C4ED4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terminal</a:t>
            </a:r>
          </a:p>
        </p:txBody>
      </p:sp>
      <p:sp>
        <p:nvSpPr>
          <p:cNvPr id="266" name="Texto del contenido S12">
            <a:extLst>
              <a:ext uri="{FF2B5EF4-FFF2-40B4-BE49-F238E27FC236}">
                <a16:creationId xmlns:a16="http://schemas.microsoft.com/office/drawing/2014/main" id="{9350FB0F-0174-4F73-8D00-5CA9DA465C55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 inicia después de desplegar el servidor. Puede usar el endpoint local o recibir una URL alternativa por argumento.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CEFA95D-4FFD-20A3-A8F7-0ADDE04499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1500" y="1949931"/>
            <a:ext cx="4344006" cy="318179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1599D21-7F7E-9109-A24B-9689EECF8C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2717" y="4542681"/>
            <a:ext cx="5525271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322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>
            <a:extLst>
              <a:ext uri="{FF2B5EF4-FFF2-40B4-BE49-F238E27FC236}">
                <a16:creationId xmlns:a16="http://schemas.microsoft.com/office/drawing/2014/main" id="{E695D071-AE0C-4E50-A501-C957D231D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268" name="Google Shape;268;p27">
            <a:extLst>
              <a:ext uri="{FF2B5EF4-FFF2-40B4-BE49-F238E27FC236}">
                <a16:creationId xmlns:a16="http://schemas.microsoft.com/office/drawing/2014/main" id="{53344BC8-97D0-47FF-9FE0-5E6F53CCB66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Google Shape;269;p27">
            <a:extLst>
              <a:ext uri="{FF2B5EF4-FFF2-40B4-BE49-F238E27FC236}">
                <a16:creationId xmlns:a16="http://schemas.microsoft.com/office/drawing/2014/main" id="{BAE9F61D-B0F3-408C-9290-0487D011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fontScale="91256"/>
          </a:bodyPr>
          <a:lstStyle/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1.4  CLIENTE DE ESCRITORIO</a:t>
            </a:r>
            <a:endParaRPr b="1"/>
          </a:p>
          <a:p>
            <a:pPr marL="457200" lvl="0" indent="-31798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Char char="●"/>
            </a:pPr>
            <a:endParaRPr>
              <a:latin typeface="Cambria"/>
              <a:ea typeface="Cambria"/>
              <a:cs typeface="Cambria"/>
            </a:endParaRPr>
          </a:p>
          <a:p>
            <a:pPr marL="457200" lvl="0" indent="-31798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Char char="●"/>
            </a:pPr>
            <a:r>
              <a:rPr>
                <a:latin typeface="Cambria"/>
                <a:ea typeface="Cambria"/>
                <a:cs typeface="Cambria"/>
              </a:rPr>
              <a:t>Aplicación Java Swing con Maven y arquitectura MVC. El cliente usa un adaptador SOAP para conectarse a WSConUni y presenta las funciones de acceso y conversión en ventanas.</a:t>
            </a:r>
          </a:p>
        </p:txBody>
      </p:sp>
      <p:pic>
        <p:nvPicPr>
          <p:cNvPr id="6" name="image8.png">
            <a:extLst>
              <a:ext uri="{FF2B5EF4-FFF2-40B4-BE49-F238E27FC236}">
                <a16:creationId xmlns:a16="http://schemas.microsoft.com/office/drawing/2014/main" id="{506FF19F-E260-482F-97ED-200BFA9570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544819" y="3270983"/>
            <a:ext cx="4144010" cy="2828290"/>
          </a:xfrm>
          <a:prstGeom prst="rect">
            <a:avLst/>
          </a:prstGeom>
        </p:spPr>
      </p:pic>
      <p:sp>
        <p:nvSpPr>
          <p:cNvPr id="270" name="Fondo blanco del contenido S13">
            <a:extLst>
              <a:ext uri="{FF2B5EF4-FFF2-40B4-BE49-F238E27FC236}">
                <a16:creationId xmlns:a16="http://schemas.microsoft.com/office/drawing/2014/main" id="{E8353AB1-05D8-4583-8B4F-11E4BF7BC3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1" name="Franja superior azul S13">
            <a:extLst>
              <a:ext uri="{FF2B5EF4-FFF2-40B4-BE49-F238E27FC236}">
                <a16:creationId xmlns:a16="http://schemas.microsoft.com/office/drawing/2014/main" id="{A970F014-3981-4295-AF5C-074DA9FF99A1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2" name="Acento superior 1 S13">
            <a:extLst>
              <a:ext uri="{FF2B5EF4-FFF2-40B4-BE49-F238E27FC236}">
                <a16:creationId xmlns:a16="http://schemas.microsoft.com/office/drawing/2014/main" id="{6635705F-A4F1-450A-86A1-A8DB12BFB8DF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3" name="Acento superior 2 S13">
            <a:extLst>
              <a:ext uri="{FF2B5EF4-FFF2-40B4-BE49-F238E27FC236}">
                <a16:creationId xmlns:a16="http://schemas.microsoft.com/office/drawing/2014/main" id="{F36396AC-0C73-4B4A-9855-CB53254F2D8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4" name="Acento superior 3 S13">
            <a:extLst>
              <a:ext uri="{FF2B5EF4-FFF2-40B4-BE49-F238E27FC236}">
                <a16:creationId xmlns:a16="http://schemas.microsoft.com/office/drawing/2014/main" id="{2A6E6A8E-2386-45BD-BDED-6A7C8B6FA570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5" name="Título de sección S13">
            <a:extLst>
              <a:ext uri="{FF2B5EF4-FFF2-40B4-BE49-F238E27FC236}">
                <a16:creationId xmlns:a16="http://schemas.microsoft.com/office/drawing/2014/main" id="{9503FF92-5DF7-4A2B-AD4B-DF57961DC61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76" name="Título del contenido S13">
            <a:extLst>
              <a:ext uri="{FF2B5EF4-FFF2-40B4-BE49-F238E27FC236}">
                <a16:creationId xmlns:a16="http://schemas.microsoft.com/office/drawing/2014/main" id="{F92D456D-EFE7-4589-A491-8DFDEE97C861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escritorio Swing</a:t>
            </a:r>
          </a:p>
        </p:txBody>
      </p:sp>
      <p:sp>
        <p:nvSpPr>
          <p:cNvPr id="277" name="Texto del contenido S13">
            <a:extLst>
              <a:ext uri="{FF2B5EF4-FFF2-40B4-BE49-F238E27FC236}">
                <a16:creationId xmlns:a16="http://schemas.microsoft.com/office/drawing/2014/main" id="{C2A0A331-6B4F-4620-91D0-F42258DC3557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Java 21 con Maven. Swing presenta el acceso y las conversiones, y el adaptador SOAP se conecta al mismo WSConUni.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17CBDD0-EDAA-F6B1-A2BC-09B2906C48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218" y="2543609"/>
            <a:ext cx="3000794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038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>
            <a:extLst>
              <a:ext uri="{FF2B5EF4-FFF2-40B4-BE49-F238E27FC236}">
                <a16:creationId xmlns:a16="http://schemas.microsoft.com/office/drawing/2014/main" id="{769DB209-03B0-4D51-BC3C-1A440112C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301" name="Google Shape;301;g31974b856cc_0_109">
            <a:extLst>
              <a:ext uri="{FF2B5EF4-FFF2-40B4-BE49-F238E27FC236}">
                <a16:creationId xmlns:a16="http://schemas.microsoft.com/office/drawing/2014/main" id="{25A8BC9A-4680-448A-A288-A56B25FD676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Google Shape;302;g31974b856cc_0_109">
            <a:extLst>
              <a:ext uri="{FF2B5EF4-FFF2-40B4-BE49-F238E27FC236}">
                <a16:creationId xmlns:a16="http://schemas.microsoft.com/office/drawing/2014/main" id="{43FE9EB5-FCF0-4327-B17B-B192DB17E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El cliente separa las ventanas Swing, los controladores y el consumo del servicio SOAP. GestorPantallas coordina la navegación entre acceso y conversiones.</a:t>
            </a:r>
            <a:endParaRPr sz="1800">
              <a:latin typeface="Cambria"/>
              <a:ea typeface="Cambria"/>
              <a:cs typeface="Cambria"/>
            </a:endParaRPr>
          </a:p>
        </p:txBody>
      </p:sp>
      <p:pic>
        <p:nvPicPr>
          <p:cNvPr id="6" name="image14.png">
            <a:extLst>
              <a:ext uri="{FF2B5EF4-FFF2-40B4-BE49-F238E27FC236}">
                <a16:creationId xmlns:a16="http://schemas.microsoft.com/office/drawing/2014/main" id="{4CF269CE-07BD-46A4-BFB5-4CE9D1019D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88311" y="2609850"/>
            <a:ext cx="3019425" cy="102870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>
            <a:spLocks noGrp="1"/>
          </p:cNvSpPr>
          <p:nvPr/>
        </p:nvSpPr>
        <p:spPr>
          <a:xfrm>
            <a:off x="762109" y="3269217"/>
            <a:ext cx="1712150" cy="2499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MODELO</a:t>
            </a:r>
          </a:p>
          <a:p>
            <a:r>
              <a:t>Sesion, OpcionCatalogo y RespuestaSoap contienen el token, las opciones disponibles y los datos normalizados recibidos del servicio.</a:t>
            </a:r>
          </a:p>
        </p:txBody>
      </p:sp>
      <p:pic>
        <p:nvPicPr>
          <p:cNvPr id="13" name="image3.png">
            <a:extLst>
              <a:ext uri="{FF2B5EF4-FFF2-40B4-BE49-F238E27FC236}">
                <a16:creationId xmlns:a16="http://schemas.microsoft.com/office/drawing/2014/main" id="{D8335ED8-BD3B-4733-8C37-BB5485C89B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611811" y="3836431"/>
            <a:ext cx="2476500" cy="34290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>
            <a:spLocks noGrp="1"/>
          </p:cNvSpPr>
          <p:nvPr/>
        </p:nvSpPr>
        <p:spPr>
          <a:xfrm>
            <a:off x="6214191" y="4553152"/>
            <a:ext cx="263338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</a:t>
            </a:r>
            <a:endParaRPr/>
          </a:p>
          <a:p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ControladorLogin gestiona el acceso y la recuperación de clave. ControladorConversiones consulta el catálogo y solicita conversiones al servicio SOAP.</a:t>
            </a:r>
            <a:endParaRPr/>
          </a:p>
        </p:txBody>
      </p:sp>
      <p:pic>
        <p:nvPicPr>
          <p:cNvPr id="20" name="image24.png">
            <a:extLst>
              <a:ext uri="{FF2B5EF4-FFF2-40B4-BE49-F238E27FC236}">
                <a16:creationId xmlns:a16="http://schemas.microsoft.com/office/drawing/2014/main" id="{DDC11E93-3340-40F0-A146-ADE041E398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925023" y="3893361"/>
            <a:ext cx="2743200" cy="4572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4608FA25-A40E-490F-92EA-C27D2AB888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4259" y="4377212"/>
            <a:ext cx="3666875" cy="2355365"/>
          </a:xfrm>
          <a:prstGeom prst="rect">
            <a:avLst/>
          </a:prstGeom>
        </p:spPr>
      </p:pic>
      <p:sp>
        <p:nvSpPr>
          <p:cNvPr id="303" name="Fondo blanco del contenido S14">
            <a:extLst>
              <a:ext uri="{FF2B5EF4-FFF2-40B4-BE49-F238E27FC236}">
                <a16:creationId xmlns:a16="http://schemas.microsoft.com/office/drawing/2014/main" id="{D1BCD550-EE36-4FE6-8D85-C77F0F2210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4" name="Franja superior azul S14">
            <a:extLst>
              <a:ext uri="{FF2B5EF4-FFF2-40B4-BE49-F238E27FC236}">
                <a16:creationId xmlns:a16="http://schemas.microsoft.com/office/drawing/2014/main" id="{64255486-DD3D-461D-9532-2C69C96F599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5" name="Acento superior 1 S14">
            <a:extLst>
              <a:ext uri="{FF2B5EF4-FFF2-40B4-BE49-F238E27FC236}">
                <a16:creationId xmlns:a16="http://schemas.microsoft.com/office/drawing/2014/main" id="{78AAB2DA-9D49-4D5D-8921-3053E9A1F3AC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6" name="Acento superior 2 S14">
            <a:extLst>
              <a:ext uri="{FF2B5EF4-FFF2-40B4-BE49-F238E27FC236}">
                <a16:creationId xmlns:a16="http://schemas.microsoft.com/office/drawing/2014/main" id="{50FD0B7E-9706-4B2F-8CDD-A14AAD2960B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7" name="Acento superior 3 S14">
            <a:extLst>
              <a:ext uri="{FF2B5EF4-FFF2-40B4-BE49-F238E27FC236}">
                <a16:creationId xmlns:a16="http://schemas.microsoft.com/office/drawing/2014/main" id="{8D5DC68B-4F90-46DC-9A59-4D607096B51C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8" name="Título de sección S14">
            <a:extLst>
              <a:ext uri="{FF2B5EF4-FFF2-40B4-BE49-F238E27FC236}">
                <a16:creationId xmlns:a16="http://schemas.microsoft.com/office/drawing/2014/main" id="{915A8A62-07C4-483A-861F-2C911628DCAF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09" name="Título del contenido S14">
            <a:extLst>
              <a:ext uri="{FF2B5EF4-FFF2-40B4-BE49-F238E27FC236}">
                <a16:creationId xmlns:a16="http://schemas.microsoft.com/office/drawing/2014/main" id="{8F7BE097-96E0-445C-B49D-27C404C9670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Organización MVC</a:t>
            </a:r>
          </a:p>
        </p:txBody>
      </p:sp>
      <p:sp>
        <p:nvSpPr>
          <p:cNvPr id="310" name="Texto del contenido S14">
            <a:extLst>
              <a:ext uri="{FF2B5EF4-FFF2-40B4-BE49-F238E27FC236}">
                <a16:creationId xmlns:a16="http://schemas.microsoft.com/office/drawing/2014/main" id="{C21A0569-FCF6-48F7-AC57-10CBF9E4F32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separa modelo, vista, controlador y servicio. GestorPantallas coordina el cambio entre acceso y conversión.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CA65645-869E-7493-46C0-B1C0B7AA69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7056" y="1998106"/>
            <a:ext cx="2050995" cy="81356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7A2A902-723B-9852-8971-8F40BD989A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7050" y="3043956"/>
            <a:ext cx="4695167" cy="366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515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>
            <a:extLst>
              <a:ext uri="{FF2B5EF4-FFF2-40B4-BE49-F238E27FC236}">
                <a16:creationId xmlns:a16="http://schemas.microsoft.com/office/drawing/2014/main" id="{0ACCF935-2130-4DE2-BE48-C4D1E1740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309" name="Google Shape;309;g31974b856cc_0_128">
            <a:extLst>
              <a:ext uri="{FF2B5EF4-FFF2-40B4-BE49-F238E27FC236}">
                <a16:creationId xmlns:a16="http://schemas.microsoft.com/office/drawing/2014/main" id="{3F29F400-341E-4014-A454-F03E384CFDF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0" name="Google Shape;310;g31974b856cc_0_128">
            <a:extLst>
              <a:ext uri="{FF2B5EF4-FFF2-40B4-BE49-F238E27FC236}">
                <a16:creationId xmlns:a16="http://schemas.microsoft.com/office/drawing/2014/main" id="{A79EAEC3-E8BF-463C-B69A-516968DDB4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VISTAS SWING</a:t>
            </a:r>
            <a:endParaRPr sz="1800">
              <a:latin typeface="Cambria"/>
              <a:ea typeface="Cambria"/>
              <a:cs typeface="Cambria"/>
            </a:endParaRPr>
          </a:p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LoginFrame presenta el acceso. VentanaConversiones permite elegir magnitud y unidades, ingresar el valor y consultar el resultado.</a:t>
            </a:r>
            <a:endParaRPr sz="1800">
              <a:latin typeface="Cambria"/>
              <a:ea typeface="Cambria"/>
              <a:cs typeface="Cambria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D2A01FE-E9E9-4DE6-9462-150280A25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48" y="2831802"/>
            <a:ext cx="8424537" cy="3324041"/>
          </a:xfrm>
          <a:prstGeom prst="rect">
            <a:avLst/>
          </a:prstGeom>
        </p:spPr>
      </p:pic>
      <p:sp>
        <p:nvSpPr>
          <p:cNvPr id="311" name="Fondo blanco del contenido S15">
            <a:extLst>
              <a:ext uri="{FF2B5EF4-FFF2-40B4-BE49-F238E27FC236}">
                <a16:creationId xmlns:a16="http://schemas.microsoft.com/office/drawing/2014/main" id="{F04A68F3-4E69-4A40-98EF-B30C5CBF79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2" name="Franja superior azul S15">
            <a:extLst>
              <a:ext uri="{FF2B5EF4-FFF2-40B4-BE49-F238E27FC236}">
                <a16:creationId xmlns:a16="http://schemas.microsoft.com/office/drawing/2014/main" id="{980136AD-79F3-4E24-827B-5737D13F7C8D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3" name="Acento superior 1 S15">
            <a:extLst>
              <a:ext uri="{FF2B5EF4-FFF2-40B4-BE49-F238E27FC236}">
                <a16:creationId xmlns:a16="http://schemas.microsoft.com/office/drawing/2014/main" id="{13BC421D-CB11-4855-A166-A195A348461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4" name="Acento superior 2 S15">
            <a:extLst>
              <a:ext uri="{FF2B5EF4-FFF2-40B4-BE49-F238E27FC236}">
                <a16:creationId xmlns:a16="http://schemas.microsoft.com/office/drawing/2014/main" id="{B4F8DD5F-0880-4DD6-8DE5-629EB823556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5" name="Acento superior 3 S15">
            <a:extLst>
              <a:ext uri="{FF2B5EF4-FFF2-40B4-BE49-F238E27FC236}">
                <a16:creationId xmlns:a16="http://schemas.microsoft.com/office/drawing/2014/main" id="{26889F1F-1C97-4D89-B374-7460DCEFA794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6" name="Título de sección S15">
            <a:extLst>
              <a:ext uri="{FF2B5EF4-FFF2-40B4-BE49-F238E27FC236}">
                <a16:creationId xmlns:a16="http://schemas.microsoft.com/office/drawing/2014/main" id="{8F95D69A-EC92-470D-8CD9-D68C4EB537CA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17" name="Título del contenido S15">
            <a:extLst>
              <a:ext uri="{FF2B5EF4-FFF2-40B4-BE49-F238E27FC236}">
                <a16:creationId xmlns:a16="http://schemas.microsoft.com/office/drawing/2014/main" id="{BD50981D-FA04-4895-B0C1-7214CDC4F082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Swing</a:t>
            </a:r>
          </a:p>
        </p:txBody>
      </p:sp>
      <p:sp>
        <p:nvSpPr>
          <p:cNvPr id="318" name="Texto del contenido S15">
            <a:extLst>
              <a:ext uri="{FF2B5EF4-FFF2-40B4-BE49-F238E27FC236}">
                <a16:creationId xmlns:a16="http://schemas.microsoft.com/office/drawing/2014/main" id="{E2C221B4-CA45-47E1-A4B0-E708A2D4F82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LoginFrame gestiona el acceso y VentanaConversiones presenta el catálogo y los campos de conversión.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BB39D11-7012-2EE5-98BC-03D9A5664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012652"/>
            <a:ext cx="4288345" cy="292074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249DF9A-3DA5-08BB-372D-DAADAC9A5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92" y="3814045"/>
            <a:ext cx="4288997" cy="292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261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>
            <a:extLst>
              <a:ext uri="{FF2B5EF4-FFF2-40B4-BE49-F238E27FC236}">
                <a16:creationId xmlns:a16="http://schemas.microsoft.com/office/drawing/2014/main" id="{EAC5F1D1-FBF7-42A9-B653-A95334B36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317" name="Google Shape;317;g31974b856cc_0_137">
            <a:extLst>
              <a:ext uri="{FF2B5EF4-FFF2-40B4-BE49-F238E27FC236}">
                <a16:creationId xmlns:a16="http://schemas.microsoft.com/office/drawing/2014/main" id="{BF55C9AB-CA58-495D-A485-6A6E29EF5F42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Google Shape;318;g31974b856cc_0_137">
            <a:extLst>
              <a:ext uri="{FF2B5EF4-FFF2-40B4-BE49-F238E27FC236}">
                <a16:creationId xmlns:a16="http://schemas.microsoft.com/office/drawing/2014/main" id="{6735E428-6626-4071-8066-22F71CEA1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INICIO DE SESIÓN</a:t>
            </a: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endParaRPr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El usuario ingresa sus credenciales en LoginFrame. ControladorLogin solicita la autenticación al servicio y, si la respuesta es correcta, abre la ventana de conversiones.</a:t>
            </a:r>
          </a:p>
        </p:txBody>
      </p:sp>
      <p:pic>
        <p:nvPicPr>
          <p:cNvPr id="6" name="image9.png">
            <a:extLst>
              <a:ext uri="{FF2B5EF4-FFF2-40B4-BE49-F238E27FC236}">
                <a16:creationId xmlns:a16="http://schemas.microsoft.com/office/drawing/2014/main" id="{EFACCF72-C307-4575-A5DA-3377BEC5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81192" y="2329030"/>
            <a:ext cx="5218973" cy="3336664"/>
          </a:xfrm>
          <a:prstGeom prst="rect">
            <a:avLst/>
          </a:prstGeom>
        </p:spPr>
      </p:pic>
      <p:sp>
        <p:nvSpPr>
          <p:cNvPr id="319" name="Fondo blanco del contenido S16">
            <a:extLst>
              <a:ext uri="{FF2B5EF4-FFF2-40B4-BE49-F238E27FC236}">
                <a16:creationId xmlns:a16="http://schemas.microsoft.com/office/drawing/2014/main" id="{8338C50B-BE0E-4BA7-9248-3D9A192A09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0" name="Franja superior azul S16">
            <a:extLst>
              <a:ext uri="{FF2B5EF4-FFF2-40B4-BE49-F238E27FC236}">
                <a16:creationId xmlns:a16="http://schemas.microsoft.com/office/drawing/2014/main" id="{1A4C9852-99B3-4180-8148-40E5D8F06FA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1" name="Acento superior 1 S16">
            <a:extLst>
              <a:ext uri="{FF2B5EF4-FFF2-40B4-BE49-F238E27FC236}">
                <a16:creationId xmlns:a16="http://schemas.microsoft.com/office/drawing/2014/main" id="{F5209612-E722-4C8B-A448-7F156DA118A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2" name="Acento superior 2 S16">
            <a:extLst>
              <a:ext uri="{FF2B5EF4-FFF2-40B4-BE49-F238E27FC236}">
                <a16:creationId xmlns:a16="http://schemas.microsoft.com/office/drawing/2014/main" id="{94E7AC07-DD2A-4562-AFB7-9031CE72AFC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3" name="Acento superior 3 S16">
            <a:extLst>
              <a:ext uri="{FF2B5EF4-FFF2-40B4-BE49-F238E27FC236}">
                <a16:creationId xmlns:a16="http://schemas.microsoft.com/office/drawing/2014/main" id="{9117CE3F-8EB5-4B2C-ADC6-C22EB1F0B4C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4" name="Título de sección S16">
            <a:extLst>
              <a:ext uri="{FF2B5EF4-FFF2-40B4-BE49-F238E27FC236}">
                <a16:creationId xmlns:a16="http://schemas.microsoft.com/office/drawing/2014/main" id="{6A1086BD-8520-45A9-A9F1-FC310CB4D3BD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25" name="Título del contenido S16">
            <a:extLst>
              <a:ext uri="{FF2B5EF4-FFF2-40B4-BE49-F238E27FC236}">
                <a16:creationId xmlns:a16="http://schemas.microsoft.com/office/drawing/2014/main" id="{F6825046-BB20-40C0-A247-14041F3D2067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Inicio de sesión</a:t>
            </a:r>
          </a:p>
        </p:txBody>
      </p:sp>
      <p:sp>
        <p:nvSpPr>
          <p:cNvPr id="326" name="Texto del contenido S16">
            <a:extLst>
              <a:ext uri="{FF2B5EF4-FFF2-40B4-BE49-F238E27FC236}">
                <a16:creationId xmlns:a16="http://schemas.microsoft.com/office/drawing/2014/main" id="{FEB89C35-91CB-4EED-9598-4895667BA9D8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ControladorLogin envía las credenciales al servidor. Si la respuesta es correcta, abre la ventana de conversiones.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D1BE905-0F0F-858C-ADF0-A7387D6A32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390" y="2877228"/>
            <a:ext cx="4627110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5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>
            <a:extLst>
              <a:ext uri="{FF2B5EF4-FFF2-40B4-BE49-F238E27FC236}">
                <a16:creationId xmlns:a16="http://schemas.microsoft.com/office/drawing/2014/main" id="{B10C95D3-A278-4FC5-9730-4BB08117E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335" name="Google Shape;335;g2d6d00c5bd2_2_19">
            <a:extLst>
              <a:ext uri="{FF2B5EF4-FFF2-40B4-BE49-F238E27FC236}">
                <a16:creationId xmlns:a16="http://schemas.microsoft.com/office/drawing/2014/main" id="{6203560E-8377-4D46-ADDB-786D0DF2184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6" name="Google Shape;336;g2d6d00c5bd2_2_19">
            <a:extLst>
              <a:ext uri="{FF2B5EF4-FFF2-40B4-BE49-F238E27FC236}">
                <a16:creationId xmlns:a16="http://schemas.microsoft.com/office/drawing/2014/main" id="{634ADEBE-82B9-45A7-9268-C8F946CA7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CONVERSIÓN DE UNIDADES</a:t>
            </a: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endParaRPr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VentanaConversiones carga las categorías y unidades desde WSConUni. El controlador envía los datos al servidor y presenta el resultado o el mensaje de error.</a:t>
            </a:r>
          </a:p>
        </p:txBody>
      </p:sp>
      <p:pic>
        <p:nvPicPr>
          <p:cNvPr id="6" name="image2.png">
            <a:extLst>
              <a:ext uri="{FF2B5EF4-FFF2-40B4-BE49-F238E27FC236}">
                <a16:creationId xmlns:a16="http://schemas.microsoft.com/office/drawing/2014/main" id="{014A8DF9-8150-4B73-8DF0-B5C7EA0B9F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31103" y="2513572"/>
            <a:ext cx="3898097" cy="3116263"/>
          </a:xfrm>
          <a:prstGeom prst="rect">
            <a:avLst/>
          </a:prstGeom>
        </p:spPr>
      </p:pic>
      <p:sp>
        <p:nvSpPr>
          <p:cNvPr id="337" name="Fondo blanco del contenido S17">
            <a:extLst>
              <a:ext uri="{FF2B5EF4-FFF2-40B4-BE49-F238E27FC236}">
                <a16:creationId xmlns:a16="http://schemas.microsoft.com/office/drawing/2014/main" id="{FC2F99F1-DAF3-45A5-888E-CBC67A32B7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8" name="Franja superior azul S17">
            <a:extLst>
              <a:ext uri="{FF2B5EF4-FFF2-40B4-BE49-F238E27FC236}">
                <a16:creationId xmlns:a16="http://schemas.microsoft.com/office/drawing/2014/main" id="{FD6EDABC-5414-43E0-8E84-988E8AE9629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9" name="Acento superior 1 S17">
            <a:extLst>
              <a:ext uri="{FF2B5EF4-FFF2-40B4-BE49-F238E27FC236}">
                <a16:creationId xmlns:a16="http://schemas.microsoft.com/office/drawing/2014/main" id="{2821470C-6E93-456E-86E2-E8D55F140BFA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0" name="Acento superior 2 S17">
            <a:extLst>
              <a:ext uri="{FF2B5EF4-FFF2-40B4-BE49-F238E27FC236}">
                <a16:creationId xmlns:a16="http://schemas.microsoft.com/office/drawing/2014/main" id="{DB52359D-1E06-49F6-9AFE-DC1B022BF419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1" name="Acento superior 3 S17">
            <a:extLst>
              <a:ext uri="{FF2B5EF4-FFF2-40B4-BE49-F238E27FC236}">
                <a16:creationId xmlns:a16="http://schemas.microsoft.com/office/drawing/2014/main" id="{7356BA75-E89B-4C22-B8C6-0B4306D21ED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2" name="Título de sección S17">
            <a:extLst>
              <a:ext uri="{FF2B5EF4-FFF2-40B4-BE49-F238E27FC236}">
                <a16:creationId xmlns:a16="http://schemas.microsoft.com/office/drawing/2014/main" id="{01EBA485-5451-4CF6-BCA5-7E97F1FBC93A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43" name="Título del contenido S17">
            <a:extLst>
              <a:ext uri="{FF2B5EF4-FFF2-40B4-BE49-F238E27FC236}">
                <a16:creationId xmlns:a16="http://schemas.microsoft.com/office/drawing/2014/main" id="{B0CE05B1-CFB5-4E2A-96EC-7E27BEECCA53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 de conversión</a:t>
            </a:r>
          </a:p>
        </p:txBody>
      </p:sp>
      <p:sp>
        <p:nvSpPr>
          <p:cNvPr id="344" name="Texto del contenido S17">
            <a:extLst>
              <a:ext uri="{FF2B5EF4-FFF2-40B4-BE49-F238E27FC236}">
                <a16:creationId xmlns:a16="http://schemas.microsoft.com/office/drawing/2014/main" id="{C0845671-C2D1-470C-AAEF-26A22B7120D4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vista consulta categorías y unidades al servicio. El controlador envía el valor y presenta el resultado o el error recibido.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1BD36DF-A315-872F-96D2-6E294C725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004" y="3143412"/>
            <a:ext cx="5007121" cy="3116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12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>
            <a:extLst>
              <a:ext uri="{FF2B5EF4-FFF2-40B4-BE49-F238E27FC236}">
                <a16:creationId xmlns:a16="http://schemas.microsoft.com/office/drawing/2014/main" id="{495CD3A6-42AC-4977-936A-20A292EA5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343" name="Google Shape;343;p32">
            <a:extLst>
              <a:ext uri="{FF2B5EF4-FFF2-40B4-BE49-F238E27FC236}">
                <a16:creationId xmlns:a16="http://schemas.microsoft.com/office/drawing/2014/main" id="{A8C44E00-09AA-4768-873A-8A798E02743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p32">
            <a:extLst>
              <a:ext uri="{FF2B5EF4-FFF2-40B4-BE49-F238E27FC236}">
                <a16:creationId xmlns:a16="http://schemas.microsoft.com/office/drawing/2014/main" id="{506B11FC-06F9-4AEE-97DE-7A8AA29492C6}"/>
              </a:ext>
            </a:extLst>
          </p:cNvPr>
          <p:cNvSpPr>
            <a:spLocks noGrp="1"/>
          </p:cNvSpPr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lnSpcReduction="10000"/>
          </a:bodyPr>
          <a:lstStyle/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1.5  CLIENTE WEB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  <a:p>
            <a:pPr marL="457200" lvl="0" indent="-30797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ct val="100000"/>
              <a:buFont typeface="Cambria"/>
              <a:buChar char="∙"/>
            </a:pPr>
            <a:endParaRPr sz="2000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  <a:p>
            <a:pPr marL="457200" lvl="0" indent="-30797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ct val="100000"/>
              <a:buFont typeface="Cambria"/>
              <a:buChar char="∙"/>
            </a:pPr>
            <a:r>
              <a:rPr sz="200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Java 21 MVC con Servlets y JSP. Se despliega como WAR en Payara. Los proxies SOAP se generan desde el WSDL local, y cada solicitud usa su propio puerto de servicio.</a:t>
            </a:r>
          </a:p>
        </p:txBody>
      </p:sp>
      <p:pic>
        <p:nvPicPr>
          <p:cNvPr id="7" name="image1.png">
            <a:extLst>
              <a:ext uri="{FF2B5EF4-FFF2-40B4-BE49-F238E27FC236}">
                <a16:creationId xmlns:a16="http://schemas.microsoft.com/office/drawing/2014/main" id="{30BA16FA-00AF-41AD-AEED-7060A67A2F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11356" y="3839056"/>
            <a:ext cx="2095500" cy="5619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4D50B04-818B-4F90-8402-B82EF8FBB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3999" y="3524211"/>
            <a:ext cx="4959666" cy="3037954"/>
          </a:xfrm>
          <a:prstGeom prst="rect">
            <a:avLst/>
          </a:prstGeom>
        </p:spPr>
      </p:pic>
      <p:sp>
        <p:nvSpPr>
          <p:cNvPr id="345" name="Fondo blanco del contenido S18">
            <a:extLst>
              <a:ext uri="{FF2B5EF4-FFF2-40B4-BE49-F238E27FC236}">
                <a16:creationId xmlns:a16="http://schemas.microsoft.com/office/drawing/2014/main" id="{8DB0FE11-4700-4389-BF02-82B12E2F82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6" name="Franja superior azul S18">
            <a:extLst>
              <a:ext uri="{FF2B5EF4-FFF2-40B4-BE49-F238E27FC236}">
                <a16:creationId xmlns:a16="http://schemas.microsoft.com/office/drawing/2014/main" id="{55ACDD45-E64A-41E3-BE3F-1B852509A04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7" name="Acento superior 1 S18">
            <a:extLst>
              <a:ext uri="{FF2B5EF4-FFF2-40B4-BE49-F238E27FC236}">
                <a16:creationId xmlns:a16="http://schemas.microsoft.com/office/drawing/2014/main" id="{4542899F-0D75-4D53-B787-3207D921418D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8" name="Acento superior 2 S18">
            <a:extLst>
              <a:ext uri="{FF2B5EF4-FFF2-40B4-BE49-F238E27FC236}">
                <a16:creationId xmlns:a16="http://schemas.microsoft.com/office/drawing/2014/main" id="{4D13A0AD-5795-4C0C-8BC2-AAF0726D4C42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9" name="Acento superior 3 S18">
            <a:extLst>
              <a:ext uri="{FF2B5EF4-FFF2-40B4-BE49-F238E27FC236}">
                <a16:creationId xmlns:a16="http://schemas.microsoft.com/office/drawing/2014/main" id="{B79B3AFD-C3C8-47DE-9E2D-CBDD4017DF2F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0" name="Título de sección S18">
            <a:extLst>
              <a:ext uri="{FF2B5EF4-FFF2-40B4-BE49-F238E27FC236}">
                <a16:creationId xmlns:a16="http://schemas.microsoft.com/office/drawing/2014/main" id="{5731747B-6B51-47D8-A142-46394FB8FD9E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51" name="Título del contenido S18">
            <a:extLst>
              <a:ext uri="{FF2B5EF4-FFF2-40B4-BE49-F238E27FC236}">
                <a16:creationId xmlns:a16="http://schemas.microsoft.com/office/drawing/2014/main" id="{3B175E7E-26E7-40B5-9206-6D669B1641F9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web Java</a:t>
            </a:r>
          </a:p>
        </p:txBody>
      </p:sp>
      <p:sp>
        <p:nvSpPr>
          <p:cNvPr id="352" name="Texto del contenido S18">
            <a:extLst>
              <a:ext uri="{FF2B5EF4-FFF2-40B4-BE49-F238E27FC236}">
                <a16:creationId xmlns:a16="http://schemas.microsoft.com/office/drawing/2014/main" id="{81DAE47E-B620-4DBA-9215-55A26D3927B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usa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Java 21, Servlets, JSP y Maven. Payara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aloja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el WAR y el WSDL local genera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los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proxies SOAP.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495478A-604E-7CF7-55C2-72345E13B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813" y="1949931"/>
            <a:ext cx="3286584" cy="450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385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>
            <a:extLst>
              <a:ext uri="{FF2B5EF4-FFF2-40B4-BE49-F238E27FC236}">
                <a16:creationId xmlns:a16="http://schemas.microsoft.com/office/drawing/2014/main" id="{7D724ACB-56CA-4634-989A-FCE3F53ED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377" name="Google Shape;377;g319782968e5_0_88">
            <a:extLst>
              <a:ext uri="{FF2B5EF4-FFF2-40B4-BE49-F238E27FC236}">
                <a16:creationId xmlns:a16="http://schemas.microsoft.com/office/drawing/2014/main" id="{55A9D044-95A5-4688-984E-E5DABE2F2393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Google Shape;378;g319782968e5_0_88">
            <a:extLst>
              <a:ext uri="{FF2B5EF4-FFF2-40B4-BE49-F238E27FC236}">
                <a16:creationId xmlns:a16="http://schemas.microsoft.com/office/drawing/2014/main" id="{2D620226-84B9-4C9E-BD0F-92EA488677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fontScale="87744"/>
          </a:bodyPr>
          <a:lstStyle/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VISTAS JSP</a:t>
            </a:r>
            <a:endParaRPr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endParaRPr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login.jsp recoge las credenciales y conversor.jsp muestra el catálogo y el formulario de conversión. Las páginas se ubican bajo WEB-INF/vista y reciben los datos preparados por los Servlets.</a:t>
            </a:r>
            <a:endParaRPr>
              <a:latin typeface="Cambria"/>
              <a:ea typeface="Cambria"/>
              <a:cs typeface="Cambria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10C6F8A-2ABE-416D-BEA9-B7D7419F8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168" y="3132944"/>
            <a:ext cx="1448002" cy="90500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6130A9C-1240-4C75-8167-6682C801B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9277" y="3132944"/>
            <a:ext cx="3959600" cy="3545395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>
            <a:spLocks noGrp="1"/>
          </p:cNvSpPr>
          <p:nvPr/>
        </p:nvSpPr>
        <p:spPr>
          <a:xfrm>
            <a:off x="719417" y="4185628"/>
            <a:ext cx="262441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libri"/>
                <a:ea typeface="Calibri"/>
                <a:cs typeface="Calibri"/>
              </a:rPr>
              <a:t>FLUJO WEB Y SESIÓN</a:t>
            </a:r>
            <a:endParaRPr/>
          </a:p>
          <a:p>
            <a:endParaRPr/>
          </a:p>
          <a:p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libri"/>
                <a:ea typeface="Calibri"/>
                <a:cs typeface="Calibri"/>
              </a:rPr>
              <a:t>Los Servlets procesan el acceso, la recuperación de clave y las conversiones. El token se conserva en la sesión HTTP. Los formularios POST incluyen protección CSRF y las vistas escapan los valores mostrados.</a:t>
            </a:r>
            <a:endParaRPr/>
          </a:p>
        </p:txBody>
      </p:sp>
      <p:sp>
        <p:nvSpPr>
          <p:cNvPr id="379" name="Fondo blanco del contenido S19">
            <a:extLst>
              <a:ext uri="{FF2B5EF4-FFF2-40B4-BE49-F238E27FC236}">
                <a16:creationId xmlns:a16="http://schemas.microsoft.com/office/drawing/2014/main" id="{EDFBC877-637A-4038-BD92-26D7A91148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0" name="Franja superior azul S19">
            <a:extLst>
              <a:ext uri="{FF2B5EF4-FFF2-40B4-BE49-F238E27FC236}">
                <a16:creationId xmlns:a16="http://schemas.microsoft.com/office/drawing/2014/main" id="{8949DE7D-96E4-493A-8731-76BE58F3436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1" name="Acento superior 1 S19">
            <a:extLst>
              <a:ext uri="{FF2B5EF4-FFF2-40B4-BE49-F238E27FC236}">
                <a16:creationId xmlns:a16="http://schemas.microsoft.com/office/drawing/2014/main" id="{FB784D14-EBD6-4C3D-BA8F-93EE72D92C9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2" name="Acento superior 2 S19">
            <a:extLst>
              <a:ext uri="{FF2B5EF4-FFF2-40B4-BE49-F238E27FC236}">
                <a16:creationId xmlns:a16="http://schemas.microsoft.com/office/drawing/2014/main" id="{90F4C11A-FC4D-45F8-9BA1-E2C1DD7D497D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3" name="Acento superior 3 S19">
            <a:extLst>
              <a:ext uri="{FF2B5EF4-FFF2-40B4-BE49-F238E27FC236}">
                <a16:creationId xmlns:a16="http://schemas.microsoft.com/office/drawing/2014/main" id="{59C40456-CEE3-4DC4-9160-7AA051EBAB6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4" name="Título de sección S19">
            <a:extLst>
              <a:ext uri="{FF2B5EF4-FFF2-40B4-BE49-F238E27FC236}">
                <a16:creationId xmlns:a16="http://schemas.microsoft.com/office/drawing/2014/main" id="{67355AD1-533F-4350-8699-2BFCE307850E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85" name="Título del contenido S19">
            <a:extLst>
              <a:ext uri="{FF2B5EF4-FFF2-40B4-BE49-F238E27FC236}">
                <a16:creationId xmlns:a16="http://schemas.microsoft.com/office/drawing/2014/main" id="{8458D636-3E22-4402-A773-A3072E89C4D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Servlets y sesión HTTP</a:t>
            </a:r>
          </a:p>
        </p:txBody>
      </p:sp>
      <p:sp>
        <p:nvSpPr>
          <p:cNvPr id="386" name="Texto del contenido S19">
            <a:extLst>
              <a:ext uri="{FF2B5EF4-FFF2-40B4-BE49-F238E27FC236}">
                <a16:creationId xmlns:a16="http://schemas.microsoft.com/office/drawing/2014/main" id="{2933916A-9055-4395-866C-2B1FC38924D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Los Servlets gestionan acceso, recuperación y conversiones. El token se guarda en sesión HTTP; los formularios POST usan protección CSRF.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430E1F7-9A4A-4D94-C567-CC44936802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0917" y="1995348"/>
            <a:ext cx="3886742" cy="291029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E66C788-CD06-90FD-922A-C6557B35FF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639" y="3745849"/>
            <a:ext cx="3714750" cy="276999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BF13995-9FC0-4609-1F66-503F8D9532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1500" y="5299052"/>
            <a:ext cx="5001411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38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>
            <a:extLst>
              <a:ext uri="{FF2B5EF4-FFF2-40B4-BE49-F238E27FC236}">
                <a16:creationId xmlns:a16="http://schemas.microsoft.com/office/drawing/2014/main" id="{7A6A8A47-FC2B-4DB5-BED7-60A8F3003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385" name="Google Shape;385;g319782968e5_0_73">
            <a:extLst>
              <a:ext uri="{FF2B5EF4-FFF2-40B4-BE49-F238E27FC236}">
                <a16:creationId xmlns:a16="http://schemas.microsoft.com/office/drawing/2014/main" id="{B913EFC6-6384-4CEE-A9BA-C09B98BF99EA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6" name="Google Shape;386;g319782968e5_0_73">
            <a:extLst>
              <a:ext uri="{FF2B5EF4-FFF2-40B4-BE49-F238E27FC236}">
                <a16:creationId xmlns:a16="http://schemas.microsoft.com/office/drawing/2014/main" id="{B2ADA3E9-E2AC-492E-B55A-C71C2DB03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fontScale="94677"/>
          </a:bodyPr>
          <a:lstStyle/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ACCESO Y CONTROL DE SESIÓN</a:t>
            </a:r>
            <a:endParaRPr sz="1800">
              <a:latin typeface="Cambria"/>
              <a:ea typeface="Cambria"/>
              <a:cs typeface="Cambria"/>
            </a:endParaRPr>
          </a:p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endParaRPr sz="1800">
              <a:latin typeface="Cambria"/>
              <a:ea typeface="Cambria"/>
              <a:cs typeface="Cambria"/>
            </a:endParaRPr>
          </a:p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AutenticacionServlet invoca autenticar y guarda el token en la sesión HTTP. FiltroSesion protege las rutas privadas; CerrarSesionServlet elimina la sesión local del navegador.</a:t>
            </a:r>
            <a:endParaRPr sz="1800">
              <a:latin typeface="Cambria"/>
              <a:ea typeface="Cambria"/>
              <a:cs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9816977-216F-4952-908B-A4A695BF0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70" y="2850777"/>
            <a:ext cx="4143559" cy="3708703"/>
          </a:xfrm>
          <a:prstGeom prst="rect">
            <a:avLst/>
          </a:prstGeom>
        </p:spPr>
      </p:pic>
      <p:sp>
        <p:nvSpPr>
          <p:cNvPr id="387" name="Fondo blanco del contenido S20">
            <a:extLst>
              <a:ext uri="{FF2B5EF4-FFF2-40B4-BE49-F238E27FC236}">
                <a16:creationId xmlns:a16="http://schemas.microsoft.com/office/drawing/2014/main" id="{F46A36E8-93C6-446A-BAFE-3715CF7953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8" name="Franja superior azul S20">
            <a:extLst>
              <a:ext uri="{FF2B5EF4-FFF2-40B4-BE49-F238E27FC236}">
                <a16:creationId xmlns:a16="http://schemas.microsoft.com/office/drawing/2014/main" id="{F182531A-5DA2-4155-A8DD-37298F562FE2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9" name="Acento superior 1 S20">
            <a:extLst>
              <a:ext uri="{FF2B5EF4-FFF2-40B4-BE49-F238E27FC236}">
                <a16:creationId xmlns:a16="http://schemas.microsoft.com/office/drawing/2014/main" id="{996BC4F6-D2E8-41BF-997F-5A4BFDDA9F60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0" name="Acento superior 2 S20">
            <a:extLst>
              <a:ext uri="{FF2B5EF4-FFF2-40B4-BE49-F238E27FC236}">
                <a16:creationId xmlns:a16="http://schemas.microsoft.com/office/drawing/2014/main" id="{614D5A18-6BEC-41A8-B776-4BC363481F97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1" name="Acento superior 3 S20">
            <a:extLst>
              <a:ext uri="{FF2B5EF4-FFF2-40B4-BE49-F238E27FC236}">
                <a16:creationId xmlns:a16="http://schemas.microsoft.com/office/drawing/2014/main" id="{C3249603-A2D8-4767-94DF-421D3D65952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2" name="Título de sección S20">
            <a:extLst>
              <a:ext uri="{FF2B5EF4-FFF2-40B4-BE49-F238E27FC236}">
                <a16:creationId xmlns:a16="http://schemas.microsoft.com/office/drawing/2014/main" id="{06BAB58B-49B8-4269-A6D4-2A532B4E6E5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93" name="Título del contenido S20">
            <a:extLst>
              <a:ext uri="{FF2B5EF4-FFF2-40B4-BE49-F238E27FC236}">
                <a16:creationId xmlns:a16="http://schemas.microsoft.com/office/drawing/2014/main" id="{731B6112-11F3-4139-A333-2731F502EF49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JSP</a:t>
            </a:r>
          </a:p>
        </p:txBody>
      </p:sp>
      <p:sp>
        <p:nvSpPr>
          <p:cNvPr id="394" name="Texto del contenido S20">
            <a:extLst>
              <a:ext uri="{FF2B5EF4-FFF2-40B4-BE49-F238E27FC236}">
                <a16:creationId xmlns:a16="http://schemas.microsoft.com/office/drawing/2014/main" id="{C8B8E7C2-A084-4543-B86C-700463C4F9CC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login.jsp recibe las credenciales. conversor.jsp presenta las categorías, unidades, formulario y respuesta.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774E79B-19F5-7B3A-6891-C9797F2C5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375" y="2242972"/>
            <a:ext cx="4967708" cy="237205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3ED7BE6-6707-5FB5-2B81-5484922916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621" y="3761137"/>
            <a:ext cx="3458282" cy="2947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1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>
            <a:extLst>
              <a:ext uri="{FF2B5EF4-FFF2-40B4-BE49-F238E27FC236}">
                <a16:creationId xmlns:a16="http://schemas.microsoft.com/office/drawing/2014/main" id="{366D9DAB-F1A9-431E-BC56-39CBAC92D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401" name="Google Shape;401;g319782968e5_0_112">
            <a:extLst>
              <a:ext uri="{FF2B5EF4-FFF2-40B4-BE49-F238E27FC236}">
                <a16:creationId xmlns:a16="http://schemas.microsoft.com/office/drawing/2014/main" id="{44E84EC4-9884-4941-9CD4-209A952FCF11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2" name="Google Shape;402;g319782968e5_0_112">
            <a:extLst>
              <a:ext uri="{FF2B5EF4-FFF2-40B4-BE49-F238E27FC236}">
                <a16:creationId xmlns:a16="http://schemas.microsoft.com/office/drawing/2014/main" id="{65A31BD1-4C53-4436-BD4A-95F1A5DF2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DESPLIEGUE Y EJECUCIÓN</a:t>
            </a: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endParaRPr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Primero se despliega WS_CON_UNI_JAVA_SOAP en Payara. Luego se compila el cliente web con Maven, se despliega el archivo WAR y se abre el contexto de la aplicación en el navegador.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7139CE-65C1-4DD5-B181-53DA06342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268" y="3257334"/>
            <a:ext cx="3200847" cy="3086531"/>
          </a:xfrm>
          <a:prstGeom prst="rect">
            <a:avLst/>
          </a:prstGeom>
        </p:spPr>
      </p:pic>
      <p:sp>
        <p:nvSpPr>
          <p:cNvPr id="403" name="Fondo blanco del contenido S21">
            <a:extLst>
              <a:ext uri="{FF2B5EF4-FFF2-40B4-BE49-F238E27FC236}">
                <a16:creationId xmlns:a16="http://schemas.microsoft.com/office/drawing/2014/main" id="{F4666D95-7C49-45A9-82E0-8272558284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4" name="Franja superior azul S21">
            <a:extLst>
              <a:ext uri="{FF2B5EF4-FFF2-40B4-BE49-F238E27FC236}">
                <a16:creationId xmlns:a16="http://schemas.microsoft.com/office/drawing/2014/main" id="{454C65D2-0C5C-4F83-AE0B-B42CD4B58293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5" name="Acento superior 1 S21">
            <a:extLst>
              <a:ext uri="{FF2B5EF4-FFF2-40B4-BE49-F238E27FC236}">
                <a16:creationId xmlns:a16="http://schemas.microsoft.com/office/drawing/2014/main" id="{3E895756-4AE9-41E8-9ACB-4BE882A43978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6" name="Acento superior 2 S21">
            <a:extLst>
              <a:ext uri="{FF2B5EF4-FFF2-40B4-BE49-F238E27FC236}">
                <a16:creationId xmlns:a16="http://schemas.microsoft.com/office/drawing/2014/main" id="{0A715A45-5E25-4064-8D8A-36051B0B0DCE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7" name="Acento superior 3 S21">
            <a:extLst>
              <a:ext uri="{FF2B5EF4-FFF2-40B4-BE49-F238E27FC236}">
                <a16:creationId xmlns:a16="http://schemas.microsoft.com/office/drawing/2014/main" id="{EE5200EF-AADE-4BEF-B497-DBACCD30088A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8" name="Título de sección S21">
            <a:extLst>
              <a:ext uri="{FF2B5EF4-FFF2-40B4-BE49-F238E27FC236}">
                <a16:creationId xmlns:a16="http://schemas.microsoft.com/office/drawing/2014/main" id="{E715B03C-C518-405C-9818-1D30EA91CF20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09" name="Título del contenido S21">
            <a:extLst>
              <a:ext uri="{FF2B5EF4-FFF2-40B4-BE49-F238E27FC236}">
                <a16:creationId xmlns:a16="http://schemas.microsoft.com/office/drawing/2014/main" id="{B0D81D13-8B8D-4440-9F14-FBF52C138413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Despliegue en Payara</a:t>
            </a:r>
          </a:p>
        </p:txBody>
      </p:sp>
      <p:sp>
        <p:nvSpPr>
          <p:cNvPr id="410" name="Texto del contenido S21">
            <a:extLst>
              <a:ext uri="{FF2B5EF4-FFF2-40B4-BE49-F238E27FC236}">
                <a16:creationId xmlns:a16="http://schemas.microsoft.com/office/drawing/2014/main" id="{7E0F96F8-B1AC-4B1B-8BC8-1B3A10BE0FAE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Primero se despliega el servidor SOAP. Después se compila el cliente con Maven, se despliega su WAR y se abre el contexto web.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877D3D-020E-6D9A-23DE-65E74687B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774" y="3829475"/>
            <a:ext cx="7081763" cy="171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2591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>
            <a:extLst>
              <a:ext uri="{FF2B5EF4-FFF2-40B4-BE49-F238E27FC236}">
                <a16:creationId xmlns:a16="http://schemas.microsoft.com/office/drawing/2014/main" id="{6264CFDD-DDBE-46EA-9798-B485DB6A6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411" name="Google Shape;411;g319782968e5_0_135">
            <a:extLst>
              <a:ext uri="{FF2B5EF4-FFF2-40B4-BE49-F238E27FC236}">
                <a16:creationId xmlns:a16="http://schemas.microsoft.com/office/drawing/2014/main" id="{CB4A8B47-BE48-4A97-A917-167192DC5E2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2" name="Google Shape;412;g319782968e5_0_135">
            <a:extLst>
              <a:ext uri="{FF2B5EF4-FFF2-40B4-BE49-F238E27FC236}">
                <a16:creationId xmlns:a16="http://schemas.microsoft.com/office/drawing/2014/main" id="{C9FB03B7-3000-458E-8F54-AF6B57AA2F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PANTALLA DE ACCESO WEB</a:t>
            </a:r>
          </a:p>
          <a:p>
            <a:pPr marL="45720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>
              <a:latin typeface="Cambria"/>
              <a:ea typeface="Cambria"/>
              <a:cs typeface="Cambria"/>
            </a:endParaRPr>
          </a:p>
          <a:p>
            <a:pPr marL="45720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t>El formulario envía las credenciales al Servlet de autenticación. Las credenciales iniciales se configuran en el servidor y no deben aparecer en las capturas de evidencia.</a:t>
            </a:r>
            <a:endParaRPr>
              <a:latin typeface="Cambria"/>
              <a:ea typeface="Cambria"/>
              <a:cs typeface="Cambria"/>
            </a:endParaRPr>
          </a:p>
        </p:txBody>
      </p:sp>
      <p:pic>
        <p:nvPicPr>
          <p:cNvPr id="6" name="image30.png">
            <a:extLst>
              <a:ext uri="{FF2B5EF4-FFF2-40B4-BE49-F238E27FC236}">
                <a16:creationId xmlns:a16="http://schemas.microsoft.com/office/drawing/2014/main" id="{5BB925CF-72A4-4523-BE49-BBFCE5519E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03359" y="2804085"/>
            <a:ext cx="5399405" cy="2755900"/>
          </a:xfrm>
          <a:prstGeom prst="rect">
            <a:avLst/>
          </a:prstGeom>
        </p:spPr>
      </p:pic>
      <p:sp>
        <p:nvSpPr>
          <p:cNvPr id="413" name="Fondo blanco del contenido S22">
            <a:extLst>
              <a:ext uri="{FF2B5EF4-FFF2-40B4-BE49-F238E27FC236}">
                <a16:creationId xmlns:a16="http://schemas.microsoft.com/office/drawing/2014/main" id="{A64DE1DF-1F79-4094-88CE-679CC40D0B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4" name="Franja superior azul S22">
            <a:extLst>
              <a:ext uri="{FF2B5EF4-FFF2-40B4-BE49-F238E27FC236}">
                <a16:creationId xmlns:a16="http://schemas.microsoft.com/office/drawing/2014/main" id="{DB7037E4-68DE-47C2-A46E-66CDB2A7E4E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5" name="Acento superior 1 S22">
            <a:extLst>
              <a:ext uri="{FF2B5EF4-FFF2-40B4-BE49-F238E27FC236}">
                <a16:creationId xmlns:a16="http://schemas.microsoft.com/office/drawing/2014/main" id="{F1B2D875-6CE0-4854-88C7-2830773036F9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6" name="Acento superior 2 S22">
            <a:extLst>
              <a:ext uri="{FF2B5EF4-FFF2-40B4-BE49-F238E27FC236}">
                <a16:creationId xmlns:a16="http://schemas.microsoft.com/office/drawing/2014/main" id="{68DD59A8-F1E2-4659-B216-2E9BF1FE4EB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7" name="Acento superior 3 S22">
            <a:extLst>
              <a:ext uri="{FF2B5EF4-FFF2-40B4-BE49-F238E27FC236}">
                <a16:creationId xmlns:a16="http://schemas.microsoft.com/office/drawing/2014/main" id="{8242EAB0-7429-4545-8F3D-50732E6DCC1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8" name="Título de sección S22">
            <a:extLst>
              <a:ext uri="{FF2B5EF4-FFF2-40B4-BE49-F238E27FC236}">
                <a16:creationId xmlns:a16="http://schemas.microsoft.com/office/drawing/2014/main" id="{0C527865-BC8E-4C36-A6D5-7A70E429534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19" name="Título del contenido S22">
            <a:extLst>
              <a:ext uri="{FF2B5EF4-FFF2-40B4-BE49-F238E27FC236}">
                <a16:creationId xmlns:a16="http://schemas.microsoft.com/office/drawing/2014/main" id="{6E8D1C57-FA02-41FC-B14A-CC31E2256F8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 web</a:t>
            </a:r>
          </a:p>
        </p:txBody>
      </p:sp>
      <p:sp>
        <p:nvSpPr>
          <p:cNvPr id="420" name="Texto del contenido S22">
            <a:extLst>
              <a:ext uri="{FF2B5EF4-FFF2-40B4-BE49-F238E27FC236}">
                <a16:creationId xmlns:a16="http://schemas.microsoft.com/office/drawing/2014/main" id="{8D0E4F10-EECF-4A05-88AE-DDF5ABF5FE9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AutenticacionServlet invoca el servicio y guarda el token en sesión HTTP. FiltroSesion protege las rutas privadas.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8D4759E-D620-9027-C3A9-1D07CF97DD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17" y="3429000"/>
            <a:ext cx="6559883" cy="337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16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>
            <a:extLst>
              <a:ext uri="{FF2B5EF4-FFF2-40B4-BE49-F238E27FC236}">
                <a16:creationId xmlns:a16="http://schemas.microsoft.com/office/drawing/2014/main" id="{B106C63B-D378-4759-AA82-FE8C9173B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419" name="Google Shape;419;g319782968e5_0_123">
            <a:extLst>
              <a:ext uri="{FF2B5EF4-FFF2-40B4-BE49-F238E27FC236}">
                <a16:creationId xmlns:a16="http://schemas.microsoft.com/office/drawing/2014/main" id="{66B363B7-452F-4E39-9220-1DB95D4B7AD4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0" name="Google Shape;420;g319782968e5_0_123">
            <a:extLst>
              <a:ext uri="{FF2B5EF4-FFF2-40B4-BE49-F238E27FC236}">
                <a16:creationId xmlns:a16="http://schemas.microsoft.com/office/drawing/2014/main" id="{CDE54F07-9753-41F7-925A-60657A81C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PANTALLA DE CONVERSIÓN WEB</a:t>
            </a: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endParaRPr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El usuario selecciona la categoría y las unidades de origen y destino, ingresa el valor y envía la operación al cliente SOAP.</a:t>
            </a:r>
          </a:p>
        </p:txBody>
      </p:sp>
      <p:pic>
        <p:nvPicPr>
          <p:cNvPr id="6" name="image50.png">
            <a:extLst>
              <a:ext uri="{FF2B5EF4-FFF2-40B4-BE49-F238E27FC236}">
                <a16:creationId xmlns:a16="http://schemas.microsoft.com/office/drawing/2014/main" id="{D92090E1-F64B-4797-A45C-6B3C7F8210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686896" y="2718547"/>
            <a:ext cx="5399405" cy="2819400"/>
          </a:xfrm>
          <a:prstGeom prst="rect">
            <a:avLst/>
          </a:prstGeom>
        </p:spPr>
      </p:pic>
      <p:sp>
        <p:nvSpPr>
          <p:cNvPr id="421" name="Fondo blanco del contenido S23">
            <a:extLst>
              <a:ext uri="{FF2B5EF4-FFF2-40B4-BE49-F238E27FC236}">
                <a16:creationId xmlns:a16="http://schemas.microsoft.com/office/drawing/2014/main" id="{D08937AF-4F1A-4523-8922-D64D96738A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2" name="Franja superior azul S23">
            <a:extLst>
              <a:ext uri="{FF2B5EF4-FFF2-40B4-BE49-F238E27FC236}">
                <a16:creationId xmlns:a16="http://schemas.microsoft.com/office/drawing/2014/main" id="{6B08D76A-F0F5-494E-B9BE-179A68DC05AE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3" name="Acento superior 1 S23">
            <a:extLst>
              <a:ext uri="{FF2B5EF4-FFF2-40B4-BE49-F238E27FC236}">
                <a16:creationId xmlns:a16="http://schemas.microsoft.com/office/drawing/2014/main" id="{03D46EA4-0C3E-4B20-A778-513625981F3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4" name="Acento superior 2 S23">
            <a:extLst>
              <a:ext uri="{FF2B5EF4-FFF2-40B4-BE49-F238E27FC236}">
                <a16:creationId xmlns:a16="http://schemas.microsoft.com/office/drawing/2014/main" id="{C2EF3113-66FC-4DE6-8EAF-8FEB4F3FBBCD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5" name="Acento superior 3 S23">
            <a:extLst>
              <a:ext uri="{FF2B5EF4-FFF2-40B4-BE49-F238E27FC236}">
                <a16:creationId xmlns:a16="http://schemas.microsoft.com/office/drawing/2014/main" id="{5B170949-9AFA-4A27-AE76-720B400ED780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6" name="Título de sección S23">
            <a:extLst>
              <a:ext uri="{FF2B5EF4-FFF2-40B4-BE49-F238E27FC236}">
                <a16:creationId xmlns:a16="http://schemas.microsoft.com/office/drawing/2014/main" id="{0BDCB881-C54E-4E8D-98F6-353609D62FE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27" name="Título del contenido S23">
            <a:extLst>
              <a:ext uri="{FF2B5EF4-FFF2-40B4-BE49-F238E27FC236}">
                <a16:creationId xmlns:a16="http://schemas.microsoft.com/office/drawing/2014/main" id="{79B794E5-A0B7-43E4-9C80-E187745A08C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Conversor web</a:t>
            </a:r>
          </a:p>
        </p:txBody>
      </p:sp>
      <p:sp>
        <p:nvSpPr>
          <p:cNvPr id="428" name="Texto del contenido S23">
            <a:extLst>
              <a:ext uri="{FF2B5EF4-FFF2-40B4-BE49-F238E27FC236}">
                <a16:creationId xmlns:a16="http://schemas.microsoft.com/office/drawing/2014/main" id="{BE2B1544-39EF-4F75-9185-DEADF766B1DA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usuario selecciona categoría y unidades, ingresa el valor y envía la conversión al servicio SOAP.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63EEEFC-4381-7832-B5E7-0892E8F4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1813" y="3591635"/>
            <a:ext cx="6096000" cy="294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19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>
            <a:extLst>
              <a:ext uri="{FF2B5EF4-FFF2-40B4-BE49-F238E27FC236}">
                <a16:creationId xmlns:a16="http://schemas.microsoft.com/office/drawing/2014/main" id="{20B74DBD-D60C-4178-901E-1FA3ADE23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427" name="Google Shape;427;p37">
            <a:extLst>
              <a:ext uri="{FF2B5EF4-FFF2-40B4-BE49-F238E27FC236}">
                <a16:creationId xmlns:a16="http://schemas.microsoft.com/office/drawing/2014/main" id="{F100B0FA-0D45-4CBF-9B86-20BC4457A602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8" name="Google Shape;428;p37">
            <a:extLst>
              <a:ext uri="{FF2B5EF4-FFF2-40B4-BE49-F238E27FC236}">
                <a16:creationId xmlns:a16="http://schemas.microsoft.com/office/drawing/2014/main" id="{46213C4F-350F-4EF1-BD18-CB7BCC4B0D46}"/>
              </a:ext>
            </a:extLst>
          </p:cNvPr>
          <p:cNvSpPr>
            <a:spLocks noGrp="1"/>
          </p:cNvSpPr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1.6 	CREACIÓN DEL PROYECTO – CLIENTE MÓVIL</a:t>
            </a:r>
            <a:b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</a:b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429" name="Google Shape;429;p37">
            <a:extLst>
              <a:ext uri="{FF2B5EF4-FFF2-40B4-BE49-F238E27FC236}">
                <a16:creationId xmlns:a16="http://schemas.microsoft.com/office/drawing/2014/main" id="{B8D43190-4105-4D0E-BFA9-9E3272D66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t>CLIENTE ANDROID EN JAVA</a:t>
            </a: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>
                <a:latin typeface="Cambria"/>
                <a:ea typeface="Cambria"/>
                <a:cs typeface="Cambria"/>
              </a:rPr>
              <a:t>La aplicación usa Android Studio, Gradle y Java 21. El proyecto configura compileSdk 35 y minSdk 26. Android no incluye JAX-WS, por eso el cliente construye y procesa SOAP 1.1 directamente.</a:t>
            </a:r>
          </a:p>
        </p:txBody>
      </p:sp>
      <p:pic>
        <p:nvPicPr>
          <p:cNvPr id="430" name="Google Shape;430;p37">
            <a:extLst>
              <a:ext uri="{FF2B5EF4-FFF2-40B4-BE49-F238E27FC236}">
                <a16:creationId xmlns:a16="http://schemas.microsoft.com/office/drawing/2014/main" id="{B067F5EB-C4AF-4FCC-9541-715C63F9E5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18749" y="2402189"/>
            <a:ext cx="1606875" cy="1691850"/>
          </a:xfrm>
          <a:prstGeom prst="rect">
            <a:avLst/>
          </a:prstGeom>
          <a:ln>
            <a:noFill/>
          </a:ln>
        </p:spPr>
      </p:pic>
      <p:pic>
        <p:nvPicPr>
          <p:cNvPr id="431" name="Google Shape;431;p37">
            <a:extLst>
              <a:ext uri="{FF2B5EF4-FFF2-40B4-BE49-F238E27FC236}">
                <a16:creationId xmlns:a16="http://schemas.microsoft.com/office/drawing/2014/main" id="{FCA9D2A6-8662-4F9D-9234-6291A439354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10937" y="4209124"/>
            <a:ext cx="3622500" cy="1917800"/>
          </a:xfrm>
          <a:prstGeom prst="rect">
            <a:avLst/>
          </a:prstGeom>
          <a:ln>
            <a:noFill/>
          </a:ln>
        </p:spPr>
      </p:pic>
      <p:pic>
        <p:nvPicPr>
          <p:cNvPr id="432" name="Google Shape;432;p37">
            <a:extLst>
              <a:ext uri="{FF2B5EF4-FFF2-40B4-BE49-F238E27FC236}">
                <a16:creationId xmlns:a16="http://schemas.microsoft.com/office/drawing/2014/main" id="{F05434CA-1F8C-4763-A6C8-A0A527CCD3A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04275" y="5528800"/>
            <a:ext cx="4335775" cy="599550"/>
          </a:xfrm>
          <a:prstGeom prst="rect">
            <a:avLst/>
          </a:prstGeom>
          <a:ln>
            <a:noFill/>
          </a:ln>
        </p:spPr>
      </p:pic>
      <p:sp>
        <p:nvSpPr>
          <p:cNvPr id="433" name="Fondo blanco del contenido S24">
            <a:extLst>
              <a:ext uri="{FF2B5EF4-FFF2-40B4-BE49-F238E27FC236}">
                <a16:creationId xmlns:a16="http://schemas.microsoft.com/office/drawing/2014/main" id="{8AAD1CBB-272B-4CC8-B363-A9117DAAA0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4" name="Franja superior azul S24">
            <a:extLst>
              <a:ext uri="{FF2B5EF4-FFF2-40B4-BE49-F238E27FC236}">
                <a16:creationId xmlns:a16="http://schemas.microsoft.com/office/drawing/2014/main" id="{AF56F0A7-986E-4D23-8CCF-81CAEAD3CB9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5" name="Acento superior 1 S24">
            <a:extLst>
              <a:ext uri="{FF2B5EF4-FFF2-40B4-BE49-F238E27FC236}">
                <a16:creationId xmlns:a16="http://schemas.microsoft.com/office/drawing/2014/main" id="{46C110C0-3A6B-47E7-9A9D-B992837C00A7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6" name="Acento superior 2 S24">
            <a:extLst>
              <a:ext uri="{FF2B5EF4-FFF2-40B4-BE49-F238E27FC236}">
                <a16:creationId xmlns:a16="http://schemas.microsoft.com/office/drawing/2014/main" id="{24B3DB4D-B729-4AD2-93BE-82E364084175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7" name="Acento superior 3 S24">
            <a:extLst>
              <a:ext uri="{FF2B5EF4-FFF2-40B4-BE49-F238E27FC236}">
                <a16:creationId xmlns:a16="http://schemas.microsoft.com/office/drawing/2014/main" id="{17DF7B68-A40E-4A03-8865-17EB7D618A5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8" name="Título de sección S24">
            <a:extLst>
              <a:ext uri="{FF2B5EF4-FFF2-40B4-BE49-F238E27FC236}">
                <a16:creationId xmlns:a16="http://schemas.microsoft.com/office/drawing/2014/main" id="{F1E10FFF-13CC-429F-B249-F15309F5DD47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39" name="Título del contenido S24">
            <a:extLst>
              <a:ext uri="{FF2B5EF4-FFF2-40B4-BE49-F238E27FC236}">
                <a16:creationId xmlns:a16="http://schemas.microsoft.com/office/drawing/2014/main" id="{062F9DEA-DD14-4465-9417-CD29B94E139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Android en Java</a:t>
            </a:r>
          </a:p>
        </p:txBody>
      </p:sp>
      <p:sp>
        <p:nvSpPr>
          <p:cNvPr id="440" name="Texto del contenido S24">
            <a:extLst>
              <a:ext uri="{FF2B5EF4-FFF2-40B4-BE49-F238E27FC236}">
                <a16:creationId xmlns:a16="http://schemas.microsoft.com/office/drawing/2014/main" id="{D888977A-2A6C-450F-947A-861C8FF7AB1D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usa Android Studio, Gradle y Java. Configura compileSdk 35 y minSdk 26, y procesa SOAP 1.1 sin JAX-WS.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37FA095-53F5-C4F8-4990-AA39FAFE3A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0263" y="2069208"/>
            <a:ext cx="3620349" cy="4604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911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>
            <a:extLst>
              <a:ext uri="{FF2B5EF4-FFF2-40B4-BE49-F238E27FC236}">
                <a16:creationId xmlns:a16="http://schemas.microsoft.com/office/drawing/2014/main" id="{97E13A9E-E94E-4A69-A920-FEDB5A14B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438" name="Google Shape;438;g2d624313899_0_157">
            <a:extLst>
              <a:ext uri="{FF2B5EF4-FFF2-40B4-BE49-F238E27FC236}">
                <a16:creationId xmlns:a16="http://schemas.microsoft.com/office/drawing/2014/main" id="{A711369F-8A55-4163-8D0F-FE102980BC56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9" name="Google Shape;439;g2d624313899_0_157">
            <a:extLst>
              <a:ext uri="{FF2B5EF4-FFF2-40B4-BE49-F238E27FC236}">
                <a16:creationId xmlns:a16="http://schemas.microsoft.com/office/drawing/2014/main" id="{BBD1BFED-EFD3-4DA1-B96E-572E7F3EA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ESTRUCTURA MVC</a:t>
            </a: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endParaRPr sz="1564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>
                <a:latin typeface="Cambria"/>
                <a:ea typeface="Cambria"/>
                <a:cs typeface="Cambria"/>
              </a:rPr>
              <a:t>El modelo mantiene sesión, opciones de catálogo y respuestas. Las vistas usan LoginActivity y ConversionesActivity. Los controladores gestionan acceso, recuperación de clave y conversiones.</a:t>
            </a:r>
          </a:p>
        </p:txBody>
      </p:sp>
      <p:pic>
        <p:nvPicPr>
          <p:cNvPr id="6" name="image39.png">
            <a:extLst>
              <a:ext uri="{FF2B5EF4-FFF2-40B4-BE49-F238E27FC236}">
                <a16:creationId xmlns:a16="http://schemas.microsoft.com/office/drawing/2014/main" id="{8C93D2F4-EDB8-4AE4-8D91-49BA218E53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41537" y="2559253"/>
            <a:ext cx="3225165" cy="3159760"/>
          </a:xfrm>
          <a:prstGeom prst="rect">
            <a:avLst/>
          </a:prstGeom>
        </p:spPr>
      </p:pic>
      <p:sp>
        <p:nvSpPr>
          <p:cNvPr id="440" name="Fondo blanco del contenido S25">
            <a:extLst>
              <a:ext uri="{FF2B5EF4-FFF2-40B4-BE49-F238E27FC236}">
                <a16:creationId xmlns:a16="http://schemas.microsoft.com/office/drawing/2014/main" id="{4D6C8F5D-C850-45DE-84BD-E1D8E46109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1" name="Franja superior azul S25">
            <a:extLst>
              <a:ext uri="{FF2B5EF4-FFF2-40B4-BE49-F238E27FC236}">
                <a16:creationId xmlns:a16="http://schemas.microsoft.com/office/drawing/2014/main" id="{CC5FC4A9-80F4-4A60-8370-B9315BA5C09C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2" name="Acento superior 1 S25">
            <a:extLst>
              <a:ext uri="{FF2B5EF4-FFF2-40B4-BE49-F238E27FC236}">
                <a16:creationId xmlns:a16="http://schemas.microsoft.com/office/drawing/2014/main" id="{61875E91-B130-4570-A7F0-643E87D27A3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3" name="Acento superior 2 S25">
            <a:extLst>
              <a:ext uri="{FF2B5EF4-FFF2-40B4-BE49-F238E27FC236}">
                <a16:creationId xmlns:a16="http://schemas.microsoft.com/office/drawing/2014/main" id="{FAAFC002-C7FD-4302-8788-299E8A360B1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4" name="Acento superior 3 S25">
            <a:extLst>
              <a:ext uri="{FF2B5EF4-FFF2-40B4-BE49-F238E27FC236}">
                <a16:creationId xmlns:a16="http://schemas.microsoft.com/office/drawing/2014/main" id="{F02B3237-D721-445A-A2CE-6911459D9D3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5" name="Título de sección S25">
            <a:extLst>
              <a:ext uri="{FF2B5EF4-FFF2-40B4-BE49-F238E27FC236}">
                <a16:creationId xmlns:a16="http://schemas.microsoft.com/office/drawing/2014/main" id="{9202EAD8-21A1-4D40-9DF6-BB0082D488D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46" name="Título del contenido S25">
            <a:extLst>
              <a:ext uri="{FF2B5EF4-FFF2-40B4-BE49-F238E27FC236}">
                <a16:creationId xmlns:a16="http://schemas.microsoft.com/office/drawing/2014/main" id="{33B885D6-0964-4F60-B871-681AB08C9F0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MVC en Android</a:t>
            </a:r>
          </a:p>
        </p:txBody>
      </p:sp>
      <p:sp>
        <p:nvSpPr>
          <p:cNvPr id="447" name="Texto del contenido S25">
            <a:extLst>
              <a:ext uri="{FF2B5EF4-FFF2-40B4-BE49-F238E27FC236}">
                <a16:creationId xmlns:a16="http://schemas.microsoft.com/office/drawing/2014/main" id="{7DC4677D-4F3C-4637-A507-A0E20EE78668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modelo contiene sesión y respuestas. Las Activities presentan las vistas; los controladores coordinan acceso, catálogo y conversiones.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0A78F5-BDA6-360D-8F2A-1569B21E37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4394" y="3463897"/>
            <a:ext cx="5117721" cy="293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80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>
            <a:extLst>
              <a:ext uri="{FF2B5EF4-FFF2-40B4-BE49-F238E27FC236}">
                <a16:creationId xmlns:a16="http://schemas.microsoft.com/office/drawing/2014/main" id="{69E8BA5B-F8D5-439A-8FCA-0F15B3059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446" name="Google Shape;446;g2d624313899_0_172">
            <a:extLst>
              <a:ext uri="{FF2B5EF4-FFF2-40B4-BE49-F238E27FC236}">
                <a16:creationId xmlns:a16="http://schemas.microsoft.com/office/drawing/2014/main" id="{2E9E6797-8BB8-47D4-B50D-F423DED0EFF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7" name="Google Shape;447;g2d624313899_0_172">
            <a:extLst>
              <a:ext uri="{FF2B5EF4-FFF2-40B4-BE49-F238E27FC236}">
                <a16:creationId xmlns:a16="http://schemas.microsoft.com/office/drawing/2014/main" id="{3C9B328F-5313-4CD7-B89C-BF34A7E954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t>SERVICIO SOAP</a:t>
            </a: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ClienteSoap arma el sobre SOAP 1.1, envía la solicitud con HttpURLConnection y procesa el XML con DOM, de acuerdo con el WSDL del servidor.</a:t>
            </a:r>
          </a:p>
        </p:txBody>
      </p:sp>
      <p:sp>
        <p:nvSpPr>
          <p:cNvPr id="448" name="Google Shape;448;g2d624313899_0_172">
            <a:extLst>
              <a:ext uri="{FF2B5EF4-FFF2-40B4-BE49-F238E27FC236}">
                <a16:creationId xmlns:a16="http://schemas.microsoft.com/office/drawing/2014/main" id="{BC59B9EF-BFD2-4C0A-9B38-F4C9C4587610}"/>
              </a:ext>
            </a:extLst>
          </p:cNvPr>
          <p:cNvSpPr>
            <a:spLocks noGrp="1"/>
          </p:cNvSpPr>
          <p:nvPr>
            <p:ph type="body" idx="9999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t>EJECUCIÓN ASÍNCRONA</a:t>
            </a: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EjecutorAndroid realiza las llamadas de red en segundo plano. Las vistas reciben el resultado mediante las interfaces que implementan los controladores.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26E7E5E-BEE8-44FD-BEC0-ACBA04382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75" y="3711388"/>
            <a:ext cx="3478914" cy="22597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349009D-AD21-4289-8BC9-4A4A34042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331" y="3429000"/>
            <a:ext cx="3802710" cy="2848362"/>
          </a:xfrm>
          <a:prstGeom prst="rect">
            <a:avLst/>
          </a:prstGeom>
        </p:spPr>
      </p:pic>
      <p:sp>
        <p:nvSpPr>
          <p:cNvPr id="449" name="Fondo blanco del contenido S26">
            <a:extLst>
              <a:ext uri="{FF2B5EF4-FFF2-40B4-BE49-F238E27FC236}">
                <a16:creationId xmlns:a16="http://schemas.microsoft.com/office/drawing/2014/main" id="{D971DC92-B8DC-4031-B20C-58FDF04B92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0" name="Franja superior azul S26">
            <a:extLst>
              <a:ext uri="{FF2B5EF4-FFF2-40B4-BE49-F238E27FC236}">
                <a16:creationId xmlns:a16="http://schemas.microsoft.com/office/drawing/2014/main" id="{49C14951-6456-42BC-B3FD-775AA79B139A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1" name="Acento superior 1 S26">
            <a:extLst>
              <a:ext uri="{FF2B5EF4-FFF2-40B4-BE49-F238E27FC236}">
                <a16:creationId xmlns:a16="http://schemas.microsoft.com/office/drawing/2014/main" id="{DD5859FA-BAAD-4CA9-908C-C31A2C22F3B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2" name="Acento superior 2 S26">
            <a:extLst>
              <a:ext uri="{FF2B5EF4-FFF2-40B4-BE49-F238E27FC236}">
                <a16:creationId xmlns:a16="http://schemas.microsoft.com/office/drawing/2014/main" id="{B44B3B89-C150-49FE-82DB-5B9527E5747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3" name="Acento superior 3 S26">
            <a:extLst>
              <a:ext uri="{FF2B5EF4-FFF2-40B4-BE49-F238E27FC236}">
                <a16:creationId xmlns:a16="http://schemas.microsoft.com/office/drawing/2014/main" id="{8CD2E941-4D9A-423C-B53E-E2547F6C958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4" name="Título de sección S26">
            <a:extLst>
              <a:ext uri="{FF2B5EF4-FFF2-40B4-BE49-F238E27FC236}">
                <a16:creationId xmlns:a16="http://schemas.microsoft.com/office/drawing/2014/main" id="{BE158337-47F4-43DE-815A-F1FE4355834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55" name="Título del contenido S26">
            <a:extLst>
              <a:ext uri="{FF2B5EF4-FFF2-40B4-BE49-F238E27FC236}">
                <a16:creationId xmlns:a16="http://schemas.microsoft.com/office/drawing/2014/main" id="{9A76324D-3B57-4E4D-AB20-6DD0AAACD84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SOAP para Android</a:t>
            </a:r>
          </a:p>
        </p:txBody>
      </p:sp>
      <p:sp>
        <p:nvSpPr>
          <p:cNvPr id="456" name="Texto del contenido S26">
            <a:extLst>
              <a:ext uri="{FF2B5EF4-FFF2-40B4-BE49-F238E27FC236}">
                <a16:creationId xmlns:a16="http://schemas.microsoft.com/office/drawing/2014/main" id="{50725EFB-17BE-494F-AD97-D16F71C1459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ClienteSoap construye el sobre SOAP 1.1, envía HTTP y lee XML con DOM. EjecutorAndroid realiza las llamadas fuera del hilo de interfaz.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70514B4-F9EC-2198-83DC-B2F4EA62DC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413" y="2409825"/>
            <a:ext cx="4950546" cy="254028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A28F7C0-35AE-D039-B969-146DC9DE6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339" y="4008785"/>
            <a:ext cx="3627749" cy="2588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681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>
            <a:extLst>
              <a:ext uri="{FF2B5EF4-FFF2-40B4-BE49-F238E27FC236}">
                <a16:creationId xmlns:a16="http://schemas.microsoft.com/office/drawing/2014/main" id="{EF6D16A2-F23F-4AA8-A034-1FD65BD2B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456" name="Google Shape;456;g2d624313899_0_193">
            <a:extLst>
              <a:ext uri="{FF2B5EF4-FFF2-40B4-BE49-F238E27FC236}">
                <a16:creationId xmlns:a16="http://schemas.microsoft.com/office/drawing/2014/main" id="{20FDCADB-3D8C-4387-AB11-ED3102F1724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7" name="Google Shape;457;g2d624313899_0_193">
            <a:extLst>
              <a:ext uri="{FF2B5EF4-FFF2-40B4-BE49-F238E27FC236}">
                <a16:creationId xmlns:a16="http://schemas.microsoft.com/office/drawing/2014/main" id="{33C9DDFC-77B6-4366-879E-EAFF36F22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t>ACCESO Y RECUPERACIÓN</a:t>
            </a: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LoginActivity permite autenticarse y recuperar la clave. El controlador muestra el resultado del servicio y abre la pantalla de conversión tras un acceso correcto.</a:t>
            </a:r>
          </a:p>
        </p:txBody>
      </p:sp>
      <p:sp>
        <p:nvSpPr>
          <p:cNvPr id="458" name="Google Shape;458;g2d624313899_0_193">
            <a:extLst>
              <a:ext uri="{FF2B5EF4-FFF2-40B4-BE49-F238E27FC236}">
                <a16:creationId xmlns:a16="http://schemas.microsoft.com/office/drawing/2014/main" id="{E0597831-357B-40F9-8737-323F67357C6C}"/>
              </a:ext>
            </a:extLst>
          </p:cNvPr>
          <p:cNvSpPr>
            <a:spLocks noGrp="1"/>
          </p:cNvSpPr>
          <p:nvPr>
            <p:ph type="body" idx="9999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t>CONVERSIÓN EN ANDROID</a:t>
            </a:r>
            <a:endParaRPr sz="1564" b="1">
              <a:latin typeface="Cambria"/>
              <a:ea typeface="Cambria"/>
              <a:cs typeface="Cambria"/>
            </a:endParaRPr>
          </a:p>
          <a:p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ConversionesActivity consulta categorías y unidades, recibe el valor y muestra el resultado. El usuario puede intercambiar las unidades de origen y destino.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3E1B76A-2307-4589-8351-A6FC0E6AB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71" y="3523400"/>
            <a:ext cx="3704493" cy="229025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CB8839F-3B66-4C7D-B0CD-9CAD1A00E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6586" y="3395466"/>
            <a:ext cx="3346888" cy="3121255"/>
          </a:xfrm>
          <a:prstGeom prst="rect">
            <a:avLst/>
          </a:prstGeom>
        </p:spPr>
      </p:pic>
      <p:sp>
        <p:nvSpPr>
          <p:cNvPr id="459" name="Fondo blanco del contenido S27">
            <a:extLst>
              <a:ext uri="{FF2B5EF4-FFF2-40B4-BE49-F238E27FC236}">
                <a16:creationId xmlns:a16="http://schemas.microsoft.com/office/drawing/2014/main" id="{23DB77FC-2AAD-4775-B20D-E8D88D129D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0" name="Franja superior azul S27">
            <a:extLst>
              <a:ext uri="{FF2B5EF4-FFF2-40B4-BE49-F238E27FC236}">
                <a16:creationId xmlns:a16="http://schemas.microsoft.com/office/drawing/2014/main" id="{E2166A42-A45C-455E-8FFD-4EC468C6DE8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1" name="Acento superior 1 S27">
            <a:extLst>
              <a:ext uri="{FF2B5EF4-FFF2-40B4-BE49-F238E27FC236}">
                <a16:creationId xmlns:a16="http://schemas.microsoft.com/office/drawing/2014/main" id="{40B81B91-6483-4BD7-815F-75F0F1F708A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2" name="Acento superior 2 S27">
            <a:extLst>
              <a:ext uri="{FF2B5EF4-FFF2-40B4-BE49-F238E27FC236}">
                <a16:creationId xmlns:a16="http://schemas.microsoft.com/office/drawing/2014/main" id="{A1BE27F7-3D75-4519-ADBE-AD853C5E7D94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3" name="Acento superior 3 S27">
            <a:extLst>
              <a:ext uri="{FF2B5EF4-FFF2-40B4-BE49-F238E27FC236}">
                <a16:creationId xmlns:a16="http://schemas.microsoft.com/office/drawing/2014/main" id="{39393A65-58AC-4323-9C64-423C56600CEA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4" name="Título de sección S27">
            <a:extLst>
              <a:ext uri="{FF2B5EF4-FFF2-40B4-BE49-F238E27FC236}">
                <a16:creationId xmlns:a16="http://schemas.microsoft.com/office/drawing/2014/main" id="{AE7C23E2-BCDB-48DE-A7E8-64862E342E2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65" name="Título del contenido S27">
            <a:extLst>
              <a:ext uri="{FF2B5EF4-FFF2-40B4-BE49-F238E27FC236}">
                <a16:creationId xmlns:a16="http://schemas.microsoft.com/office/drawing/2014/main" id="{B9A9886D-99C8-4CEF-B216-8A526E51ED0A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Pantallas Android</a:t>
            </a:r>
          </a:p>
        </p:txBody>
      </p:sp>
      <p:sp>
        <p:nvSpPr>
          <p:cNvPr id="466" name="Texto del contenido S27">
            <a:extLst>
              <a:ext uri="{FF2B5EF4-FFF2-40B4-BE49-F238E27FC236}">
                <a16:creationId xmlns:a16="http://schemas.microsoft.com/office/drawing/2014/main" id="{3AA67702-DF98-438B-ACFC-57DF882775FC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LoginActivity permite acceder y recuperar la clave. ConversionesActivity muestra el catálogo y el resultado de la operación.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CC204AB-5B95-3C2A-4C55-D611663875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671" y="1892781"/>
            <a:ext cx="2187303" cy="482512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6D66632-B1CE-8BFE-47B6-74645381D2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0238" y="2032875"/>
            <a:ext cx="2161162" cy="481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949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>
            <a:extLst>
              <a:ext uri="{FF2B5EF4-FFF2-40B4-BE49-F238E27FC236}">
                <a16:creationId xmlns:a16="http://schemas.microsoft.com/office/drawing/2014/main" id="{76D4E37B-0932-4F6B-AD59-188CAC676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494" name="Google Shape;494;g2d6d00c5bd2_3_16">
            <a:extLst>
              <a:ext uri="{FF2B5EF4-FFF2-40B4-BE49-F238E27FC236}">
                <a16:creationId xmlns:a16="http://schemas.microsoft.com/office/drawing/2014/main" id="{4DB5DEDD-91A5-4E5C-9887-A1A8A0CE634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5" name="Google Shape;495;g2d6d00c5bd2_3_16">
            <a:extLst>
              <a:ext uri="{FF2B5EF4-FFF2-40B4-BE49-F238E27FC236}">
                <a16:creationId xmlns:a16="http://schemas.microsoft.com/office/drawing/2014/main" id="{D82E8753-DE02-449B-A435-A6439553B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fontScale="87771" lnSpcReduction="10000"/>
          </a:bodyPr>
          <a:lstStyle/>
          <a:p>
            <a:pPr marL="457200" lvl="0" indent="-31798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EJECUCIÓN EN EMULADOR O TELÉFONO</a:t>
            </a:r>
          </a:p>
          <a:p>
            <a:pPr marL="914400" lvl="1" indent="-317982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03500"/>
              <a:buFont typeface="Cambria"/>
              <a:buChar char="○"/>
            </a:pPr>
            <a:endParaRPr>
              <a:latin typeface="Cambria"/>
              <a:ea typeface="Cambria"/>
              <a:cs typeface="Cambria"/>
            </a:endParaRPr>
          </a:p>
          <a:p>
            <a:pPr marL="914400" lvl="1" indent="-317982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03500"/>
              <a:buFont typeface="Cambria"/>
              <a:buChar char="○"/>
            </a:pPr>
            <a:r>
              <a:rPr>
                <a:latin typeface="Cambria"/>
                <a:ea typeface="Cambria"/>
                <a:cs typeface="Cambria"/>
              </a:rPr>
              <a:t>En el emulador, la URL usa 10.0.2.2 para acceder al servidor Payara del computador. En un teléfono físico se configura la IP del computador dentro de la misma red. El token permanece en memoria.</a:t>
            </a:r>
          </a:p>
        </p:txBody>
      </p:sp>
      <p:pic>
        <p:nvPicPr>
          <p:cNvPr id="7" name="image51.png">
            <a:extLst>
              <a:ext uri="{FF2B5EF4-FFF2-40B4-BE49-F238E27FC236}">
                <a16:creationId xmlns:a16="http://schemas.microsoft.com/office/drawing/2014/main" id="{F2D15193-4668-4DB4-A832-0A785EA0C3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107289" y="3132225"/>
            <a:ext cx="1720640" cy="3469750"/>
          </a:xfrm>
          <a:prstGeom prst="rect">
            <a:avLst/>
          </a:prstGeom>
        </p:spPr>
      </p:pic>
      <p:pic>
        <p:nvPicPr>
          <p:cNvPr id="8" name="image32.png">
            <a:extLst>
              <a:ext uri="{FF2B5EF4-FFF2-40B4-BE49-F238E27FC236}">
                <a16:creationId xmlns:a16="http://schemas.microsoft.com/office/drawing/2014/main" id="{89751387-2F68-4E89-91B3-6056E0B545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375360" y="3132224"/>
            <a:ext cx="1577205" cy="3469750"/>
          </a:xfrm>
          <a:prstGeom prst="rect">
            <a:avLst/>
          </a:prstGeom>
        </p:spPr>
      </p:pic>
      <p:sp>
        <p:nvSpPr>
          <p:cNvPr id="496" name="Fondo blanco del contenido S28">
            <a:extLst>
              <a:ext uri="{FF2B5EF4-FFF2-40B4-BE49-F238E27FC236}">
                <a16:creationId xmlns:a16="http://schemas.microsoft.com/office/drawing/2014/main" id="{0F8F7A9A-1844-4C9F-B713-F2B985E163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7" name="Franja superior azul S28">
            <a:extLst>
              <a:ext uri="{FF2B5EF4-FFF2-40B4-BE49-F238E27FC236}">
                <a16:creationId xmlns:a16="http://schemas.microsoft.com/office/drawing/2014/main" id="{FB4CF74C-F1D6-431F-A9FF-E666C8BC9423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8" name="Acento superior 1 S28">
            <a:extLst>
              <a:ext uri="{FF2B5EF4-FFF2-40B4-BE49-F238E27FC236}">
                <a16:creationId xmlns:a16="http://schemas.microsoft.com/office/drawing/2014/main" id="{4F034B58-AD51-445B-80BA-3F077058760F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9" name="Acento superior 2 S28">
            <a:extLst>
              <a:ext uri="{FF2B5EF4-FFF2-40B4-BE49-F238E27FC236}">
                <a16:creationId xmlns:a16="http://schemas.microsoft.com/office/drawing/2014/main" id="{018701D4-EC3C-4D19-96B8-15621E90109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0" name="Acento superior 3 S28">
            <a:extLst>
              <a:ext uri="{FF2B5EF4-FFF2-40B4-BE49-F238E27FC236}">
                <a16:creationId xmlns:a16="http://schemas.microsoft.com/office/drawing/2014/main" id="{ED3511A2-3B59-4F5E-9C04-72D25F2CC752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1" name="Título de sección S28">
            <a:extLst>
              <a:ext uri="{FF2B5EF4-FFF2-40B4-BE49-F238E27FC236}">
                <a16:creationId xmlns:a16="http://schemas.microsoft.com/office/drawing/2014/main" id="{D87B2D20-5A02-4B88-96F7-53558BBA22B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502" name="Título del contenido S28">
            <a:extLst>
              <a:ext uri="{FF2B5EF4-FFF2-40B4-BE49-F238E27FC236}">
                <a16:creationId xmlns:a16="http://schemas.microsoft.com/office/drawing/2014/main" id="{D2BEE5D1-4017-4B39-BFD7-64096248020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emulador o teléfono</a:t>
            </a:r>
          </a:p>
        </p:txBody>
      </p:sp>
      <p:sp>
        <p:nvSpPr>
          <p:cNvPr id="503" name="Texto del contenido S28">
            <a:extLst>
              <a:ext uri="{FF2B5EF4-FFF2-40B4-BE49-F238E27FC236}">
                <a16:creationId xmlns:a16="http://schemas.microsoft.com/office/drawing/2014/main" id="{A8D77F2B-F7D9-495C-B797-C2356D4C639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emulador accede al servidor del computador mediante 10.0.2.2. Un teléfono usa la IP local del computador en la misma red.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CDB8C0-C360-A243-D0D2-69153ED6BE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199" y="1826062"/>
            <a:ext cx="2187303" cy="482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50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>
            <a:extLst>
              <a:ext uri="{FF2B5EF4-FFF2-40B4-BE49-F238E27FC236}">
                <a16:creationId xmlns:a16="http://schemas.microsoft.com/office/drawing/2014/main" id="{283F3EE5-FC96-4487-B185-340D6D319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</a:p>
        </p:txBody>
      </p:sp>
      <p:sp>
        <p:nvSpPr>
          <p:cNvPr id="503" name="Google Shape;503;p41">
            <a:extLst>
              <a:ext uri="{FF2B5EF4-FFF2-40B4-BE49-F238E27FC236}">
                <a16:creationId xmlns:a16="http://schemas.microsoft.com/office/drawing/2014/main" id="{681336E7-660A-4C0A-86FC-7A20E490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mismo contrato SOAP sirve a cuatro clientes Java: consola, escritorio, web y Android. El servicio centraliza las reglas de autenticación, catálogo y conversión, por lo que los cálculos se ejecutan en el servidor y no se duplican en cada interfaz.</a:t>
            </a:r>
            <a:endParaRPr sz="1900"/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900"/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proyecto funciona sin base de datos: las credenciales, las sesiones y el catálogo viven en memoria. Las sesiones vencen a los 15 minutos y un reinicio del servidor invalida los tokens.</a:t>
            </a:r>
            <a:endParaRPr sz="1900"/>
          </a:p>
        </p:txBody>
      </p:sp>
      <p:sp>
        <p:nvSpPr>
          <p:cNvPr id="504" name="Google Shape;504;p41">
            <a:extLst>
              <a:ext uri="{FF2B5EF4-FFF2-40B4-BE49-F238E27FC236}">
                <a16:creationId xmlns:a16="http://schemas.microsoft.com/office/drawing/2014/main" id="{777D9E80-39BB-4C10-8B65-DBA15BBB2A9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46925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>
            <a:extLst>
              <a:ext uri="{FF2B5EF4-FFF2-40B4-BE49-F238E27FC236}">
                <a16:creationId xmlns:a16="http://schemas.microsoft.com/office/drawing/2014/main" id="{04C8B163-DCCF-4FDD-9F6C-649F6077C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</a:p>
        </p:txBody>
      </p:sp>
      <p:sp>
        <p:nvSpPr>
          <p:cNvPr id="510" name="Google Shape;510;p42">
            <a:extLst>
              <a:ext uri="{FF2B5EF4-FFF2-40B4-BE49-F238E27FC236}">
                <a16:creationId xmlns:a16="http://schemas.microsoft.com/office/drawing/2014/main" id="{6CA3BCC0-3724-43D6-A0BB-5BAB9A53E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Configurar el endpoint y las credenciales mediante propiedades del servidor para cada entorno.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Usar HTTPS cuando el servicio salga de la red de laboratorio, porque el endpoint actual puede operar sobre HTTP.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Mantener coordinados el WSDL local y el servicio desplegado cuando cambie el contrato.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Ampliar las pruebas de integración para verificar los cuatro clientes contra el mismo servidor antes de cada entrega.</a:t>
            </a:r>
          </a:p>
        </p:txBody>
      </p:sp>
      <p:sp>
        <p:nvSpPr>
          <p:cNvPr id="511" name="Google Shape;511;p42">
            <a:extLst>
              <a:ext uri="{FF2B5EF4-FFF2-40B4-BE49-F238E27FC236}">
                <a16:creationId xmlns:a16="http://schemas.microsoft.com/office/drawing/2014/main" id="{27026B6E-6479-4996-9769-C4319FDF0B01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637806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3471</Words>
  <Application>Microsoft Office PowerPoint</Application>
  <DocSecurity>0</DocSecurity>
  <PresentationFormat>Panorámica</PresentationFormat>
  <Paragraphs>532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Cambria</vt:lpstr>
      <vt:lpstr>Calibri</vt:lpstr>
      <vt:lpstr>Noto Sans Symbols</vt:lpstr>
      <vt:lpstr>Arial</vt:lpstr>
      <vt:lpstr>Dividendo</vt:lpstr>
      <vt:lpstr>MANUAL TÉCNICO CONVERSOR DE UNIDADES SOAP JAVA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Sebastián Parra</cp:lastModifiedBy>
  <cp:revision>1</cp:revision>
  <dcterms:created xsi:type="dcterms:W3CDTF">2026-10-23T21:16:53Z</dcterms:created>
  <dcterms:modified xsi:type="dcterms:W3CDTF">2026-10-25T21:35:34Z</dcterms:modified>
</cp:coreProperties>
</file>