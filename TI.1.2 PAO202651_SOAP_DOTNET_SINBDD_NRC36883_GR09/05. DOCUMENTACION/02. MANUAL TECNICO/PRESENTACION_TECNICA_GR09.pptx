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Gill Sans" panose="020B0604020202020204" charset="0"/>
      <p:regular r:id="rId37"/>
      <p:bold r:id="rId38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7B8EC-ABD1-335C-6E97-FE649270D099}" v="13" dt="2026-10-26T14:40:57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>
            <a:extLst>
              <a:ext uri="{FF2B5EF4-FFF2-40B4-BE49-F238E27FC236}">
                <a16:creationId xmlns:a16="http://schemas.microsoft.com/office/drawing/2014/main" id="{81F7DFCF-B0B0-43C9-A25F-44FF7933E329}"/>
              </a:ext>
            </a:extLst>
          </p:cNvPr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5">
            <a:extLst>
              <a:ext uri="{FF2B5EF4-FFF2-40B4-BE49-F238E27FC236}">
                <a16:creationId xmlns:a16="http://schemas.microsoft.com/office/drawing/2014/main" id="{AECFF515-8A5A-4EE8-A018-C63EEADF9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>
            <a:extLst>
              <a:ext uri="{FF2B5EF4-FFF2-40B4-BE49-F238E27FC236}">
                <a16:creationId xmlns:a16="http://schemas.microsoft.com/office/drawing/2014/main" id="{7F0FAADA-8C5F-466B-9914-A15E066F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>
            <a:extLst>
              <a:ext uri="{FF2B5EF4-FFF2-40B4-BE49-F238E27FC236}">
                <a16:creationId xmlns:a16="http://schemas.microsoft.com/office/drawing/2014/main" id="{907C1668-2893-43C4-9F67-CF18FBDDFA7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>
            <a:extLst>
              <a:ext uri="{FF2B5EF4-FFF2-40B4-BE49-F238E27FC236}">
                <a16:creationId xmlns:a16="http://schemas.microsoft.com/office/drawing/2014/main" id="{E7C77B1B-9B39-4371-9052-4EE8EA8C714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>
            <a:extLst>
              <a:ext uri="{FF2B5EF4-FFF2-40B4-BE49-F238E27FC236}">
                <a16:creationId xmlns:a16="http://schemas.microsoft.com/office/drawing/2014/main" id="{2FCD1942-86CE-4912-B1F4-C8512F89AD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>
            <a:extLst>
              <a:ext uri="{FF2B5EF4-FFF2-40B4-BE49-F238E27FC236}">
                <a16:creationId xmlns:a16="http://schemas.microsoft.com/office/drawing/2014/main" id="{DA2EAED6-10C7-421F-957B-EA4BCD951F94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46">
            <a:extLst>
              <a:ext uri="{FF2B5EF4-FFF2-40B4-BE49-F238E27FC236}">
                <a16:creationId xmlns:a16="http://schemas.microsoft.com/office/drawing/2014/main" id="{820F1418-23B4-4753-B2ED-EDF7764F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>
            <a:extLst>
              <a:ext uri="{FF2B5EF4-FFF2-40B4-BE49-F238E27FC236}">
                <a16:creationId xmlns:a16="http://schemas.microsoft.com/office/drawing/2014/main" id="{726DEA27-0080-4940-A41F-93FA0834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>
            <a:extLst>
              <a:ext uri="{FF2B5EF4-FFF2-40B4-BE49-F238E27FC236}">
                <a16:creationId xmlns:a16="http://schemas.microsoft.com/office/drawing/2014/main" id="{102D231E-32CF-42DF-82BC-2E9809FD3BF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>
            <a:extLst>
              <a:ext uri="{FF2B5EF4-FFF2-40B4-BE49-F238E27FC236}">
                <a16:creationId xmlns:a16="http://schemas.microsoft.com/office/drawing/2014/main" id="{19FCC995-593F-44F5-BE3C-D2EA1607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>
            <a:extLst>
              <a:ext uri="{FF2B5EF4-FFF2-40B4-BE49-F238E27FC236}">
                <a16:creationId xmlns:a16="http://schemas.microsoft.com/office/drawing/2014/main" id="{1774677B-22F4-47A0-B40A-98F33D2764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>
            <a:extLst>
              <a:ext uri="{FF2B5EF4-FFF2-40B4-BE49-F238E27FC236}">
                <a16:creationId xmlns:a16="http://schemas.microsoft.com/office/drawing/2014/main" id="{A28D9EF3-4C91-4723-9203-6830AB35665D}"/>
              </a:ext>
            </a:extLst>
          </p:cNvPr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47">
            <a:extLst>
              <a:ext uri="{FF2B5EF4-FFF2-40B4-BE49-F238E27FC236}">
                <a16:creationId xmlns:a16="http://schemas.microsoft.com/office/drawing/2014/main" id="{481B5944-5F49-4025-B4C0-7015B51F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>
            <a:extLst>
              <a:ext uri="{FF2B5EF4-FFF2-40B4-BE49-F238E27FC236}">
                <a16:creationId xmlns:a16="http://schemas.microsoft.com/office/drawing/2014/main" id="{C8F05D42-1F7B-431F-8F65-F5BAE32E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>
            <a:extLst>
              <a:ext uri="{FF2B5EF4-FFF2-40B4-BE49-F238E27FC236}">
                <a16:creationId xmlns:a16="http://schemas.microsoft.com/office/drawing/2014/main" id="{CFFF0A8E-CD25-4A14-8748-E52FAECA42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>
            <a:extLst>
              <a:ext uri="{FF2B5EF4-FFF2-40B4-BE49-F238E27FC236}">
                <a16:creationId xmlns:a16="http://schemas.microsoft.com/office/drawing/2014/main" id="{087C1B5E-5074-4CCA-BBCC-E9C9E8D163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>
            <a:extLst>
              <a:ext uri="{FF2B5EF4-FFF2-40B4-BE49-F238E27FC236}">
                <a16:creationId xmlns:a16="http://schemas.microsoft.com/office/drawing/2014/main" id="{9D6B3F20-2351-4972-A58C-66FC442ACF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>
            <a:extLst>
              <a:ext uri="{FF2B5EF4-FFF2-40B4-BE49-F238E27FC236}">
                <a16:creationId xmlns:a16="http://schemas.microsoft.com/office/drawing/2014/main" id="{E82128D7-3D14-4383-A20C-51E6333DF3A8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8">
            <a:extLst>
              <a:ext uri="{FF2B5EF4-FFF2-40B4-BE49-F238E27FC236}">
                <a16:creationId xmlns:a16="http://schemas.microsoft.com/office/drawing/2014/main" id="{A5D71FAD-5DDE-447D-9E8C-DF391383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>
            <a:extLst>
              <a:ext uri="{FF2B5EF4-FFF2-40B4-BE49-F238E27FC236}">
                <a16:creationId xmlns:a16="http://schemas.microsoft.com/office/drawing/2014/main" id="{534CED20-E911-486D-A46D-8250D6954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>
            <a:extLst>
              <a:ext uri="{FF2B5EF4-FFF2-40B4-BE49-F238E27FC236}">
                <a16:creationId xmlns:a16="http://schemas.microsoft.com/office/drawing/2014/main" id="{152BBE31-7BF2-4878-BC66-EABB333ED6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>
            <a:extLst>
              <a:ext uri="{FF2B5EF4-FFF2-40B4-BE49-F238E27FC236}">
                <a16:creationId xmlns:a16="http://schemas.microsoft.com/office/drawing/2014/main" id="{E144B5FC-8BA8-42DB-991B-B97D051E981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>
            <a:extLst>
              <a:ext uri="{FF2B5EF4-FFF2-40B4-BE49-F238E27FC236}">
                <a16:creationId xmlns:a16="http://schemas.microsoft.com/office/drawing/2014/main" id="{8814986B-B3D5-4023-92DA-5E66FFEEC13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>
            <a:extLst>
              <a:ext uri="{FF2B5EF4-FFF2-40B4-BE49-F238E27FC236}">
                <a16:creationId xmlns:a16="http://schemas.microsoft.com/office/drawing/2014/main" id="{434FFCB9-36F8-4DD2-9F86-F149062B16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>
            <a:extLst>
              <a:ext uri="{FF2B5EF4-FFF2-40B4-BE49-F238E27FC236}">
                <a16:creationId xmlns:a16="http://schemas.microsoft.com/office/drawing/2014/main" id="{A47DCEB2-AFF5-4C93-8459-BA856408545E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9">
            <a:extLst>
              <a:ext uri="{FF2B5EF4-FFF2-40B4-BE49-F238E27FC236}">
                <a16:creationId xmlns:a16="http://schemas.microsoft.com/office/drawing/2014/main" id="{96C0BAFD-703C-4798-B264-B1463D8C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>
            <a:extLst>
              <a:ext uri="{FF2B5EF4-FFF2-40B4-BE49-F238E27FC236}">
                <a16:creationId xmlns:a16="http://schemas.microsoft.com/office/drawing/2014/main" id="{58CF630C-968B-4DD4-B0C5-8F61CE4B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>
            <a:extLst>
              <a:ext uri="{FF2B5EF4-FFF2-40B4-BE49-F238E27FC236}">
                <a16:creationId xmlns:a16="http://schemas.microsoft.com/office/drawing/2014/main" id="{BA978D04-EBEA-4AB5-B8FA-9CAA19B8AE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>
            <a:extLst>
              <a:ext uri="{FF2B5EF4-FFF2-40B4-BE49-F238E27FC236}">
                <a16:creationId xmlns:a16="http://schemas.microsoft.com/office/drawing/2014/main" id="{FB26FA00-50E6-4256-99B3-8A427F6E8F5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>
            <a:extLst>
              <a:ext uri="{FF2B5EF4-FFF2-40B4-BE49-F238E27FC236}">
                <a16:creationId xmlns:a16="http://schemas.microsoft.com/office/drawing/2014/main" id="{D5D229BD-B398-450E-BD8E-0893B06BD21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>
            <a:extLst>
              <a:ext uri="{FF2B5EF4-FFF2-40B4-BE49-F238E27FC236}">
                <a16:creationId xmlns:a16="http://schemas.microsoft.com/office/drawing/2014/main" id="{E7B022CB-B59B-4D66-B534-784561399AF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>
            <a:extLst>
              <a:ext uri="{FF2B5EF4-FFF2-40B4-BE49-F238E27FC236}">
                <a16:creationId xmlns:a16="http://schemas.microsoft.com/office/drawing/2014/main" id="{E9F00149-9248-4461-821A-5B56F9A675B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>
            <a:extLst>
              <a:ext uri="{FF2B5EF4-FFF2-40B4-BE49-F238E27FC236}">
                <a16:creationId xmlns:a16="http://schemas.microsoft.com/office/drawing/2014/main" id="{8FC45D92-E1AD-4496-B594-FDA4CB09C5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>
            <a:extLst>
              <a:ext uri="{FF2B5EF4-FFF2-40B4-BE49-F238E27FC236}">
                <a16:creationId xmlns:a16="http://schemas.microsoft.com/office/drawing/2014/main" id="{CBF91A3E-77E7-481B-A6FA-910CE3EAC90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>
            <a:extLst>
              <a:ext uri="{FF2B5EF4-FFF2-40B4-BE49-F238E27FC236}">
                <a16:creationId xmlns:a16="http://schemas.microsoft.com/office/drawing/2014/main" id="{AEA012E0-295D-40C2-A6F1-7F0EC10E7E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>
            <a:extLst>
              <a:ext uri="{FF2B5EF4-FFF2-40B4-BE49-F238E27FC236}">
                <a16:creationId xmlns:a16="http://schemas.microsoft.com/office/drawing/2014/main" id="{18E12064-317B-4349-BC4E-5A49E5395C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7" name="Google Shape;57;p50">
            <a:extLst>
              <a:ext uri="{FF2B5EF4-FFF2-40B4-BE49-F238E27FC236}">
                <a16:creationId xmlns:a16="http://schemas.microsoft.com/office/drawing/2014/main" id="{1D0858B1-957F-4F3B-A568-2BDCCB1E67C8}"/>
              </a:ext>
            </a:extLst>
          </p:cNvPr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0">
            <a:extLst>
              <a:ext uri="{FF2B5EF4-FFF2-40B4-BE49-F238E27FC236}">
                <a16:creationId xmlns:a16="http://schemas.microsoft.com/office/drawing/2014/main" id="{737991D4-8CBE-493F-ABA6-6CA2F523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>
            <a:extLst>
              <a:ext uri="{FF2B5EF4-FFF2-40B4-BE49-F238E27FC236}">
                <a16:creationId xmlns:a16="http://schemas.microsoft.com/office/drawing/2014/main" id="{4CB699C7-DD8D-4B02-B119-B3A046381B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>
            <a:extLst>
              <a:ext uri="{FF2B5EF4-FFF2-40B4-BE49-F238E27FC236}">
                <a16:creationId xmlns:a16="http://schemas.microsoft.com/office/drawing/2014/main" id="{0012E0E8-22D2-4828-96D4-07289747E03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>
            <a:extLst>
              <a:ext uri="{FF2B5EF4-FFF2-40B4-BE49-F238E27FC236}">
                <a16:creationId xmlns:a16="http://schemas.microsoft.com/office/drawing/2014/main" id="{BE212704-F63D-4467-B4D1-E1A05DF28A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>
            <a:extLst>
              <a:ext uri="{FF2B5EF4-FFF2-40B4-BE49-F238E27FC236}">
                <a16:creationId xmlns:a16="http://schemas.microsoft.com/office/drawing/2014/main" id="{4A1B2026-EB38-44EF-A0AF-764273F97F5C}"/>
              </a:ext>
            </a:extLst>
          </p:cNvPr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2">
            <a:extLst>
              <a:ext uri="{FF2B5EF4-FFF2-40B4-BE49-F238E27FC236}">
                <a16:creationId xmlns:a16="http://schemas.microsoft.com/office/drawing/2014/main" id="{DE9E385E-1F19-492B-847A-E036CBF9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>
            <a:extLst>
              <a:ext uri="{FF2B5EF4-FFF2-40B4-BE49-F238E27FC236}">
                <a16:creationId xmlns:a16="http://schemas.microsoft.com/office/drawing/2014/main" id="{1139554F-F0F8-4A5B-B738-EE4DA1C1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>
            <a:extLst>
              <a:ext uri="{FF2B5EF4-FFF2-40B4-BE49-F238E27FC236}">
                <a16:creationId xmlns:a16="http://schemas.microsoft.com/office/drawing/2014/main" id="{DCA3C867-D9A9-44CC-B2AF-39136477F9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>
            <a:extLst>
              <a:ext uri="{FF2B5EF4-FFF2-40B4-BE49-F238E27FC236}">
                <a16:creationId xmlns:a16="http://schemas.microsoft.com/office/drawing/2014/main" id="{B4E33A82-B0DC-4FF4-BFBF-BF541E648C0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>
            <a:extLst>
              <a:ext uri="{FF2B5EF4-FFF2-40B4-BE49-F238E27FC236}">
                <a16:creationId xmlns:a16="http://schemas.microsoft.com/office/drawing/2014/main" id="{71C7612B-45BE-43C6-9BFF-BECCDB1C04A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>
            <a:extLst>
              <a:ext uri="{FF2B5EF4-FFF2-40B4-BE49-F238E27FC236}">
                <a16:creationId xmlns:a16="http://schemas.microsoft.com/office/drawing/2014/main" id="{6D9F8C13-E65B-48CC-9AE4-0E674D01C6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>
            <a:extLst>
              <a:ext uri="{FF2B5EF4-FFF2-40B4-BE49-F238E27FC236}">
                <a16:creationId xmlns:a16="http://schemas.microsoft.com/office/drawing/2014/main" id="{FE40F1DB-BF19-412F-99B5-E52B408B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>
            <a:extLst>
              <a:ext uri="{FF2B5EF4-FFF2-40B4-BE49-F238E27FC236}">
                <a16:creationId xmlns:a16="http://schemas.microsoft.com/office/drawing/2014/main" id="{061DACDE-73F5-41D1-A5D0-4175AC1FAEA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>
            <a:extLst>
              <a:ext uri="{FF2B5EF4-FFF2-40B4-BE49-F238E27FC236}">
                <a16:creationId xmlns:a16="http://schemas.microsoft.com/office/drawing/2014/main" id="{DCE36001-0315-4E88-BBB8-F2243A35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>
            <a:extLst>
              <a:ext uri="{FF2B5EF4-FFF2-40B4-BE49-F238E27FC236}">
                <a16:creationId xmlns:a16="http://schemas.microsoft.com/office/drawing/2014/main" id="{EFB92BCB-7165-46A6-8AE3-5E0B97FDCC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>
            <a:extLst>
              <a:ext uri="{FF2B5EF4-FFF2-40B4-BE49-F238E27FC236}">
                <a16:creationId xmlns:a16="http://schemas.microsoft.com/office/drawing/2014/main" id="{8F0D7E44-3EF0-4FA7-8BDB-5B23F508AE1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>
            <a:extLst>
              <a:ext uri="{FF2B5EF4-FFF2-40B4-BE49-F238E27FC236}">
                <a16:creationId xmlns:a16="http://schemas.microsoft.com/office/drawing/2014/main" id="{42859624-3DA2-4025-8BEE-1EEACB439C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>
            <a:extLst>
              <a:ext uri="{FF2B5EF4-FFF2-40B4-BE49-F238E27FC236}">
                <a16:creationId xmlns:a16="http://schemas.microsoft.com/office/drawing/2014/main" id="{03468C5A-88D6-4A4C-BBDC-77B858D7E78C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54">
            <a:extLst>
              <a:ext uri="{FF2B5EF4-FFF2-40B4-BE49-F238E27FC236}">
                <a16:creationId xmlns:a16="http://schemas.microsoft.com/office/drawing/2014/main" id="{C38EF062-CE41-4E56-AA64-0AE8CA85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>
            <a:extLst>
              <a:ext uri="{FF2B5EF4-FFF2-40B4-BE49-F238E27FC236}">
                <a16:creationId xmlns:a16="http://schemas.microsoft.com/office/drawing/2014/main" id="{D1C2769B-2F77-494B-B5CE-DF37CC66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>
            <a:extLst>
              <a:ext uri="{FF2B5EF4-FFF2-40B4-BE49-F238E27FC236}">
                <a16:creationId xmlns:a16="http://schemas.microsoft.com/office/drawing/2014/main" id="{C0202F61-654C-400D-B437-6BAECD25B84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>
            <a:extLst>
              <a:ext uri="{FF2B5EF4-FFF2-40B4-BE49-F238E27FC236}">
                <a16:creationId xmlns:a16="http://schemas.microsoft.com/office/drawing/2014/main" id="{9B1AF221-CF0C-43F5-8ECC-A47C4BE252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>
            <a:extLst>
              <a:ext uri="{FF2B5EF4-FFF2-40B4-BE49-F238E27FC236}">
                <a16:creationId xmlns:a16="http://schemas.microsoft.com/office/drawing/2014/main" id="{A3B6E066-2920-400B-ABBD-194544AA75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>
            <a:extLst>
              <a:ext uri="{FF2B5EF4-FFF2-40B4-BE49-F238E27FC236}">
                <a16:creationId xmlns:a16="http://schemas.microsoft.com/office/drawing/2014/main" id="{E69CB720-1EA3-41DB-B965-7890B9D942EE}"/>
              </a:ext>
            </a:extLst>
          </p:cNvPr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55">
            <a:extLst>
              <a:ext uri="{FF2B5EF4-FFF2-40B4-BE49-F238E27FC236}">
                <a16:creationId xmlns:a16="http://schemas.microsoft.com/office/drawing/2014/main" id="{03771F2A-C701-4CBC-BECB-8E1FFEC4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>
            <a:extLst>
              <a:ext uri="{FF2B5EF4-FFF2-40B4-BE49-F238E27FC236}">
                <a16:creationId xmlns:a16="http://schemas.microsoft.com/office/drawing/2014/main" id="{61209296-AE15-4408-9417-D3E5158E8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>
            <a:extLst>
              <a:ext uri="{FF2B5EF4-FFF2-40B4-BE49-F238E27FC236}">
                <a16:creationId xmlns:a16="http://schemas.microsoft.com/office/drawing/2014/main" id="{ADEEDEAB-444A-40E8-91D7-939B1C2A5BE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>
            <a:extLst>
              <a:ext uri="{FF2B5EF4-FFF2-40B4-BE49-F238E27FC236}">
                <a16:creationId xmlns:a16="http://schemas.microsoft.com/office/drawing/2014/main" id="{7502D426-5355-4074-9DC4-A52F04B3B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>
            <a:extLst>
              <a:ext uri="{FF2B5EF4-FFF2-40B4-BE49-F238E27FC236}">
                <a16:creationId xmlns:a16="http://schemas.microsoft.com/office/drawing/2014/main" id="{0DD6D9CD-B23E-42A1-809A-2A59800F78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>
            <a:extLst>
              <a:ext uri="{FF2B5EF4-FFF2-40B4-BE49-F238E27FC236}">
                <a16:creationId xmlns:a16="http://schemas.microsoft.com/office/drawing/2014/main" id="{28BC7AC6-7EB3-464A-8784-CB739CBB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44">
            <a:extLst>
              <a:ext uri="{FF2B5EF4-FFF2-40B4-BE49-F238E27FC236}">
                <a16:creationId xmlns:a16="http://schemas.microsoft.com/office/drawing/2014/main" id="{1AE3E04F-CC4F-4463-955A-09E6F378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1pPr>
            <a:lvl2pPr marL="914400" marR="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2pPr>
            <a:lvl3pPr marL="1371600" marR="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3pPr>
            <a:lvl4pPr marL="18288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4pPr>
            <a:lvl5pPr marL="22860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5pPr>
            <a:lvl6pPr marL="27432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6pPr>
            <a:lvl7pPr marL="32004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7pPr>
            <a:lvl8pPr marL="36576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8pPr>
            <a:lvl9pPr marL="4114800" marR="0" indent="-298703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8" name="Google Shape;8;p44">
            <a:extLst>
              <a:ext uri="{FF2B5EF4-FFF2-40B4-BE49-F238E27FC236}">
                <a16:creationId xmlns:a16="http://schemas.microsoft.com/office/drawing/2014/main" id="{AB2F1B22-6333-4C66-AA79-3225A6B627D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9" name="Google Shape;9;p44">
            <a:extLst>
              <a:ext uri="{FF2B5EF4-FFF2-40B4-BE49-F238E27FC236}">
                <a16:creationId xmlns:a16="http://schemas.microsoft.com/office/drawing/2014/main" id="{B72B0364-F582-4558-98B6-6DCD1ADE14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10" name="Google Shape;10;p44">
            <a:extLst>
              <a:ext uri="{FF2B5EF4-FFF2-40B4-BE49-F238E27FC236}">
                <a16:creationId xmlns:a16="http://schemas.microsoft.com/office/drawing/2014/main" id="{834E625B-5E90-460C-B2A9-8D5293E0F8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" name="Google Shape;11;p44">
            <a:extLst>
              <a:ext uri="{FF2B5EF4-FFF2-40B4-BE49-F238E27FC236}">
                <a16:creationId xmlns:a16="http://schemas.microsoft.com/office/drawing/2014/main" id="{55D2A79D-BCB1-401A-B50E-4CEE4F0A3831}"/>
              </a:ext>
            </a:extLst>
          </p:cNvPr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4">
            <a:extLst>
              <a:ext uri="{FF2B5EF4-FFF2-40B4-BE49-F238E27FC236}">
                <a16:creationId xmlns:a16="http://schemas.microsoft.com/office/drawing/2014/main" id="{DC4D634B-B635-4B26-B8ED-28068DF4CA13}"/>
              </a:ext>
            </a:extLst>
          </p:cNvPr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44">
            <a:extLst>
              <a:ext uri="{FF2B5EF4-FFF2-40B4-BE49-F238E27FC236}">
                <a16:creationId xmlns:a16="http://schemas.microsoft.com/office/drawing/2014/main" id="{4A18FF3E-8485-45E6-A6DF-E8B36086755F}"/>
              </a:ext>
            </a:extLst>
          </p:cNvPr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A3D3BC27-38C9-4577-B9CA-B341FC715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SOAP .NET</a:t>
            </a:r>
            <a:endParaRPr/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B45318DE-2B33-4B0F-9B21-BCBF45B8D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>
            <a:extLst>
              <a:ext uri="{FF2B5EF4-FFF2-40B4-BE49-F238E27FC236}">
                <a16:creationId xmlns:a16="http://schemas.microsoft.com/office/drawing/2014/main" id="{CF0005BE-44E9-4814-B7A8-B47DC0217A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>
            <a:extLst>
              <a:ext uri="{FF2B5EF4-FFF2-40B4-BE49-F238E27FC236}">
                <a16:creationId xmlns:a16="http://schemas.microsoft.com/office/drawing/2014/main" id="{9CD1E8BB-8354-4AD6-B770-62910AE302B9}"/>
              </a:ext>
            </a:extLst>
          </p:cNvPr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ING: Eduardo Mauricio Campaña Ortega</a:t>
            </a:r>
          </a:p>
        </p:txBody>
      </p:sp>
      <p:sp>
        <p:nvSpPr>
          <p:cNvPr id="100" name="Google Shape;100;p1">
            <a:extLst>
              <a:ext uri="{FF2B5EF4-FFF2-40B4-BE49-F238E27FC236}">
                <a16:creationId xmlns:a16="http://schemas.microsoft.com/office/drawing/2014/main" id="{111340CB-9A53-468E-BAB9-D0074805D87E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41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BFEC824B-B37F-4C9F-9487-AFC41E7CB619}"/>
              </a:ext>
            </a:extLst>
          </p:cNvPr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08AD997-5CC0-4B49-9372-403A26D0F3B7}"/>
              </a:ext>
            </a:extLst>
          </p:cNvPr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7219CC9D-242A-4E8E-93F5-D852BED9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SOAP EN .NET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0309BD7F-22B3-49D1-8D8B-024097B8FCB9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arcador imagen S4">
            <a:extLst>
              <a:ext uri="{FF2B5EF4-FFF2-40B4-BE49-F238E27FC236}">
                <a16:creationId xmlns:a16="http://schemas.microsoft.com/office/drawing/2014/main" id="{9F244490-85CE-7173-9371-F53C43CA2979}"/>
              </a:ext>
            </a:extLst>
          </p:cNvPr>
          <p:cNvSpPr>
            <a:spLocks noGrp="1"/>
          </p:cNvSpPr>
          <p:nvPr/>
        </p:nvSpPr>
        <p:spPr>
          <a:xfrm>
            <a:off x="4714874" y="1071716"/>
            <a:ext cx="6700377" cy="4738534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arquitectura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B3D5838-E9A9-41FE-0830-22D23EBD6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439" y="1061154"/>
            <a:ext cx="7833655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3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81065105-8CCE-4BB9-977C-8268478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E56724D6-6BD7-435B-B435-2DE44AAB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1.1  OBJETIVO</a:t>
            </a:r>
            <a:endParaRPr/>
          </a:p>
          <a:p>
            <a:pPr marL="342900" marR="0" lvl="0" indent="-237744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</a:endParaRPr>
          </a:p>
          <a:p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/>
                <a:ea typeface="Cambria"/>
                <a:cs typeface="Cambria"/>
              </a:rPr>
              <a:t>Implementar un servicio SOAP con WCF en .NET que centralice la autenticación, el catálogo y las conversiones de longitud, masa y temperatura, para que los clientes de consola, escritorio, web y móvil utilicen el mismo backend sin base de datos.</a:t>
            </a: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570DFF06-AF3E-421D-AF8D-C398E7B826F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04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6d00c5bd2_0_0">
            <a:extLst>
              <a:ext uri="{FF2B5EF4-FFF2-40B4-BE49-F238E27FC236}">
                <a16:creationId xmlns:a16="http://schemas.microsoft.com/office/drawing/2014/main" id="{D05DCEC7-19D9-4162-88BA-C10BE50C686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ondo blanco del contenido S4">
            <a:extLst>
              <a:ext uri="{FF2B5EF4-FFF2-40B4-BE49-F238E27FC236}">
                <a16:creationId xmlns:a16="http://schemas.microsoft.com/office/drawing/2014/main" id="{FEBE8162-C7F9-45F5-9521-579D2BC22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>
            <a:extLst>
              <a:ext uri="{FF2B5EF4-FFF2-40B4-BE49-F238E27FC236}">
                <a16:creationId xmlns:a16="http://schemas.microsoft.com/office/drawing/2014/main" id="{39D9E7EC-A762-42CC-B02E-4CDED63F63E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>
            <a:extLst>
              <a:ext uri="{FF2B5EF4-FFF2-40B4-BE49-F238E27FC236}">
                <a16:creationId xmlns:a16="http://schemas.microsoft.com/office/drawing/2014/main" id="{C823ECB7-1C40-433A-854B-1C246B421CC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>
            <a:extLst>
              <a:ext uri="{FF2B5EF4-FFF2-40B4-BE49-F238E27FC236}">
                <a16:creationId xmlns:a16="http://schemas.microsoft.com/office/drawing/2014/main" id="{824D7EE9-FA03-4D14-ADD0-A9EE40F1D44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>
            <a:extLst>
              <a:ext uri="{FF2B5EF4-FFF2-40B4-BE49-F238E27FC236}">
                <a16:creationId xmlns:a16="http://schemas.microsoft.com/office/drawing/2014/main" id="{A37A10BA-5B05-48F3-9F14-DEEF82839B1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>
            <a:extLst>
              <a:ext uri="{FF2B5EF4-FFF2-40B4-BE49-F238E27FC236}">
                <a16:creationId xmlns:a16="http://schemas.microsoft.com/office/drawing/2014/main" id="{0184A6B3-80D0-4479-AA28-DB9D8B107EF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30" name="Título del contenido S4">
            <a:extLst>
              <a:ext uri="{FF2B5EF4-FFF2-40B4-BE49-F238E27FC236}">
                <a16:creationId xmlns:a16="http://schemas.microsoft.com/office/drawing/2014/main" id="{48D83C8D-47D9-4484-941C-E74C96FC45F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Servidor SOAP en .NET</a:t>
            </a:r>
          </a:p>
        </p:txBody>
      </p:sp>
      <p:sp>
        <p:nvSpPr>
          <p:cNvPr id="131" name="Texto del contenido S4">
            <a:extLst>
              <a:ext uri="{FF2B5EF4-FFF2-40B4-BE49-F238E27FC236}">
                <a16:creationId xmlns:a16="http://schemas.microsoft.com/office/drawing/2014/main" id="{2725BC22-5BBC-4C5B-A11A-C3DA98006DB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servicio WCF se aloja en WSConUni.svc sobre .NET Framework 4.7.2. IIS Express lo publica en el puerto 14028 junto con su WSDL.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F987D7-69A8-0F1F-027A-2D56DFD8B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100" y="2533392"/>
            <a:ext cx="358190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3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>
            <a:extLst>
              <a:ext uri="{FF2B5EF4-FFF2-40B4-BE49-F238E27FC236}">
                <a16:creationId xmlns:a16="http://schemas.microsoft.com/office/drawing/2014/main" id="{091BF3A5-AEDB-464C-A13E-19CA7975709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ondo blanco del contenido S5">
            <a:extLst>
              <a:ext uri="{FF2B5EF4-FFF2-40B4-BE49-F238E27FC236}">
                <a16:creationId xmlns:a16="http://schemas.microsoft.com/office/drawing/2014/main" id="{05A93352-8CC6-462D-83BF-4FFC1458E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>
            <a:extLst>
              <a:ext uri="{FF2B5EF4-FFF2-40B4-BE49-F238E27FC236}">
                <a16:creationId xmlns:a16="http://schemas.microsoft.com/office/drawing/2014/main" id="{7194CBD6-3B94-4F73-B6C6-278B32BF2DF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>
            <a:extLst>
              <a:ext uri="{FF2B5EF4-FFF2-40B4-BE49-F238E27FC236}">
                <a16:creationId xmlns:a16="http://schemas.microsoft.com/office/drawing/2014/main" id="{CCDCF1EA-54D2-44F0-B851-C9C46577260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>
            <a:extLst>
              <a:ext uri="{FF2B5EF4-FFF2-40B4-BE49-F238E27FC236}">
                <a16:creationId xmlns:a16="http://schemas.microsoft.com/office/drawing/2014/main" id="{ACF4D640-AFF5-4882-A3E4-C59D8143C74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>
            <a:extLst>
              <a:ext uri="{FF2B5EF4-FFF2-40B4-BE49-F238E27FC236}">
                <a16:creationId xmlns:a16="http://schemas.microsoft.com/office/drawing/2014/main" id="{1F5F0D56-A6A5-4B42-B5CA-4D3AC694774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>
            <a:extLst>
              <a:ext uri="{FF2B5EF4-FFF2-40B4-BE49-F238E27FC236}">
                <a16:creationId xmlns:a16="http://schemas.microsoft.com/office/drawing/2014/main" id="{A276F549-C305-44C9-9FB8-6B31E1BD820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48" name="Título del contenido S5">
            <a:extLst>
              <a:ext uri="{FF2B5EF4-FFF2-40B4-BE49-F238E27FC236}">
                <a16:creationId xmlns:a16="http://schemas.microsoft.com/office/drawing/2014/main" id="{65565816-C780-430C-99FA-828F92C0B27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Contrato WSDL y operaciones</a:t>
            </a:r>
          </a:p>
        </p:txBody>
      </p:sp>
      <p:sp>
        <p:nvSpPr>
          <p:cNvPr id="149" name="Texto del contenido S5">
            <a:extLst>
              <a:ext uri="{FF2B5EF4-FFF2-40B4-BE49-F238E27FC236}">
                <a16:creationId xmlns:a16="http://schemas.microsoft.com/office/drawing/2014/main" id="{387EF7E7-9613-4AF8-8DFB-0C901278992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IWSConUni define autenticar, recuperarClave, obtenerCategorias, obtenerUnidades y convertir sobre basicHttpBinding (SOAP 1.1). Las respuestas incluyen estado, código y mensaje.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6DEC0F-723E-8E57-3B41-62D8E3FC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538" y="2038350"/>
            <a:ext cx="4812549" cy="29317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D39CD1-0F8C-907F-5F38-09119F93C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617" y="3943160"/>
            <a:ext cx="2600883" cy="277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24313899_0_5">
            <a:extLst>
              <a:ext uri="{FF2B5EF4-FFF2-40B4-BE49-F238E27FC236}">
                <a16:creationId xmlns:a16="http://schemas.microsoft.com/office/drawing/2014/main" id="{2AC19248-6791-4B07-8F4F-4D8957F2ADB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ondo blanco del contenido S6">
            <a:extLst>
              <a:ext uri="{FF2B5EF4-FFF2-40B4-BE49-F238E27FC236}">
                <a16:creationId xmlns:a16="http://schemas.microsoft.com/office/drawing/2014/main" id="{2F8021FE-124F-4FA4-93E0-345350EAB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>
            <a:extLst>
              <a:ext uri="{FF2B5EF4-FFF2-40B4-BE49-F238E27FC236}">
                <a16:creationId xmlns:a16="http://schemas.microsoft.com/office/drawing/2014/main" id="{7A968A6F-662E-4184-ABCB-A87E5C7BC1F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>
            <a:extLst>
              <a:ext uri="{FF2B5EF4-FFF2-40B4-BE49-F238E27FC236}">
                <a16:creationId xmlns:a16="http://schemas.microsoft.com/office/drawing/2014/main" id="{63E17F5D-BDBB-4526-B1D2-F52610FB2E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>
            <a:extLst>
              <a:ext uri="{FF2B5EF4-FFF2-40B4-BE49-F238E27FC236}">
                <a16:creationId xmlns:a16="http://schemas.microsoft.com/office/drawing/2014/main" id="{58729BF8-43D6-4B8B-AABB-99AAC122084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>
            <a:extLst>
              <a:ext uri="{FF2B5EF4-FFF2-40B4-BE49-F238E27FC236}">
                <a16:creationId xmlns:a16="http://schemas.microsoft.com/office/drawing/2014/main" id="{879F4C14-BA16-4DA4-B505-3C3D77D6C9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>
            <a:extLst>
              <a:ext uri="{FF2B5EF4-FFF2-40B4-BE49-F238E27FC236}">
                <a16:creationId xmlns:a16="http://schemas.microsoft.com/office/drawing/2014/main" id="{B4CC9BBD-B390-468A-8047-35136FE9F5B9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57" name="Título del contenido S6">
            <a:extLst>
              <a:ext uri="{FF2B5EF4-FFF2-40B4-BE49-F238E27FC236}">
                <a16:creationId xmlns:a16="http://schemas.microsoft.com/office/drawing/2014/main" id="{4EB45468-B4AE-4978-BBAF-FD0A2582B26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Capas del servidor</a:t>
            </a:r>
          </a:p>
        </p:txBody>
      </p:sp>
      <p:sp>
        <p:nvSpPr>
          <p:cNvPr id="158" name="Texto del contenido S6">
            <a:extLst>
              <a:ext uri="{FF2B5EF4-FFF2-40B4-BE49-F238E27FC236}">
                <a16:creationId xmlns:a16="http://schemas.microsoft.com/office/drawing/2014/main" id="{67E3F2A0-262F-4D61-8759-308D34E88EF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WSConUni recibe las solicitudes SOAP y delega las reglas en ConversorUnidadesServices. Respuesta normaliza resultados y errores. No se usa base de datos.</a:t>
            </a:r>
          </a:p>
        </p:txBody>
      </p:sp>
      <p:sp>
        <p:nvSpPr>
          <p:cNvPr id="3" name="Marcador imagen S7">
            <a:extLst>
              <a:ext uri="{FF2B5EF4-FFF2-40B4-BE49-F238E27FC236}">
                <a16:creationId xmlns:a16="http://schemas.microsoft.com/office/drawing/2014/main" id="{518AD19F-18AC-3B34-897E-4CB6D3FADB70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4286250" cy="3238500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clases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8FFB488-ACCD-ED0A-D5E4-3C7BAE1A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551" y="2376311"/>
            <a:ext cx="4977566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24313899_0_26">
            <a:extLst>
              <a:ext uri="{FF2B5EF4-FFF2-40B4-BE49-F238E27FC236}">
                <a16:creationId xmlns:a16="http://schemas.microsoft.com/office/drawing/2014/main" id="{CA994428-09E8-46C9-B0FD-C6481B5029D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ondo blanco del contenido S7">
            <a:extLst>
              <a:ext uri="{FF2B5EF4-FFF2-40B4-BE49-F238E27FC236}">
                <a16:creationId xmlns:a16="http://schemas.microsoft.com/office/drawing/2014/main" id="{B6AA009B-D52D-4531-850F-F5B04C3FD1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>
            <a:extLst>
              <a:ext uri="{FF2B5EF4-FFF2-40B4-BE49-F238E27FC236}">
                <a16:creationId xmlns:a16="http://schemas.microsoft.com/office/drawing/2014/main" id="{8EDAEAA8-9421-4E19-859A-0B826D0105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>
            <a:extLst>
              <a:ext uri="{FF2B5EF4-FFF2-40B4-BE49-F238E27FC236}">
                <a16:creationId xmlns:a16="http://schemas.microsoft.com/office/drawing/2014/main" id="{E9FA2BD7-5DB7-448E-A5C5-9FB244A090C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>
            <a:extLst>
              <a:ext uri="{FF2B5EF4-FFF2-40B4-BE49-F238E27FC236}">
                <a16:creationId xmlns:a16="http://schemas.microsoft.com/office/drawing/2014/main" id="{9AC0DEAE-62BD-4802-A5A5-36B35C3506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>
            <a:extLst>
              <a:ext uri="{FF2B5EF4-FFF2-40B4-BE49-F238E27FC236}">
                <a16:creationId xmlns:a16="http://schemas.microsoft.com/office/drawing/2014/main" id="{793AE88A-31F2-4908-95EA-80C0C86CEE4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>
            <a:extLst>
              <a:ext uri="{FF2B5EF4-FFF2-40B4-BE49-F238E27FC236}">
                <a16:creationId xmlns:a16="http://schemas.microsoft.com/office/drawing/2014/main" id="{963EB008-FB74-4C21-A7E5-88341747349C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73" name="Título del contenido S7">
            <a:extLst>
              <a:ext uri="{FF2B5EF4-FFF2-40B4-BE49-F238E27FC236}">
                <a16:creationId xmlns:a16="http://schemas.microsoft.com/office/drawing/2014/main" id="{DA61DBF0-8449-46D8-B338-29CA9DDE89D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Autenticación y sesión</a:t>
            </a:r>
          </a:p>
        </p:txBody>
      </p:sp>
      <p:sp>
        <p:nvSpPr>
          <p:cNvPr id="174" name="Texto del contenido S7">
            <a:extLst>
              <a:ext uri="{FF2B5EF4-FFF2-40B4-BE49-F238E27FC236}">
                <a16:creationId xmlns:a16="http://schemas.microsoft.com/office/drawing/2014/main" id="{87B3DC6D-DC55-4D92-8ECD-7AD46CD249D2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servidor valida el token antes de consultar o convertir. La sesión vence a los 15 minutos; usuario, clave y duración se configuran en Web.config.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754D35-4F71-EA3C-3386-3D2A1238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88" y="2209800"/>
            <a:ext cx="4669112" cy="24340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A42F02D-BBF3-76D6-9785-991BBD79C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24" y="4643898"/>
            <a:ext cx="762106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5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624313899_0_71">
            <a:extLst>
              <a:ext uri="{FF2B5EF4-FFF2-40B4-BE49-F238E27FC236}">
                <a16:creationId xmlns:a16="http://schemas.microsoft.com/office/drawing/2014/main" id="{3954C951-A101-4E49-9A6C-8CD6EB77379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ondo blanco del contenido S8">
            <a:extLst>
              <a:ext uri="{FF2B5EF4-FFF2-40B4-BE49-F238E27FC236}">
                <a16:creationId xmlns:a16="http://schemas.microsoft.com/office/drawing/2014/main" id="{6C189AB9-C3ED-481D-8602-BADF3F1621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>
            <a:extLst>
              <a:ext uri="{FF2B5EF4-FFF2-40B4-BE49-F238E27FC236}">
                <a16:creationId xmlns:a16="http://schemas.microsoft.com/office/drawing/2014/main" id="{234A26A1-65D4-4E2F-BE42-E87C4D8F97C7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>
            <a:extLst>
              <a:ext uri="{FF2B5EF4-FFF2-40B4-BE49-F238E27FC236}">
                <a16:creationId xmlns:a16="http://schemas.microsoft.com/office/drawing/2014/main" id="{122B8BB6-54DB-4C20-8DF3-C554F4C9484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>
            <a:extLst>
              <a:ext uri="{FF2B5EF4-FFF2-40B4-BE49-F238E27FC236}">
                <a16:creationId xmlns:a16="http://schemas.microsoft.com/office/drawing/2014/main" id="{E0A5BABD-E39B-4FCC-B70F-CD38944A077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>
            <a:extLst>
              <a:ext uri="{FF2B5EF4-FFF2-40B4-BE49-F238E27FC236}">
                <a16:creationId xmlns:a16="http://schemas.microsoft.com/office/drawing/2014/main" id="{4A5B759C-3307-4C11-B698-AC70362B353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>
            <a:extLst>
              <a:ext uri="{FF2B5EF4-FFF2-40B4-BE49-F238E27FC236}">
                <a16:creationId xmlns:a16="http://schemas.microsoft.com/office/drawing/2014/main" id="{7DD61F77-B9B5-4B81-A85B-686920DB394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97" name="Título del contenido S8">
            <a:extLst>
              <a:ext uri="{FF2B5EF4-FFF2-40B4-BE49-F238E27FC236}">
                <a16:creationId xmlns:a16="http://schemas.microsoft.com/office/drawing/2014/main" id="{FAA1CFA9-594F-49A1-A793-542AE19D3BE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 implementadas</a:t>
            </a:r>
          </a:p>
        </p:txBody>
      </p:sp>
      <p:sp>
        <p:nvSpPr>
          <p:cNvPr id="198" name="Texto del contenido S8">
            <a:extLst>
              <a:ext uri="{FF2B5EF4-FFF2-40B4-BE49-F238E27FC236}">
                <a16:creationId xmlns:a16="http://schemas.microsoft.com/office/drawing/2014/main" id="{376B1026-352A-4337-992A-FE8EA63ACA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PruebaServicioUnidades verifica conversiones, códigos de error, sesiones, recuperación de clave y metadatos WSDL. Se ejecuta con Ejecutar-Pruebas.ps1.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D02830-6A6C-E9B0-EAA8-E7A72D73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554" y="3404770"/>
            <a:ext cx="5102229" cy="197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9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24313899_0_51">
            <a:extLst>
              <a:ext uri="{FF2B5EF4-FFF2-40B4-BE49-F238E27FC236}">
                <a16:creationId xmlns:a16="http://schemas.microsoft.com/office/drawing/2014/main" id="{E90E64E7-18A9-479A-B45A-B2A907F857C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Fondo blanco del contenido S9">
            <a:extLst>
              <a:ext uri="{FF2B5EF4-FFF2-40B4-BE49-F238E27FC236}">
                <a16:creationId xmlns:a16="http://schemas.microsoft.com/office/drawing/2014/main" id="{4079680B-A80F-4D41-A715-665D10D152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>
            <a:extLst>
              <a:ext uri="{FF2B5EF4-FFF2-40B4-BE49-F238E27FC236}">
                <a16:creationId xmlns:a16="http://schemas.microsoft.com/office/drawing/2014/main" id="{785FE3C2-EF9B-4C50-931C-EC43D7B9E90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>
            <a:extLst>
              <a:ext uri="{FF2B5EF4-FFF2-40B4-BE49-F238E27FC236}">
                <a16:creationId xmlns:a16="http://schemas.microsoft.com/office/drawing/2014/main" id="{0B257B3D-E075-44C7-8EFE-475C68A8F3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>
            <a:extLst>
              <a:ext uri="{FF2B5EF4-FFF2-40B4-BE49-F238E27FC236}">
                <a16:creationId xmlns:a16="http://schemas.microsoft.com/office/drawing/2014/main" id="{7A905043-0D6C-4530-847B-F5937251386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>
            <a:extLst>
              <a:ext uri="{FF2B5EF4-FFF2-40B4-BE49-F238E27FC236}">
                <a16:creationId xmlns:a16="http://schemas.microsoft.com/office/drawing/2014/main" id="{6D395600-E786-4486-808E-221CB48D87B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>
            <a:extLst>
              <a:ext uri="{FF2B5EF4-FFF2-40B4-BE49-F238E27FC236}">
                <a16:creationId xmlns:a16="http://schemas.microsoft.com/office/drawing/2014/main" id="{DF095B71-FAAC-4B2B-A17A-13FCCB6176D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29" name="Título del contenido S9">
            <a:extLst>
              <a:ext uri="{FF2B5EF4-FFF2-40B4-BE49-F238E27FC236}">
                <a16:creationId xmlns:a16="http://schemas.microsoft.com/office/drawing/2014/main" id="{1551137B-84B0-4119-B4F9-FBFC9788391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consola .NET</a:t>
            </a:r>
          </a:p>
        </p:txBody>
      </p:sp>
      <p:sp>
        <p:nvSpPr>
          <p:cNvPr id="230" name="Texto del contenido S9">
            <a:extLst>
              <a:ext uri="{FF2B5EF4-FFF2-40B4-BE49-F238E27FC236}">
                <a16:creationId xmlns:a16="http://schemas.microsoft.com/office/drawing/2014/main" id="{8DC260B4-94DC-4584-BA3F-D1BED4A91D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.NET Framework 4.7.2. ContratoWcf.cs replica la interfaz del servidor y MainConsola toma el endpoint de App.config o del primer argumento.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5C829C-51AD-64C9-337F-20AF30135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69" y="3922586"/>
            <a:ext cx="9016180" cy="184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8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624313899_0_95">
            <a:extLst>
              <a:ext uri="{FF2B5EF4-FFF2-40B4-BE49-F238E27FC236}">
                <a16:creationId xmlns:a16="http://schemas.microsoft.com/office/drawing/2014/main" id="{2AA3253F-4130-44F7-83CF-A5A25295232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Fondo blanco del contenido S10">
            <a:extLst>
              <a:ext uri="{FF2B5EF4-FFF2-40B4-BE49-F238E27FC236}">
                <a16:creationId xmlns:a16="http://schemas.microsoft.com/office/drawing/2014/main" id="{59F7E05F-5BD2-4D46-A8CA-24EDF9560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>
            <a:extLst>
              <a:ext uri="{FF2B5EF4-FFF2-40B4-BE49-F238E27FC236}">
                <a16:creationId xmlns:a16="http://schemas.microsoft.com/office/drawing/2014/main" id="{E5C3EBB8-BBC7-4565-8DC8-5B0ADF650D7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>
            <a:extLst>
              <a:ext uri="{FF2B5EF4-FFF2-40B4-BE49-F238E27FC236}">
                <a16:creationId xmlns:a16="http://schemas.microsoft.com/office/drawing/2014/main" id="{88377406-CB7B-4E3F-819A-9FA28A58E92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>
            <a:extLst>
              <a:ext uri="{FF2B5EF4-FFF2-40B4-BE49-F238E27FC236}">
                <a16:creationId xmlns:a16="http://schemas.microsoft.com/office/drawing/2014/main" id="{E330C141-1293-43CC-BF8B-85A0FF97D8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>
            <a:extLst>
              <a:ext uri="{FF2B5EF4-FFF2-40B4-BE49-F238E27FC236}">
                <a16:creationId xmlns:a16="http://schemas.microsoft.com/office/drawing/2014/main" id="{FC6BB1D6-015C-49AB-88DE-1343AAEA8BB7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>
            <a:extLst>
              <a:ext uri="{FF2B5EF4-FFF2-40B4-BE49-F238E27FC236}">
                <a16:creationId xmlns:a16="http://schemas.microsoft.com/office/drawing/2014/main" id="{3560E954-8C68-4CFE-8D25-179B62C31BF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48" name="Título del contenido S10">
            <a:extLst>
              <a:ext uri="{FF2B5EF4-FFF2-40B4-BE49-F238E27FC236}">
                <a16:creationId xmlns:a16="http://schemas.microsoft.com/office/drawing/2014/main" id="{A15873B9-27B4-446A-9A0E-5441D5DD1BF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 y adaptador SOAP</a:t>
            </a:r>
          </a:p>
        </p:txBody>
      </p:sp>
      <p:sp>
        <p:nvSpPr>
          <p:cNvPr id="249" name="Texto del contenido S10">
            <a:extLst>
              <a:ext uri="{FF2B5EF4-FFF2-40B4-BE49-F238E27FC236}">
                <a16:creationId xmlns:a16="http://schemas.microsoft.com/office/drawing/2014/main" id="{5ABE798A-5CED-4A16-B959-8C538FBD5AE0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ControladorConsola administra el flujo y la sesión. ClienteSoap crea un ChannelFactory con BasicHttpBinding y normaliza las respuestas en RespuestaSoap.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13067F-13FA-E632-1880-3B0F21CAA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228" y="2252662"/>
            <a:ext cx="5019473" cy="28627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B45D2C-C40C-97A2-28DC-263B3A123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27" y="4076673"/>
            <a:ext cx="4146923" cy="238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5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624313899_0_111">
            <a:extLst>
              <a:ext uri="{FF2B5EF4-FFF2-40B4-BE49-F238E27FC236}">
                <a16:creationId xmlns:a16="http://schemas.microsoft.com/office/drawing/2014/main" id="{445F796F-6704-4F68-81FE-91E97F4D89A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Fondo blanco del contenido S11">
            <a:extLst>
              <a:ext uri="{FF2B5EF4-FFF2-40B4-BE49-F238E27FC236}">
                <a16:creationId xmlns:a16="http://schemas.microsoft.com/office/drawing/2014/main" id="{066CDABE-8CF3-4605-A94E-7E78BDD59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>
            <a:extLst>
              <a:ext uri="{FF2B5EF4-FFF2-40B4-BE49-F238E27FC236}">
                <a16:creationId xmlns:a16="http://schemas.microsoft.com/office/drawing/2014/main" id="{974FAB9E-53A4-4B9E-A479-939F818BC8F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>
            <a:extLst>
              <a:ext uri="{FF2B5EF4-FFF2-40B4-BE49-F238E27FC236}">
                <a16:creationId xmlns:a16="http://schemas.microsoft.com/office/drawing/2014/main" id="{CC73F015-EF3F-4BA1-AE3B-0FDA56150CD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>
            <a:extLst>
              <a:ext uri="{FF2B5EF4-FFF2-40B4-BE49-F238E27FC236}">
                <a16:creationId xmlns:a16="http://schemas.microsoft.com/office/drawing/2014/main" id="{B91C1963-8731-4FDC-83CF-53539BF8CB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>
            <a:extLst>
              <a:ext uri="{FF2B5EF4-FFF2-40B4-BE49-F238E27FC236}">
                <a16:creationId xmlns:a16="http://schemas.microsoft.com/office/drawing/2014/main" id="{BB60DCBA-068B-4652-901E-FE11DD67C89D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>
            <a:extLst>
              <a:ext uri="{FF2B5EF4-FFF2-40B4-BE49-F238E27FC236}">
                <a16:creationId xmlns:a16="http://schemas.microsoft.com/office/drawing/2014/main" id="{F0EF4153-B8EC-42AD-B416-5368AD375EC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57" name="Título del contenido S11">
            <a:extLst>
              <a:ext uri="{FF2B5EF4-FFF2-40B4-BE49-F238E27FC236}">
                <a16:creationId xmlns:a16="http://schemas.microsoft.com/office/drawing/2014/main" id="{5C214074-F490-45C3-A226-8079E1A1C57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Menú y flujo de conversión</a:t>
            </a:r>
          </a:p>
        </p:txBody>
      </p:sp>
      <p:sp>
        <p:nvSpPr>
          <p:cNvPr id="258" name="Texto del contenido S11">
            <a:extLst>
              <a:ext uri="{FF2B5EF4-FFF2-40B4-BE49-F238E27FC236}">
                <a16:creationId xmlns:a16="http://schemas.microsoft.com/office/drawing/2014/main" id="{62E07DED-4413-4A93-8EB1-CAD6E100219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consola permite acceder, consultar categorías y unidades, convertir, cerrar la sesión y recuperar la clave. El flujo solicita categoría, origen, destino y valor.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464AB8-B2B3-9B07-9650-8BA0FB2C7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324" y="3261419"/>
            <a:ext cx="4862179" cy="26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8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624313899_0_138">
            <a:extLst>
              <a:ext uri="{FF2B5EF4-FFF2-40B4-BE49-F238E27FC236}">
                <a16:creationId xmlns:a16="http://schemas.microsoft.com/office/drawing/2014/main" id="{0B83016B-588B-4396-AB84-57263B6BE0F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Fondo blanco del contenido S12">
            <a:extLst>
              <a:ext uri="{FF2B5EF4-FFF2-40B4-BE49-F238E27FC236}">
                <a16:creationId xmlns:a16="http://schemas.microsoft.com/office/drawing/2014/main" id="{3D104D45-7366-44DF-9022-29AF315293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>
            <a:extLst>
              <a:ext uri="{FF2B5EF4-FFF2-40B4-BE49-F238E27FC236}">
                <a16:creationId xmlns:a16="http://schemas.microsoft.com/office/drawing/2014/main" id="{F5BCED6D-B134-4DBA-A059-5A5F78DBED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>
            <a:extLst>
              <a:ext uri="{FF2B5EF4-FFF2-40B4-BE49-F238E27FC236}">
                <a16:creationId xmlns:a16="http://schemas.microsoft.com/office/drawing/2014/main" id="{F4AE9DD6-B951-4FFD-BB57-44902E2AD5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>
            <a:extLst>
              <a:ext uri="{FF2B5EF4-FFF2-40B4-BE49-F238E27FC236}">
                <a16:creationId xmlns:a16="http://schemas.microsoft.com/office/drawing/2014/main" id="{47F52F99-CD76-4DC2-B233-8F7E9EC58BF8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>
            <a:extLst>
              <a:ext uri="{FF2B5EF4-FFF2-40B4-BE49-F238E27FC236}">
                <a16:creationId xmlns:a16="http://schemas.microsoft.com/office/drawing/2014/main" id="{41498AAB-6B01-494A-8968-EC569F14F7D3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>
            <a:extLst>
              <a:ext uri="{FF2B5EF4-FFF2-40B4-BE49-F238E27FC236}">
                <a16:creationId xmlns:a16="http://schemas.microsoft.com/office/drawing/2014/main" id="{2F441F59-F12A-4E27-A9ED-7C13F10B38D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65" name="Título del contenido S12">
            <a:extLst>
              <a:ext uri="{FF2B5EF4-FFF2-40B4-BE49-F238E27FC236}">
                <a16:creationId xmlns:a16="http://schemas.microsoft.com/office/drawing/2014/main" id="{650D48B8-C274-4DA7-B258-4B2AA4C4ED4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terminal</a:t>
            </a:r>
          </a:p>
        </p:txBody>
      </p:sp>
      <p:sp>
        <p:nvSpPr>
          <p:cNvPr id="266" name="Texto del contenido S12">
            <a:extLst>
              <a:ext uri="{FF2B5EF4-FFF2-40B4-BE49-F238E27FC236}">
                <a16:creationId xmlns:a16="http://schemas.microsoft.com/office/drawing/2014/main" id="{9350FB0F-0174-4F73-8D00-5CA9DA465C55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 inicia después de levantar el servicio en IIS Express. Si cambia el puerto, se ajusta App.config o se pasa la URL como argumento.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47F13F-B442-2C6B-A140-A0FACD11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245" y="3601920"/>
            <a:ext cx="5021255" cy="21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>
            <a:extLst>
              <a:ext uri="{FF2B5EF4-FFF2-40B4-BE49-F238E27FC236}">
                <a16:creationId xmlns:a16="http://schemas.microsoft.com/office/drawing/2014/main" id="{53344BC8-97D0-47FF-9FE0-5E6F53CCB66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Fondo blanco del contenido S13">
            <a:extLst>
              <a:ext uri="{FF2B5EF4-FFF2-40B4-BE49-F238E27FC236}">
                <a16:creationId xmlns:a16="http://schemas.microsoft.com/office/drawing/2014/main" id="{E8353AB1-05D8-4583-8B4F-11E4BF7BC3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>
            <a:extLst>
              <a:ext uri="{FF2B5EF4-FFF2-40B4-BE49-F238E27FC236}">
                <a16:creationId xmlns:a16="http://schemas.microsoft.com/office/drawing/2014/main" id="{A970F014-3981-4295-AF5C-074DA9FF99A1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>
            <a:extLst>
              <a:ext uri="{FF2B5EF4-FFF2-40B4-BE49-F238E27FC236}">
                <a16:creationId xmlns:a16="http://schemas.microsoft.com/office/drawing/2014/main" id="{6635705F-A4F1-450A-86A1-A8DB12BFB8D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>
            <a:extLst>
              <a:ext uri="{FF2B5EF4-FFF2-40B4-BE49-F238E27FC236}">
                <a16:creationId xmlns:a16="http://schemas.microsoft.com/office/drawing/2014/main" id="{F36396AC-0C73-4B4A-9855-CB53254F2D8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>
            <a:extLst>
              <a:ext uri="{FF2B5EF4-FFF2-40B4-BE49-F238E27FC236}">
                <a16:creationId xmlns:a16="http://schemas.microsoft.com/office/drawing/2014/main" id="{2A6E6A8E-2386-45BD-BDED-6A7C8B6FA57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>
            <a:extLst>
              <a:ext uri="{FF2B5EF4-FFF2-40B4-BE49-F238E27FC236}">
                <a16:creationId xmlns:a16="http://schemas.microsoft.com/office/drawing/2014/main" id="{9503FF92-5DF7-4A2B-AD4B-DF57961DC61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76" name="Título del contenido S13">
            <a:extLst>
              <a:ext uri="{FF2B5EF4-FFF2-40B4-BE49-F238E27FC236}">
                <a16:creationId xmlns:a16="http://schemas.microsoft.com/office/drawing/2014/main" id="{F92D456D-EFE7-4589-A491-8DFDEE97C861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escritorio WinForms</a:t>
            </a:r>
          </a:p>
        </p:txBody>
      </p:sp>
      <p:sp>
        <p:nvSpPr>
          <p:cNvPr id="277" name="Texto del contenido S13">
            <a:extLst>
              <a:ext uri="{FF2B5EF4-FFF2-40B4-BE49-F238E27FC236}">
                <a16:creationId xmlns:a16="http://schemas.microsoft.com/office/drawing/2014/main" id="{C2A0A331-6B4F-4620-91D0-F42258DC355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C# WinForms en .NET Framework 4.7.2. El proxy WSConUniClient se generó con SvcUtil desde el WSDL guardado en Connected Services.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A7AED6-39D7-A03C-C0A7-B2330F3C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4" y="4184456"/>
            <a:ext cx="8943975" cy="21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3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974b856cc_0_109">
            <a:extLst>
              <a:ext uri="{FF2B5EF4-FFF2-40B4-BE49-F238E27FC236}">
                <a16:creationId xmlns:a16="http://schemas.microsoft.com/office/drawing/2014/main" id="{25A8BC9A-4680-448A-A288-A56B25FD676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Fondo blanco del contenido S14">
            <a:extLst>
              <a:ext uri="{FF2B5EF4-FFF2-40B4-BE49-F238E27FC236}">
                <a16:creationId xmlns:a16="http://schemas.microsoft.com/office/drawing/2014/main" id="{D1BCD550-EE36-4FE6-8D85-C77F0F221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>
            <a:extLst>
              <a:ext uri="{FF2B5EF4-FFF2-40B4-BE49-F238E27FC236}">
                <a16:creationId xmlns:a16="http://schemas.microsoft.com/office/drawing/2014/main" id="{64255486-DD3D-461D-9532-2C69C96F59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>
            <a:extLst>
              <a:ext uri="{FF2B5EF4-FFF2-40B4-BE49-F238E27FC236}">
                <a16:creationId xmlns:a16="http://schemas.microsoft.com/office/drawing/2014/main" id="{78AAB2DA-9D49-4D5D-8921-3053E9A1F3A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>
            <a:extLst>
              <a:ext uri="{FF2B5EF4-FFF2-40B4-BE49-F238E27FC236}">
                <a16:creationId xmlns:a16="http://schemas.microsoft.com/office/drawing/2014/main" id="{50FD0B7E-9706-4B2F-8CDD-A14AAD2960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>
            <a:extLst>
              <a:ext uri="{FF2B5EF4-FFF2-40B4-BE49-F238E27FC236}">
                <a16:creationId xmlns:a16="http://schemas.microsoft.com/office/drawing/2014/main" id="{8D5DC68B-4F90-46DC-9A59-4D607096B51C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>
            <a:extLst>
              <a:ext uri="{FF2B5EF4-FFF2-40B4-BE49-F238E27FC236}">
                <a16:creationId xmlns:a16="http://schemas.microsoft.com/office/drawing/2014/main" id="{915A8A62-07C4-483A-861F-2C911628DCA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09" name="Título del contenido S14">
            <a:extLst>
              <a:ext uri="{FF2B5EF4-FFF2-40B4-BE49-F238E27FC236}">
                <a16:creationId xmlns:a16="http://schemas.microsoft.com/office/drawing/2014/main" id="{8F7BE097-96E0-445C-B49D-27C404C9670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Organización MVC</a:t>
            </a:r>
          </a:p>
        </p:txBody>
      </p:sp>
      <p:sp>
        <p:nvSpPr>
          <p:cNvPr id="310" name="Texto del contenido S14">
            <a:extLst>
              <a:ext uri="{FF2B5EF4-FFF2-40B4-BE49-F238E27FC236}">
                <a16:creationId xmlns:a16="http://schemas.microsoft.com/office/drawing/2014/main" id="{C21A0569-FCF6-48F7-AC57-10CBF9E4F32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separa vista, controlador, modelo y servicio. GestorVentanas coordina el cambio entre la ventana de acceso y la de conversión.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FF27C2-5A07-58F8-1D84-9FC055704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14" y="2271599"/>
            <a:ext cx="2114845" cy="16194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BD32A1-64A0-E551-2BD4-853A3687C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476" y="4069705"/>
            <a:ext cx="7250676" cy="260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5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974b856cc_0_128">
            <a:extLst>
              <a:ext uri="{FF2B5EF4-FFF2-40B4-BE49-F238E27FC236}">
                <a16:creationId xmlns:a16="http://schemas.microsoft.com/office/drawing/2014/main" id="{3F29F400-341E-4014-A454-F03E384CFDF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Fondo blanco del contenido S15">
            <a:extLst>
              <a:ext uri="{FF2B5EF4-FFF2-40B4-BE49-F238E27FC236}">
                <a16:creationId xmlns:a16="http://schemas.microsoft.com/office/drawing/2014/main" id="{F04A68F3-4E69-4A40-98EF-B30C5CBF7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>
            <a:extLst>
              <a:ext uri="{FF2B5EF4-FFF2-40B4-BE49-F238E27FC236}">
                <a16:creationId xmlns:a16="http://schemas.microsoft.com/office/drawing/2014/main" id="{980136AD-79F3-4E24-827B-5737D13F7C8D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>
            <a:extLst>
              <a:ext uri="{FF2B5EF4-FFF2-40B4-BE49-F238E27FC236}">
                <a16:creationId xmlns:a16="http://schemas.microsoft.com/office/drawing/2014/main" id="{13BC421D-CB11-4855-A166-A195A34846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>
            <a:extLst>
              <a:ext uri="{FF2B5EF4-FFF2-40B4-BE49-F238E27FC236}">
                <a16:creationId xmlns:a16="http://schemas.microsoft.com/office/drawing/2014/main" id="{B4F8DD5F-0880-4DD6-8DE5-629EB823556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>
            <a:extLst>
              <a:ext uri="{FF2B5EF4-FFF2-40B4-BE49-F238E27FC236}">
                <a16:creationId xmlns:a16="http://schemas.microsoft.com/office/drawing/2014/main" id="{26889F1F-1C97-4D89-B374-7460DCEFA794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>
            <a:extLst>
              <a:ext uri="{FF2B5EF4-FFF2-40B4-BE49-F238E27FC236}">
                <a16:creationId xmlns:a16="http://schemas.microsoft.com/office/drawing/2014/main" id="{8F95D69A-EC92-470D-8CD9-D68C4EB537C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17" name="Título del contenido S15">
            <a:extLst>
              <a:ext uri="{FF2B5EF4-FFF2-40B4-BE49-F238E27FC236}">
                <a16:creationId xmlns:a16="http://schemas.microsoft.com/office/drawing/2014/main" id="{BD50981D-FA04-4895-B0C1-7214CDC4F08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WinForms</a:t>
            </a:r>
          </a:p>
        </p:txBody>
      </p:sp>
      <p:sp>
        <p:nvSpPr>
          <p:cNvPr id="318" name="Texto del contenido S15">
            <a:extLst>
              <a:ext uri="{FF2B5EF4-FFF2-40B4-BE49-F238E27FC236}">
                <a16:creationId xmlns:a16="http://schemas.microsoft.com/office/drawing/2014/main" id="{E2C221B4-CA45-47E1-A4B0-E708A2D4F82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LoginForm gestiona el acceso y la recuperación de clave. ConversionForm presenta el catálogo y los campos de conversión; EstilosUI aplica la paleta.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7A81B-BA9A-11CD-2A6A-C4345303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60" y="2738340"/>
            <a:ext cx="4303977" cy="219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74b856cc_0_137">
            <a:extLst>
              <a:ext uri="{FF2B5EF4-FFF2-40B4-BE49-F238E27FC236}">
                <a16:creationId xmlns:a16="http://schemas.microsoft.com/office/drawing/2014/main" id="{BF55C9AB-CA58-495D-A485-6A6E29EF5F4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Fondo blanco del contenido S16">
            <a:extLst>
              <a:ext uri="{FF2B5EF4-FFF2-40B4-BE49-F238E27FC236}">
                <a16:creationId xmlns:a16="http://schemas.microsoft.com/office/drawing/2014/main" id="{8338C50B-BE0E-4BA7-9248-3D9A192A0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>
            <a:extLst>
              <a:ext uri="{FF2B5EF4-FFF2-40B4-BE49-F238E27FC236}">
                <a16:creationId xmlns:a16="http://schemas.microsoft.com/office/drawing/2014/main" id="{1A4C9852-99B3-4180-8148-40E5D8F06FA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>
            <a:extLst>
              <a:ext uri="{FF2B5EF4-FFF2-40B4-BE49-F238E27FC236}">
                <a16:creationId xmlns:a16="http://schemas.microsoft.com/office/drawing/2014/main" id="{F5209612-E722-4C8B-A448-7F156DA118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>
            <a:extLst>
              <a:ext uri="{FF2B5EF4-FFF2-40B4-BE49-F238E27FC236}">
                <a16:creationId xmlns:a16="http://schemas.microsoft.com/office/drawing/2014/main" id="{94E7AC07-DD2A-4562-AFB7-9031CE72AF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>
            <a:extLst>
              <a:ext uri="{FF2B5EF4-FFF2-40B4-BE49-F238E27FC236}">
                <a16:creationId xmlns:a16="http://schemas.microsoft.com/office/drawing/2014/main" id="{9117CE3F-8EB5-4B2C-ADC6-C22EB1F0B4C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>
            <a:extLst>
              <a:ext uri="{FF2B5EF4-FFF2-40B4-BE49-F238E27FC236}">
                <a16:creationId xmlns:a16="http://schemas.microsoft.com/office/drawing/2014/main" id="{6A1086BD-8520-45A9-A9F1-FC310CB4D3B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25" name="Título del contenido S16">
            <a:extLst>
              <a:ext uri="{FF2B5EF4-FFF2-40B4-BE49-F238E27FC236}">
                <a16:creationId xmlns:a16="http://schemas.microsoft.com/office/drawing/2014/main" id="{F6825046-BB20-40C0-A247-14041F3D2067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Inicio de sesión</a:t>
            </a:r>
          </a:p>
        </p:txBody>
      </p:sp>
      <p:sp>
        <p:nvSpPr>
          <p:cNvPr id="326" name="Texto del contenido S16">
            <a:extLst>
              <a:ext uri="{FF2B5EF4-FFF2-40B4-BE49-F238E27FC236}">
                <a16:creationId xmlns:a16="http://schemas.microsoft.com/office/drawing/2014/main" id="{FEB89C35-91CB-4EED-9598-4895667BA9D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ControladorLogin envía las credenciales al servidor. Si la respuesta es correcta, guarda el token en memoria y abre ConversionForm.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1E6AC3-7689-02D6-CA6A-75117B5E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346" y="3536234"/>
            <a:ext cx="5133307" cy="299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6d00c5bd2_2_19">
            <a:extLst>
              <a:ext uri="{FF2B5EF4-FFF2-40B4-BE49-F238E27FC236}">
                <a16:creationId xmlns:a16="http://schemas.microsoft.com/office/drawing/2014/main" id="{6203560E-8377-4D46-ADDB-786D0DF2184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Fondo blanco del contenido S17">
            <a:extLst>
              <a:ext uri="{FF2B5EF4-FFF2-40B4-BE49-F238E27FC236}">
                <a16:creationId xmlns:a16="http://schemas.microsoft.com/office/drawing/2014/main" id="{FC2F99F1-DAF3-45A5-888E-CBC67A32B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>
            <a:extLst>
              <a:ext uri="{FF2B5EF4-FFF2-40B4-BE49-F238E27FC236}">
                <a16:creationId xmlns:a16="http://schemas.microsoft.com/office/drawing/2014/main" id="{FD6EDABC-5414-43E0-8E84-988E8AE9629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>
            <a:extLst>
              <a:ext uri="{FF2B5EF4-FFF2-40B4-BE49-F238E27FC236}">
                <a16:creationId xmlns:a16="http://schemas.microsoft.com/office/drawing/2014/main" id="{2821470C-6E93-456E-86E2-E8D55F140BF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>
            <a:extLst>
              <a:ext uri="{FF2B5EF4-FFF2-40B4-BE49-F238E27FC236}">
                <a16:creationId xmlns:a16="http://schemas.microsoft.com/office/drawing/2014/main" id="{DB52359D-1E06-49F6-9AFE-DC1B022BF419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>
            <a:extLst>
              <a:ext uri="{FF2B5EF4-FFF2-40B4-BE49-F238E27FC236}">
                <a16:creationId xmlns:a16="http://schemas.microsoft.com/office/drawing/2014/main" id="{7356BA75-E89B-4C22-B8C6-0B4306D21E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>
            <a:extLst>
              <a:ext uri="{FF2B5EF4-FFF2-40B4-BE49-F238E27FC236}">
                <a16:creationId xmlns:a16="http://schemas.microsoft.com/office/drawing/2014/main" id="{01EBA485-5451-4CF6-BCA5-7E97F1FBC93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43" name="Título del contenido S17">
            <a:extLst>
              <a:ext uri="{FF2B5EF4-FFF2-40B4-BE49-F238E27FC236}">
                <a16:creationId xmlns:a16="http://schemas.microsoft.com/office/drawing/2014/main" id="{B0CE05B1-CFB5-4E2A-96EC-7E27BEECCA5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 de conversión</a:t>
            </a:r>
          </a:p>
        </p:txBody>
      </p:sp>
      <p:sp>
        <p:nvSpPr>
          <p:cNvPr id="344" name="Texto del contenido S17">
            <a:extLst>
              <a:ext uri="{FF2B5EF4-FFF2-40B4-BE49-F238E27FC236}">
                <a16:creationId xmlns:a16="http://schemas.microsoft.com/office/drawing/2014/main" id="{C0845671-C2D1-470C-AAEF-26A22B7120D4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Las llamadas SOAP se ejecutan con Task.Run para no bloquear la ventana. El controlador envía el valor y presenta el resultado o el error recibido.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B1057B-0BD6-AD12-1D01-39A5134D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211" y="3569859"/>
            <a:ext cx="5184789" cy="29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>
            <a:extLst>
              <a:ext uri="{FF2B5EF4-FFF2-40B4-BE49-F238E27FC236}">
                <a16:creationId xmlns:a16="http://schemas.microsoft.com/office/drawing/2014/main" id="{A8C44E00-09AA-4768-873A-8A798E02743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Fondo blanco del contenido S18">
            <a:extLst>
              <a:ext uri="{FF2B5EF4-FFF2-40B4-BE49-F238E27FC236}">
                <a16:creationId xmlns:a16="http://schemas.microsoft.com/office/drawing/2014/main" id="{8DB0FE11-4700-4389-BF02-82B12E2F8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>
            <a:extLst>
              <a:ext uri="{FF2B5EF4-FFF2-40B4-BE49-F238E27FC236}">
                <a16:creationId xmlns:a16="http://schemas.microsoft.com/office/drawing/2014/main" id="{55ACDD45-E64A-41E3-BE3F-1B852509A04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>
            <a:extLst>
              <a:ext uri="{FF2B5EF4-FFF2-40B4-BE49-F238E27FC236}">
                <a16:creationId xmlns:a16="http://schemas.microsoft.com/office/drawing/2014/main" id="{4542899F-0D75-4D53-B787-3207D921418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>
            <a:extLst>
              <a:ext uri="{FF2B5EF4-FFF2-40B4-BE49-F238E27FC236}">
                <a16:creationId xmlns:a16="http://schemas.microsoft.com/office/drawing/2014/main" id="{4D13A0AD-5795-4C0C-8BC2-AAF0726D4C42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>
            <a:extLst>
              <a:ext uri="{FF2B5EF4-FFF2-40B4-BE49-F238E27FC236}">
                <a16:creationId xmlns:a16="http://schemas.microsoft.com/office/drawing/2014/main" id="{B79B3AFD-C3C8-47DE-9E2D-CBDD4017DF2F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>
            <a:extLst>
              <a:ext uri="{FF2B5EF4-FFF2-40B4-BE49-F238E27FC236}">
                <a16:creationId xmlns:a16="http://schemas.microsoft.com/office/drawing/2014/main" id="{5731747B-6B51-47D8-A142-46394FB8FD9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51" name="Título del contenido S18">
            <a:extLst>
              <a:ext uri="{FF2B5EF4-FFF2-40B4-BE49-F238E27FC236}">
                <a16:creationId xmlns:a16="http://schemas.microsoft.com/office/drawing/2014/main" id="{3B175E7E-26E7-40B5-9206-6D669B1641F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web ASP.NET Core MVC</a:t>
            </a:r>
          </a:p>
        </p:txBody>
      </p:sp>
      <p:sp>
        <p:nvSpPr>
          <p:cNvPr id="352" name="Texto del contenido S18">
            <a:extLst>
              <a:ext uri="{FF2B5EF4-FFF2-40B4-BE49-F238E27FC236}">
                <a16:creationId xmlns:a16="http://schemas.microsoft.com/office/drawing/2014/main" id="{81DAE47E-B620-4DBA-9215-55A26D3927B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ASP.NET Core MVC en .NET 10. ClienteSoap usa ChannelFactory y BasicHttpBinding; el endpoint se define en appsettings.json.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2F5CCA-7C43-C8A2-8B6E-7053ED312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69" y="2000250"/>
            <a:ext cx="2151233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8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9782968e5_0_88">
            <a:extLst>
              <a:ext uri="{FF2B5EF4-FFF2-40B4-BE49-F238E27FC236}">
                <a16:creationId xmlns:a16="http://schemas.microsoft.com/office/drawing/2014/main" id="{55A9D044-95A5-4688-984E-E5DABE2F2393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Fondo blanco del contenido S19">
            <a:extLst>
              <a:ext uri="{FF2B5EF4-FFF2-40B4-BE49-F238E27FC236}">
                <a16:creationId xmlns:a16="http://schemas.microsoft.com/office/drawing/2014/main" id="{EDFBC877-637A-4038-BD92-26D7A91148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>
            <a:extLst>
              <a:ext uri="{FF2B5EF4-FFF2-40B4-BE49-F238E27FC236}">
                <a16:creationId xmlns:a16="http://schemas.microsoft.com/office/drawing/2014/main" id="{8949DE7D-96E4-493A-8731-76BE58F3436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>
            <a:extLst>
              <a:ext uri="{FF2B5EF4-FFF2-40B4-BE49-F238E27FC236}">
                <a16:creationId xmlns:a16="http://schemas.microsoft.com/office/drawing/2014/main" id="{FB784D14-EBD6-4C3D-BA8F-93EE72D92C9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>
            <a:extLst>
              <a:ext uri="{FF2B5EF4-FFF2-40B4-BE49-F238E27FC236}">
                <a16:creationId xmlns:a16="http://schemas.microsoft.com/office/drawing/2014/main" id="{90F4C11A-FC4D-45F8-9BA1-E2C1DD7D497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>
            <a:extLst>
              <a:ext uri="{FF2B5EF4-FFF2-40B4-BE49-F238E27FC236}">
                <a16:creationId xmlns:a16="http://schemas.microsoft.com/office/drawing/2014/main" id="{59C40456-CEE3-4DC4-9160-7AA051EBAB6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>
            <a:extLst>
              <a:ext uri="{FF2B5EF4-FFF2-40B4-BE49-F238E27FC236}">
                <a16:creationId xmlns:a16="http://schemas.microsoft.com/office/drawing/2014/main" id="{67355AD1-533F-4350-8699-2BFCE307850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85" name="Título del contenido S19">
            <a:extLst>
              <a:ext uri="{FF2B5EF4-FFF2-40B4-BE49-F238E27FC236}">
                <a16:creationId xmlns:a16="http://schemas.microsoft.com/office/drawing/2014/main" id="{8458D636-3E22-4402-A773-A3072E89C4D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Controladores y sesión HTTP</a:t>
            </a:r>
          </a:p>
        </p:txBody>
      </p:sp>
      <p:sp>
        <p:nvSpPr>
          <p:cNvPr id="386" name="Texto del contenido S19">
            <a:extLst>
              <a:ext uri="{FF2B5EF4-FFF2-40B4-BE49-F238E27FC236}">
                <a16:creationId xmlns:a16="http://schemas.microsoft.com/office/drawing/2014/main" id="{2933916A-9055-4395-866C-2B1FC38924D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AccesoController gestiona acceso, recuperación y salida; ConversorController, el catálogo y las conversiones. El token vive en la sesión HTTP y los POST usan token antifalsificación.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C52A64-EBED-0FAE-C4BF-2982E54C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661" y="2466975"/>
            <a:ext cx="5040518" cy="24477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4D94DA-F4E8-AA57-6C9C-8AE043F01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72" y="4831635"/>
            <a:ext cx="5662728" cy="180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9782968e5_0_73">
            <a:extLst>
              <a:ext uri="{FF2B5EF4-FFF2-40B4-BE49-F238E27FC236}">
                <a16:creationId xmlns:a16="http://schemas.microsoft.com/office/drawing/2014/main" id="{B913EFC6-6384-4CEE-A9BA-C09B98BF99EA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Fondo blanco del contenido S20">
            <a:extLst>
              <a:ext uri="{FF2B5EF4-FFF2-40B4-BE49-F238E27FC236}">
                <a16:creationId xmlns:a16="http://schemas.microsoft.com/office/drawing/2014/main" id="{F46A36E8-93C6-446A-BAFE-3715CF795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>
            <a:extLst>
              <a:ext uri="{FF2B5EF4-FFF2-40B4-BE49-F238E27FC236}">
                <a16:creationId xmlns:a16="http://schemas.microsoft.com/office/drawing/2014/main" id="{F182531A-5DA2-4155-A8DD-37298F562FE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>
            <a:extLst>
              <a:ext uri="{FF2B5EF4-FFF2-40B4-BE49-F238E27FC236}">
                <a16:creationId xmlns:a16="http://schemas.microsoft.com/office/drawing/2014/main" id="{996BC4F6-D2E8-41BF-997F-5A4BFDDA9F6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>
            <a:extLst>
              <a:ext uri="{FF2B5EF4-FFF2-40B4-BE49-F238E27FC236}">
                <a16:creationId xmlns:a16="http://schemas.microsoft.com/office/drawing/2014/main" id="{614D5A18-6BEC-41A8-B776-4BC363481F9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>
            <a:extLst>
              <a:ext uri="{FF2B5EF4-FFF2-40B4-BE49-F238E27FC236}">
                <a16:creationId xmlns:a16="http://schemas.microsoft.com/office/drawing/2014/main" id="{C3249603-A2D8-4767-94DF-421D3D65952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>
            <a:extLst>
              <a:ext uri="{FF2B5EF4-FFF2-40B4-BE49-F238E27FC236}">
                <a16:creationId xmlns:a16="http://schemas.microsoft.com/office/drawing/2014/main" id="{06BAB58B-49B8-4269-A6D4-2A532B4E6E5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93" name="Título del contenido S20">
            <a:extLst>
              <a:ext uri="{FF2B5EF4-FFF2-40B4-BE49-F238E27FC236}">
                <a16:creationId xmlns:a16="http://schemas.microsoft.com/office/drawing/2014/main" id="{731B6112-11F3-4139-A333-2731F502EF4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Razor</a:t>
            </a:r>
          </a:p>
        </p:txBody>
      </p:sp>
      <p:sp>
        <p:nvSpPr>
          <p:cNvPr id="394" name="Texto del contenido S20">
            <a:extLst>
              <a:ext uri="{FF2B5EF4-FFF2-40B4-BE49-F238E27FC236}">
                <a16:creationId xmlns:a16="http://schemas.microsoft.com/office/drawing/2014/main" id="{C8B8E7C2-A084-4543-B86C-700463C4F9C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Login.cshtml y Recuperar.cshtml reciben las credenciales. Conversor/Index.cshtml presenta las categorías, unidades, formulario y respuesta.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C71EF5-51E2-98D6-EAF1-9040A659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865" y="1814392"/>
            <a:ext cx="4959895" cy="22952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23AB79-6898-3E67-5D7B-9344C7A4A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92" y="4123829"/>
            <a:ext cx="5664453" cy="254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11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9782968e5_0_112">
            <a:extLst>
              <a:ext uri="{FF2B5EF4-FFF2-40B4-BE49-F238E27FC236}">
                <a16:creationId xmlns:a16="http://schemas.microsoft.com/office/drawing/2014/main" id="{44E84EC4-9884-4941-9CD4-209A952FCF1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Fondo blanco del contenido S21">
            <a:extLst>
              <a:ext uri="{FF2B5EF4-FFF2-40B4-BE49-F238E27FC236}">
                <a16:creationId xmlns:a16="http://schemas.microsoft.com/office/drawing/2014/main" id="{F4666D95-7C49-45A9-82E0-8272558284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>
            <a:extLst>
              <a:ext uri="{FF2B5EF4-FFF2-40B4-BE49-F238E27FC236}">
                <a16:creationId xmlns:a16="http://schemas.microsoft.com/office/drawing/2014/main" id="{454C65D2-0C5C-4F83-AE0B-B42CD4B5829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>
            <a:extLst>
              <a:ext uri="{FF2B5EF4-FFF2-40B4-BE49-F238E27FC236}">
                <a16:creationId xmlns:a16="http://schemas.microsoft.com/office/drawing/2014/main" id="{3E895756-4AE9-41E8-9ACB-4BE882A4397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>
            <a:extLst>
              <a:ext uri="{FF2B5EF4-FFF2-40B4-BE49-F238E27FC236}">
                <a16:creationId xmlns:a16="http://schemas.microsoft.com/office/drawing/2014/main" id="{0A715A45-5E25-4064-8D8A-36051B0B0DC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>
            <a:extLst>
              <a:ext uri="{FF2B5EF4-FFF2-40B4-BE49-F238E27FC236}">
                <a16:creationId xmlns:a16="http://schemas.microsoft.com/office/drawing/2014/main" id="{EE5200EF-AADE-4BEF-B497-DBACCD30088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>
            <a:extLst>
              <a:ext uri="{FF2B5EF4-FFF2-40B4-BE49-F238E27FC236}">
                <a16:creationId xmlns:a16="http://schemas.microsoft.com/office/drawing/2014/main" id="{E715B03C-C518-405C-9818-1D30EA91CF20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09" name="Título del contenido S21">
            <a:extLst>
              <a:ext uri="{FF2B5EF4-FFF2-40B4-BE49-F238E27FC236}">
                <a16:creationId xmlns:a16="http://schemas.microsoft.com/office/drawing/2014/main" id="{B0D81D13-8B8D-4440-9F14-FBF52C13841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con Kestrel</a:t>
            </a:r>
          </a:p>
        </p:txBody>
      </p:sp>
      <p:sp>
        <p:nvSpPr>
          <p:cNvPr id="410" name="Texto del contenido S21">
            <a:extLst>
              <a:ext uri="{FF2B5EF4-FFF2-40B4-BE49-F238E27FC236}">
                <a16:creationId xmlns:a16="http://schemas.microsoft.com/office/drawing/2014/main" id="{7E0F96F8-B1AC-4B1B-8BC8-1B3A10BE0FA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Primero se inicia el servicio WCF en IIS Express. Después se ejecuta dotnet run en el cliente web y se abre http://localhost:5080.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006F5A-C74F-AB79-E7CC-834AF680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64" y="1952625"/>
            <a:ext cx="5172797" cy="18766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3E6F1ED-D081-FA0F-079C-D10FA07E4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99" y="4238625"/>
            <a:ext cx="5763701" cy="13420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5353B0-8BFA-78D9-5357-E4DD33CC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929" y="4078250"/>
            <a:ext cx="2661146" cy="21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9782968e5_0_135">
            <a:extLst>
              <a:ext uri="{FF2B5EF4-FFF2-40B4-BE49-F238E27FC236}">
                <a16:creationId xmlns:a16="http://schemas.microsoft.com/office/drawing/2014/main" id="{CB4A8B47-BE48-4A97-A917-167192DC5E2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Fondo blanco del contenido S22">
            <a:extLst>
              <a:ext uri="{FF2B5EF4-FFF2-40B4-BE49-F238E27FC236}">
                <a16:creationId xmlns:a16="http://schemas.microsoft.com/office/drawing/2014/main" id="{A64DE1DF-1F79-4094-88CE-679CC40D0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>
            <a:extLst>
              <a:ext uri="{FF2B5EF4-FFF2-40B4-BE49-F238E27FC236}">
                <a16:creationId xmlns:a16="http://schemas.microsoft.com/office/drawing/2014/main" id="{DB7037E4-68DE-47C2-A46E-66CDB2A7E4E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>
            <a:extLst>
              <a:ext uri="{FF2B5EF4-FFF2-40B4-BE49-F238E27FC236}">
                <a16:creationId xmlns:a16="http://schemas.microsoft.com/office/drawing/2014/main" id="{F1B2D875-6CE0-4854-88C7-2830773036F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>
            <a:extLst>
              <a:ext uri="{FF2B5EF4-FFF2-40B4-BE49-F238E27FC236}">
                <a16:creationId xmlns:a16="http://schemas.microsoft.com/office/drawing/2014/main" id="{68DD59A8-F1E2-4659-B216-2E9BF1FE4E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>
            <a:extLst>
              <a:ext uri="{FF2B5EF4-FFF2-40B4-BE49-F238E27FC236}">
                <a16:creationId xmlns:a16="http://schemas.microsoft.com/office/drawing/2014/main" id="{8242EAB0-7429-4545-8F3D-50732E6DCC1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>
            <a:extLst>
              <a:ext uri="{FF2B5EF4-FFF2-40B4-BE49-F238E27FC236}">
                <a16:creationId xmlns:a16="http://schemas.microsoft.com/office/drawing/2014/main" id="{0C527865-BC8E-4C36-A6D5-7A70E429534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19" name="Título del contenido S22">
            <a:extLst>
              <a:ext uri="{FF2B5EF4-FFF2-40B4-BE49-F238E27FC236}">
                <a16:creationId xmlns:a16="http://schemas.microsoft.com/office/drawing/2014/main" id="{6E8D1C57-FA02-41FC-B14A-CC31E2256F8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 web</a:t>
            </a:r>
          </a:p>
        </p:txBody>
      </p:sp>
      <p:sp>
        <p:nvSpPr>
          <p:cNvPr id="420" name="Texto del contenido S22">
            <a:extLst>
              <a:ext uri="{FF2B5EF4-FFF2-40B4-BE49-F238E27FC236}">
                <a16:creationId xmlns:a16="http://schemas.microsoft.com/office/drawing/2014/main" id="{8D0E4F10-EECF-4A05-88AE-DDF5ABF5FE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AccesoController invoca autenticar y guarda el token en la sesión HTTP (cookie HttpOnly, SameSite=Strict). SesionWeb protege las rutas privadas.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F92935-FCE2-C7E2-07AC-23DFF4BDF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5" y="3156424"/>
            <a:ext cx="5137668" cy="270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9782968e5_0_123">
            <a:extLst>
              <a:ext uri="{FF2B5EF4-FFF2-40B4-BE49-F238E27FC236}">
                <a16:creationId xmlns:a16="http://schemas.microsoft.com/office/drawing/2014/main" id="{66B363B7-452F-4E39-9220-1DB95D4B7AD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Fondo blanco del contenido S23">
            <a:extLst>
              <a:ext uri="{FF2B5EF4-FFF2-40B4-BE49-F238E27FC236}">
                <a16:creationId xmlns:a16="http://schemas.microsoft.com/office/drawing/2014/main" id="{D08937AF-4F1A-4523-8922-D64D96738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>
            <a:extLst>
              <a:ext uri="{FF2B5EF4-FFF2-40B4-BE49-F238E27FC236}">
                <a16:creationId xmlns:a16="http://schemas.microsoft.com/office/drawing/2014/main" id="{6B08D76A-F0F5-494E-B9BE-179A68DC05A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>
            <a:extLst>
              <a:ext uri="{FF2B5EF4-FFF2-40B4-BE49-F238E27FC236}">
                <a16:creationId xmlns:a16="http://schemas.microsoft.com/office/drawing/2014/main" id="{03D46EA4-0C3E-4B20-A778-513625981F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>
            <a:extLst>
              <a:ext uri="{FF2B5EF4-FFF2-40B4-BE49-F238E27FC236}">
                <a16:creationId xmlns:a16="http://schemas.microsoft.com/office/drawing/2014/main" id="{C2EF3113-66FC-4DE6-8EAF-8FEB4F3FBBC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>
            <a:extLst>
              <a:ext uri="{FF2B5EF4-FFF2-40B4-BE49-F238E27FC236}">
                <a16:creationId xmlns:a16="http://schemas.microsoft.com/office/drawing/2014/main" id="{5B170949-9AFA-4A27-AE76-720B400ED78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>
            <a:extLst>
              <a:ext uri="{FF2B5EF4-FFF2-40B4-BE49-F238E27FC236}">
                <a16:creationId xmlns:a16="http://schemas.microsoft.com/office/drawing/2014/main" id="{0BDCB881-C54E-4E8D-98F6-353609D62FE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27" name="Título del contenido S23">
            <a:extLst>
              <a:ext uri="{FF2B5EF4-FFF2-40B4-BE49-F238E27FC236}">
                <a16:creationId xmlns:a16="http://schemas.microsoft.com/office/drawing/2014/main" id="{79B794E5-A0B7-43E4-9C80-E187745A08C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Conversor web</a:t>
            </a:r>
          </a:p>
        </p:txBody>
      </p:sp>
      <p:sp>
        <p:nvSpPr>
          <p:cNvPr id="428" name="Texto del contenido S23">
            <a:extLst>
              <a:ext uri="{FF2B5EF4-FFF2-40B4-BE49-F238E27FC236}">
                <a16:creationId xmlns:a16="http://schemas.microsoft.com/office/drawing/2014/main" id="{BE2B1544-39EF-4F75-9185-DEADF766B1DA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usuario selecciona categoría y unidades, ingresa el valor y envía la conversión al servicio SOAP.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670421-AC96-963D-5881-9E096CAC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559" y="3429000"/>
            <a:ext cx="5899355" cy="307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1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>
            <a:extLst>
              <a:ext uri="{FF2B5EF4-FFF2-40B4-BE49-F238E27FC236}">
                <a16:creationId xmlns:a16="http://schemas.microsoft.com/office/drawing/2014/main" id="{F100B0FA-0D45-4CBF-9B86-20BC4457A60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Fondo blanco del contenido S24">
            <a:extLst>
              <a:ext uri="{FF2B5EF4-FFF2-40B4-BE49-F238E27FC236}">
                <a16:creationId xmlns:a16="http://schemas.microsoft.com/office/drawing/2014/main" id="{8AAD1CBB-272B-4CC8-B363-A9117DAAA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>
            <a:extLst>
              <a:ext uri="{FF2B5EF4-FFF2-40B4-BE49-F238E27FC236}">
                <a16:creationId xmlns:a16="http://schemas.microsoft.com/office/drawing/2014/main" id="{AF56F0A7-986E-4D23-8CCF-81CAEAD3CB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>
            <a:extLst>
              <a:ext uri="{FF2B5EF4-FFF2-40B4-BE49-F238E27FC236}">
                <a16:creationId xmlns:a16="http://schemas.microsoft.com/office/drawing/2014/main" id="{46C110C0-3A6B-47E7-9A9D-B992837C00A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>
            <a:extLst>
              <a:ext uri="{FF2B5EF4-FFF2-40B4-BE49-F238E27FC236}">
                <a16:creationId xmlns:a16="http://schemas.microsoft.com/office/drawing/2014/main" id="{24B3DB4D-B729-4AD2-93BE-82E36408417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>
            <a:extLst>
              <a:ext uri="{FF2B5EF4-FFF2-40B4-BE49-F238E27FC236}">
                <a16:creationId xmlns:a16="http://schemas.microsoft.com/office/drawing/2014/main" id="{17DF7B68-A40E-4A03-8865-17EB7D618A5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>
            <a:extLst>
              <a:ext uri="{FF2B5EF4-FFF2-40B4-BE49-F238E27FC236}">
                <a16:creationId xmlns:a16="http://schemas.microsoft.com/office/drawing/2014/main" id="{F1E10FFF-13CC-429F-B249-F15309F5DD47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39" name="Título del contenido S24">
            <a:extLst>
              <a:ext uri="{FF2B5EF4-FFF2-40B4-BE49-F238E27FC236}">
                <a16:creationId xmlns:a16="http://schemas.microsoft.com/office/drawing/2014/main" id="{062F9DEA-DD14-4465-9417-CD29B94E139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móvil .NET MAUI</a:t>
            </a:r>
          </a:p>
        </p:txBody>
      </p:sp>
      <p:sp>
        <p:nvSpPr>
          <p:cNvPr id="440" name="Texto del contenido S24">
            <a:extLst>
              <a:ext uri="{FF2B5EF4-FFF2-40B4-BE49-F238E27FC236}">
                <a16:creationId xmlns:a16="http://schemas.microsoft.com/office/drawing/2014/main" id="{D888977A-2A6C-450F-947A-861C8FF7AB1D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C# y .NET MAUI 10. Compila para Android (API 36) y deja configurado iOS, que solo compila en una Mac.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BD7B27-2F33-2D6C-F1A7-2D405ECAC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53" y="3999139"/>
            <a:ext cx="5889523" cy="167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11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d624313899_0_157">
            <a:extLst>
              <a:ext uri="{FF2B5EF4-FFF2-40B4-BE49-F238E27FC236}">
                <a16:creationId xmlns:a16="http://schemas.microsoft.com/office/drawing/2014/main" id="{A711369F-8A55-4163-8D0F-FE102980BC5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Fondo blanco del contenido S25">
            <a:extLst>
              <a:ext uri="{FF2B5EF4-FFF2-40B4-BE49-F238E27FC236}">
                <a16:creationId xmlns:a16="http://schemas.microsoft.com/office/drawing/2014/main" id="{4D6C8F5D-C850-45DE-84BD-E1D8E4610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>
            <a:extLst>
              <a:ext uri="{FF2B5EF4-FFF2-40B4-BE49-F238E27FC236}">
                <a16:creationId xmlns:a16="http://schemas.microsoft.com/office/drawing/2014/main" id="{CC5FC4A9-80F4-4A60-8370-B9315BA5C09C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>
            <a:extLst>
              <a:ext uri="{FF2B5EF4-FFF2-40B4-BE49-F238E27FC236}">
                <a16:creationId xmlns:a16="http://schemas.microsoft.com/office/drawing/2014/main" id="{61875E91-B130-4570-A7F0-643E87D27A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>
            <a:extLst>
              <a:ext uri="{FF2B5EF4-FFF2-40B4-BE49-F238E27FC236}">
                <a16:creationId xmlns:a16="http://schemas.microsoft.com/office/drawing/2014/main" id="{FAAFC002-C7FD-4302-8788-299E8A360B1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>
            <a:extLst>
              <a:ext uri="{FF2B5EF4-FFF2-40B4-BE49-F238E27FC236}">
                <a16:creationId xmlns:a16="http://schemas.microsoft.com/office/drawing/2014/main" id="{F02B3237-D721-445A-A2CE-6911459D9D3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>
            <a:extLst>
              <a:ext uri="{FF2B5EF4-FFF2-40B4-BE49-F238E27FC236}">
                <a16:creationId xmlns:a16="http://schemas.microsoft.com/office/drawing/2014/main" id="{9202EAD8-21A1-4D40-9DF6-BB0082D488D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46" name="Título del contenido S25">
            <a:extLst>
              <a:ext uri="{FF2B5EF4-FFF2-40B4-BE49-F238E27FC236}">
                <a16:creationId xmlns:a16="http://schemas.microsoft.com/office/drawing/2014/main" id="{33B885D6-0964-4F60-B871-681AB08C9F0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MVC en .NET MAUI</a:t>
            </a:r>
          </a:p>
        </p:txBody>
      </p:sp>
      <p:sp>
        <p:nvSpPr>
          <p:cNvPr id="447" name="Texto del contenido S25">
            <a:extLst>
              <a:ext uri="{FF2B5EF4-FFF2-40B4-BE49-F238E27FC236}">
                <a16:creationId xmlns:a16="http://schemas.microsoft.com/office/drawing/2014/main" id="{7DC4677D-4F3C-4637-A507-A0E20EE7866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modelo contiene sesión y respuestas. LoginPage y ConversionesPage presentan las vistas; los controladores coordinan acceso, catálogo y conversiones.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4A326C-49C9-8487-1878-413744405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987" y="2310581"/>
            <a:ext cx="2903037" cy="430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24313899_0_172">
            <a:extLst>
              <a:ext uri="{FF2B5EF4-FFF2-40B4-BE49-F238E27FC236}">
                <a16:creationId xmlns:a16="http://schemas.microsoft.com/office/drawing/2014/main" id="{2E9E6797-8BB8-47D4-B50D-F423DED0EFF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Fondo blanco del contenido S26">
            <a:extLst>
              <a:ext uri="{FF2B5EF4-FFF2-40B4-BE49-F238E27FC236}">
                <a16:creationId xmlns:a16="http://schemas.microsoft.com/office/drawing/2014/main" id="{D971DC92-B8DC-4031-B20C-58FDF04B9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>
            <a:extLst>
              <a:ext uri="{FF2B5EF4-FFF2-40B4-BE49-F238E27FC236}">
                <a16:creationId xmlns:a16="http://schemas.microsoft.com/office/drawing/2014/main" id="{49C14951-6456-42BC-B3FD-775AA79B139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>
            <a:extLst>
              <a:ext uri="{FF2B5EF4-FFF2-40B4-BE49-F238E27FC236}">
                <a16:creationId xmlns:a16="http://schemas.microsoft.com/office/drawing/2014/main" id="{DD5859FA-BAAD-4CA9-908C-C31A2C22F3B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>
            <a:extLst>
              <a:ext uri="{FF2B5EF4-FFF2-40B4-BE49-F238E27FC236}">
                <a16:creationId xmlns:a16="http://schemas.microsoft.com/office/drawing/2014/main" id="{B44B3B89-C150-49FE-82DB-5B9527E5747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>
            <a:extLst>
              <a:ext uri="{FF2B5EF4-FFF2-40B4-BE49-F238E27FC236}">
                <a16:creationId xmlns:a16="http://schemas.microsoft.com/office/drawing/2014/main" id="{8CD2E941-4D9A-423C-B53E-E2547F6C958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>
            <a:extLst>
              <a:ext uri="{FF2B5EF4-FFF2-40B4-BE49-F238E27FC236}">
                <a16:creationId xmlns:a16="http://schemas.microsoft.com/office/drawing/2014/main" id="{BE158337-47F4-43DE-815A-F1FE4355834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55" name="Título del contenido S26">
            <a:extLst>
              <a:ext uri="{FF2B5EF4-FFF2-40B4-BE49-F238E27FC236}">
                <a16:creationId xmlns:a16="http://schemas.microsoft.com/office/drawing/2014/main" id="{9A76324D-3B57-4E4D-AB20-6DD0AAACD84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SOAP para .NET MAUI</a:t>
            </a:r>
          </a:p>
        </p:txBody>
      </p:sp>
      <p:sp>
        <p:nvSpPr>
          <p:cNvPr id="456" name="Texto del contenido S26">
            <a:extLst>
              <a:ext uri="{FF2B5EF4-FFF2-40B4-BE49-F238E27FC236}">
                <a16:creationId xmlns:a16="http://schemas.microsoft.com/office/drawing/2014/main" id="{50725EFB-17BE-494F-AD97-D16F71C145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ClienteSoap arma el sobre SOAP 1.1 con LINQ to XML y lo envía con HttpClient de forma asíncrona, igual en Android e iOS.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4CB862-B960-FDD5-E03F-CACE99EC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16" y="3690674"/>
            <a:ext cx="5377748" cy="266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1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624313899_0_193">
            <a:extLst>
              <a:ext uri="{FF2B5EF4-FFF2-40B4-BE49-F238E27FC236}">
                <a16:creationId xmlns:a16="http://schemas.microsoft.com/office/drawing/2014/main" id="{20FDCADB-3D8C-4387-AB11-ED3102F172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Fondo blanco del contenido S27">
            <a:extLst>
              <a:ext uri="{FF2B5EF4-FFF2-40B4-BE49-F238E27FC236}">
                <a16:creationId xmlns:a16="http://schemas.microsoft.com/office/drawing/2014/main" id="{23DB77FC-2AAD-4775-B20D-E8D88D129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>
            <a:extLst>
              <a:ext uri="{FF2B5EF4-FFF2-40B4-BE49-F238E27FC236}">
                <a16:creationId xmlns:a16="http://schemas.microsoft.com/office/drawing/2014/main" id="{E2166A42-A45C-455E-8FFD-4EC468C6DE8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>
            <a:extLst>
              <a:ext uri="{FF2B5EF4-FFF2-40B4-BE49-F238E27FC236}">
                <a16:creationId xmlns:a16="http://schemas.microsoft.com/office/drawing/2014/main" id="{40B81B91-6483-4BD7-815F-75F0F1F708A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>
            <a:extLst>
              <a:ext uri="{FF2B5EF4-FFF2-40B4-BE49-F238E27FC236}">
                <a16:creationId xmlns:a16="http://schemas.microsoft.com/office/drawing/2014/main" id="{A1BE27F7-3D75-4519-ADBE-AD853C5E7D94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>
            <a:extLst>
              <a:ext uri="{FF2B5EF4-FFF2-40B4-BE49-F238E27FC236}">
                <a16:creationId xmlns:a16="http://schemas.microsoft.com/office/drawing/2014/main" id="{39393A65-58AC-4323-9C64-423C56600CE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>
            <a:extLst>
              <a:ext uri="{FF2B5EF4-FFF2-40B4-BE49-F238E27FC236}">
                <a16:creationId xmlns:a16="http://schemas.microsoft.com/office/drawing/2014/main" id="{AE7C23E2-BCDB-48DE-A7E8-64862E342E2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65" name="Título del contenido S27">
            <a:extLst>
              <a:ext uri="{FF2B5EF4-FFF2-40B4-BE49-F238E27FC236}">
                <a16:creationId xmlns:a16="http://schemas.microsoft.com/office/drawing/2014/main" id="{B9A9886D-99C8-4CEF-B216-8A526E51ED0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Pantallas móviles</a:t>
            </a:r>
          </a:p>
        </p:txBody>
      </p:sp>
      <p:sp>
        <p:nvSpPr>
          <p:cNvPr id="466" name="Texto del contenido S27">
            <a:extLst>
              <a:ext uri="{FF2B5EF4-FFF2-40B4-BE49-F238E27FC236}">
                <a16:creationId xmlns:a16="http://schemas.microsoft.com/office/drawing/2014/main" id="{3AA67702-DF98-438B-ACFC-57DF882775F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LoginPage permite acceder y recuperar la clave. ConversionesPage muestra el catálogo y el resultado de la operación.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C9D395-0128-F9C6-7F80-DBAAEA6EF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104" y="2000250"/>
            <a:ext cx="4360396" cy="31073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644E1F-9205-413E-1B3E-666714F7D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66" y="3553928"/>
            <a:ext cx="4891770" cy="297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49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6d00c5bd2_3_16">
            <a:extLst>
              <a:ext uri="{FF2B5EF4-FFF2-40B4-BE49-F238E27FC236}">
                <a16:creationId xmlns:a16="http://schemas.microsoft.com/office/drawing/2014/main" id="{4DB5DEDD-91A5-4E5C-9887-A1A8A0CE63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Fondo blanco del contenido S28">
            <a:extLst>
              <a:ext uri="{FF2B5EF4-FFF2-40B4-BE49-F238E27FC236}">
                <a16:creationId xmlns:a16="http://schemas.microsoft.com/office/drawing/2014/main" id="{0F8F7A9A-1844-4C9F-B713-F2B985E163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>
            <a:extLst>
              <a:ext uri="{FF2B5EF4-FFF2-40B4-BE49-F238E27FC236}">
                <a16:creationId xmlns:a16="http://schemas.microsoft.com/office/drawing/2014/main" id="{FB4CF74C-F1D6-431F-A9FF-E666C8BC942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>
            <a:extLst>
              <a:ext uri="{FF2B5EF4-FFF2-40B4-BE49-F238E27FC236}">
                <a16:creationId xmlns:a16="http://schemas.microsoft.com/office/drawing/2014/main" id="{4F034B58-AD51-445B-80BA-3F077058760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>
            <a:extLst>
              <a:ext uri="{FF2B5EF4-FFF2-40B4-BE49-F238E27FC236}">
                <a16:creationId xmlns:a16="http://schemas.microsoft.com/office/drawing/2014/main" id="{018701D4-EC3C-4D19-96B8-15621E90109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>
            <a:extLst>
              <a:ext uri="{FF2B5EF4-FFF2-40B4-BE49-F238E27FC236}">
                <a16:creationId xmlns:a16="http://schemas.microsoft.com/office/drawing/2014/main" id="{ED3511A2-3B59-4F5E-9C04-72D25F2CC752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>
            <a:extLst>
              <a:ext uri="{FF2B5EF4-FFF2-40B4-BE49-F238E27FC236}">
                <a16:creationId xmlns:a16="http://schemas.microsoft.com/office/drawing/2014/main" id="{D87B2D20-5A02-4B88-96F7-53558BBA22B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502" name="Título del contenido S28">
            <a:extLst>
              <a:ext uri="{FF2B5EF4-FFF2-40B4-BE49-F238E27FC236}">
                <a16:creationId xmlns:a16="http://schemas.microsoft.com/office/drawing/2014/main" id="{D2BEE5D1-4017-4B39-BFD7-64096248020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emulador o teléfono</a:t>
            </a:r>
          </a:p>
        </p:txBody>
      </p:sp>
      <p:sp>
        <p:nvSpPr>
          <p:cNvPr id="503" name="Texto del contenido S28">
            <a:extLst>
              <a:ext uri="{FF2B5EF4-FFF2-40B4-BE49-F238E27FC236}">
                <a16:creationId xmlns:a16="http://schemas.microsoft.com/office/drawing/2014/main" id="{A8D77F2B-F7D9-495C-B797-C2356D4C639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emulador usa 10.0.2.2:14028. IIS Express solo acepta el host localhost, por eso un teléfono se conecta mediante ngrok con --host-header.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309C6D-FDD1-8EE2-2C26-E71DEEB26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966" y="2009775"/>
            <a:ext cx="2431479" cy="43910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E4E2E8-7089-67CC-9844-17D9FAFFC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106" y="2009775"/>
            <a:ext cx="2237357" cy="45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>
            <a:extLst>
              <a:ext uri="{FF2B5EF4-FFF2-40B4-BE49-F238E27FC236}">
                <a16:creationId xmlns:a16="http://schemas.microsoft.com/office/drawing/2014/main" id="{283F3EE5-FC96-4487-B185-340D6D3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CONCLUSIONES</a:t>
            </a:r>
          </a:p>
        </p:txBody>
      </p:sp>
      <p:sp>
        <p:nvSpPr>
          <p:cNvPr id="503" name="Google Shape;503;p41">
            <a:extLst>
              <a:ext uri="{FF2B5EF4-FFF2-40B4-BE49-F238E27FC236}">
                <a16:creationId xmlns:a16="http://schemas.microsoft.com/office/drawing/2014/main" id="{681336E7-660A-4C0A-86FC-7A20E490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mismo contrato SOAP publicado por WCF sirve a cuatro clientes .NET: consola, WinForms, ASP.NET Core MVC y .NET MAUI.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>
            <a:extLst>
              <a:ext uri="{FF2B5EF4-FFF2-40B4-BE49-F238E27FC236}">
                <a16:creationId xmlns:a16="http://schemas.microsoft.com/office/drawing/2014/main" id="{777D9E80-39BB-4C10-8B65-DBA15BBB2A9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69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>
            <a:extLst>
              <a:ext uri="{FF2B5EF4-FFF2-40B4-BE49-F238E27FC236}">
                <a16:creationId xmlns:a16="http://schemas.microsoft.com/office/drawing/2014/main" id="{04C8B163-DCCF-4FDD-9F6C-649F6077C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RECOMENDACIONES</a:t>
            </a:r>
          </a:p>
        </p:txBody>
      </p:sp>
      <p:sp>
        <p:nvSpPr>
          <p:cNvPr id="510" name="Google Shape;510;p42">
            <a:extLst>
              <a:ext uri="{FF2B5EF4-FFF2-40B4-BE49-F238E27FC236}">
                <a16:creationId xmlns:a16="http://schemas.microsoft.com/office/drawing/2014/main" id="{6CA3BCC0-3724-43D6-A0BB-5BAB9A53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el endpoint y las credenciales en Web.config, App.config y appsettings.json según cada entorno.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(BasicHttpSecurityMode.Transport) cuando el servicio salga de la red de laboratorio.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Regenerar el proxy y actualizar ContratoWcf.cs cuando cambie el contrato del servicio.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Publicar el servicio en IIS en lugar de IIS Express para que los dispositivos móviles no dependan de ngrok.</a:t>
            </a:r>
          </a:p>
        </p:txBody>
      </p:sp>
      <p:sp>
        <p:nvSpPr>
          <p:cNvPr id="511" name="Google Shape;511;p42">
            <a:extLst>
              <a:ext uri="{FF2B5EF4-FFF2-40B4-BE49-F238E27FC236}">
                <a16:creationId xmlns:a16="http://schemas.microsoft.com/office/drawing/2014/main" id="{27026B6E-6479-4996-9769-C4319FDF0B0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37806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2556</Words>
  <Application>Microsoft Office PowerPoint</Application>
  <DocSecurity>0</DocSecurity>
  <PresentationFormat>Widescreen</PresentationFormat>
  <Paragraphs>424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Dividendo</vt:lpstr>
      <vt:lpstr>MANUAL TÉCNICO CONVERSOR DE UNIDADES SOAP .NET</vt:lpstr>
      <vt:lpstr>PowerPoint Presentation</vt:lpstr>
      <vt:lpstr>DESARROLLO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Sebastián Parra</cp:lastModifiedBy>
  <cp:revision>12</cp:revision>
  <dcterms:created xsi:type="dcterms:W3CDTF">2026-10-23T21:16:53Z</dcterms:created>
  <dcterms:modified xsi:type="dcterms:W3CDTF">2026-10-26T22:47:38Z</dcterms:modified>
</cp:coreProperties>
</file>