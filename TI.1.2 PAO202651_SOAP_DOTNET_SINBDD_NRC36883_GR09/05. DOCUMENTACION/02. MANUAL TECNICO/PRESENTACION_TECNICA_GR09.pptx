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12192000" cy="6858000"/>
  <p:notesSz cx="6858000" cy="9144000"/>
  <p:embeddedFontLst>
    <p:embeddedFont>
      <p:font typeface="Gill Sans" panose="020B0502020104020203"/>
      <p:regular r:id="rId37"/>
      <p:bold r:id="rId38"/>
    </p:embeddedFont>
    <p:embeddedFont>
      <p:font typeface="Cambria" panose="02040503050406030204"/>
      <p:regular r:id="rId39"/>
      <p:bold r:id="rId40"/>
      <p:italic r:id="rId41"/>
      <p:boldItalic r:id="rId42"/>
    </p:embeddedFont>
  </p:embeddedFontLst>
  <p:defaultTextStyle>
    <a:defPPr marR="0" algn="l">
      <a:lnSpc>
        <a:spcPct val="100000"/>
      </a:lnSpc>
      <a:spcBef>
        <a:spcPts val="0"/>
      </a:spcBef>
      <a:spcAft>
        <a:spcPts val="0"/>
      </a:spcAft>
      <a:buNone/>
    </a:defPPr>
    <a:lvl1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1pPr>
    <a:lvl2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2pPr>
    <a:lvl3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3pPr>
    <a:lvl4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4pPr>
    <a:lvl5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5pPr>
    <a:lvl6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6pPr>
    <a:lvl7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7pPr>
    <a:lvl8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8pPr>
    <a:lvl9pPr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buNone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2" Type="http://schemas.openxmlformats.org/officeDocument/2006/relationships/font" Target="fonts/font6.fntdata"/><Relationship Id="rId41" Type="http://schemas.openxmlformats.org/officeDocument/2006/relationships/font" Target="fonts/font5.fntdata"/><Relationship Id="rId40" Type="http://schemas.openxmlformats.org/officeDocument/2006/relationships/font" Target="fonts/font4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3.fntdata"/><Relationship Id="rId38" Type="http://schemas.openxmlformats.org/officeDocument/2006/relationships/font" Target="fonts/font2.fntdata"/><Relationship Id="rId37" Type="http://schemas.openxmlformats.org/officeDocument/2006/relationships/font" Target="fonts/font1.fntdata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portada.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alcance y canales.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ERS_CONVERSION_UNIDADES_SEGURIDAD_COMPLETA (1).docx, propósito y alcance.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WCF_CON_UNI_DOTNET_SOAP.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CLI_ESC_CON_UNI_DOTNET_SOAP.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CLI_WEB_CON_UNI_DOTNET_SOAP.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Fuente del contenido: README y código del proyecto CLI_MOV_CON_UNI_DOTNET_SOAP.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 los cuatro clientes y del servidor; 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Fuente del contenido: README del servidor; README de los cuatro clientes.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Diapositiva de título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5"/>
          <p:cNvSpPr>
            <a:spLocks noGrp="1"/>
          </p:cNvSpPr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" name="Google Shape;16;p45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 panose="020B0502020104020203"/>
              <a:buNone/>
              <a:defRPr sz="360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5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45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5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45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ítulo y objetos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6"/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3" name="Google Shape;23;p46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6"/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25" name="Google Shape;25;p46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6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6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Encabezado de sección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7"/>
          <p:cNvSpPr>
            <a:spLocks noGrp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0" name="Google Shape;30;p47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 panose="020B0502020104020203"/>
              <a:buNone/>
              <a:defRPr sz="3600" b="0" cap="none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7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47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7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7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Dos objetos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8"/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7" name="Google Shape;37;p48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8"/>
          <p:cNvSpPr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39" name="Google Shape;39;p48"/>
          <p:cNvSpPr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40" name="Google Shape;40;p48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48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8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ación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49"/>
          <p:cNvSpPr>
            <a:spLocks noGrp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5" name="Google Shape;45;p49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9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/>
        </p:txBody>
      </p:sp>
      <p:sp>
        <p:nvSpPr>
          <p:cNvPr id="47" name="Google Shape;47;p49"/>
          <p:cNvSpPr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48" name="Google Shape;48;p49"/>
          <p:cNvSpPr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Autofit/>
          </a:bodyPr>
          <a:lstStyle>
            <a:lvl1pPr marL="45720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/>
        </p:txBody>
      </p:sp>
      <p:sp>
        <p:nvSpPr>
          <p:cNvPr id="49" name="Google Shape;49;p49"/>
          <p:cNvSpPr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50" name="Google Shape;50;p49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9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9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Solo el título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50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50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0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  <p:sp>
        <p:nvSpPr>
          <p:cNvPr id="57" name="Google Shape;57;p50"/>
          <p:cNvSpPr>
            <a:spLocks noGrp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8" name="Google Shape;58;p50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En blanco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51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51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51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ido con título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2"/>
          <p:cNvSpPr>
            <a:spLocks noGrp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5" name="Google Shape;65;p52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 panose="020B0502020104020203"/>
              <a:buNone/>
              <a:defRPr sz="2000" b="0"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2"/>
          <p:cNvSpPr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indent="-32194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indent="-310515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67" name="Google Shape;67;p52"/>
          <p:cNvSpPr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/>
        </p:txBody>
      </p:sp>
      <p:sp>
        <p:nvSpPr>
          <p:cNvPr id="68" name="Google Shape;68;p52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52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52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Imagen con título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53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 panose="020B0502020104020203"/>
              <a:buNone/>
              <a:defRPr sz="2400" b="0"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53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53"/>
          <p:cNvSpPr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/>
        </p:txBody>
      </p:sp>
      <p:sp>
        <p:nvSpPr>
          <p:cNvPr id="75" name="Google Shape;75;p53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53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53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ítulo y texto vertical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4"/>
          <p:cNvSpPr>
            <a:spLocks noGrp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0" name="Google Shape;80;p54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54"/>
          <p:cNvSpPr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2194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82" name="Google Shape;82;p54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54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54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Título vertical y texto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5"/>
          <p:cNvSpPr>
            <a:spLocks noGrp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7" name="Google Shape;87;p55"/>
          <p:cNvSpPr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55"/>
          <p:cNvSpPr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indent="-33401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indent="-33401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/>
        </p:txBody>
      </p:sp>
      <p:sp>
        <p:nvSpPr>
          <p:cNvPr id="89" name="Google Shape;89;p55"/>
          <p:cNvSpPr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55"/>
          <p:cNvSpPr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55"/>
          <p:cNvSpPr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rgbClr val="2D58AC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4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 panose="020B0502020104020203"/>
              <a:buNone/>
              <a:defRPr sz="2800" b="0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lvl9pPr>
          </a:lstStyle>
          <a:p/>
        </p:txBody>
      </p:sp>
      <p:sp>
        <p:nvSpPr>
          <p:cNvPr id="7" name="Google Shape;7;p44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marL="457200" marR="0" indent="-33401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Noto Sans Symbols"/>
              <a:buChar char="◼"/>
              <a:defRPr sz="18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914400" marR="0" indent="-32194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Noto Sans Symbols"/>
              <a:buChar char="◼"/>
              <a:defRPr sz="16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1371600" marR="0" indent="-310515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1828800" marR="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2286000" marR="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2743200" marR="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3200400" marR="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3657600" marR="0" indent="-2984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4114800" marR="0" indent="-29845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Noto Sans Symbols"/>
              <a:buChar char="◼"/>
              <a:defRPr sz="1200" b="0" i="0" u="none" strike="noStrike" cap="none">
                <a:solidFill>
                  <a:schemeClr val="dk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/>
        </p:txBody>
      </p:sp>
      <p:sp>
        <p:nvSpPr>
          <p:cNvPr id="8" name="Google Shape;8;p44"/>
          <p:cNvSpPr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/>
        </p:txBody>
      </p:sp>
      <p:sp>
        <p:nvSpPr>
          <p:cNvPr id="9" name="Google Shape;9;p44"/>
          <p:cNvSpPr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/>
        </p:txBody>
      </p:sp>
      <p:sp>
        <p:nvSpPr>
          <p:cNvPr id="10" name="Google Shape;10;p44"/>
          <p:cNvSpPr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 panose="020B0604020202020204"/>
              <a:buNone/>
              <a:defRPr sz="900" b="0" i="0" u="none" strike="noStrike" cap="none">
                <a:solidFill>
                  <a:schemeClr val="accent2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/>
            </a:fld>
            <a:endParaRPr/>
          </a:p>
        </p:txBody>
      </p:sp>
      <p:sp>
        <p:nvSpPr>
          <p:cNvPr id="11" name="Google Shape;11;p44"/>
          <p:cNvSpPr>
            <a:spLocks noGrp="1"/>
          </p:cNvSpPr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" name="Google Shape;12;p44"/>
          <p:cNvSpPr>
            <a:spLocks noGrp="1"/>
          </p:cNvSpPr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" name="Google Shape;13;p44"/>
          <p:cNvSpPr>
            <a:spLocks noGrp="1"/>
          </p:cNvSpPr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buNone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1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1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7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8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"/>
          <p:cNvSpPr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 fontScale="90345"/>
          </a:bodyPr>
          <a:lstStyle/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 panose="020B0502020104020203"/>
              <a:buNone/>
            </a:pPr>
            <a:r>
              <a:rPr>
                <a:solidFill>
                  <a:schemeClr val="lt1"/>
                </a:solidFill>
              </a:rPr>
              <a:t>MANUAL TÉCNICO</a:t>
            </a:r>
            <a:endParaRPr>
              <a:solidFill>
                <a:schemeClr val="lt1"/>
              </a:solidFill>
            </a:endParaRP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 panose="020B0502020104020203"/>
              <a:buNone/>
            </a:pPr>
            <a:r>
              <a:rPr>
                <a:solidFill>
                  <a:schemeClr val="lt1"/>
                </a:solidFill>
              </a:rPr>
              <a:t>CONVERSOR DE UNIDADES</a:t>
            </a:r>
            <a:endParaRPr>
              <a:solidFill>
                <a:schemeClr val="lt1"/>
              </a:solidFill>
            </a:endParaRP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 panose="020B0502020104020203"/>
              <a:buNone/>
            </a:pPr>
            <a:r>
              <a:rPr>
                <a:solidFill>
                  <a:schemeClr val="lt1"/>
                </a:solidFill>
              </a:rPr>
              <a:t>SOAP .NET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97" name="Google Shape;97;p1"/>
          <p:cNvSpPr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r>
              <a:t>INTEGRANTES:  Parra Rosales Sebastián Enrique</a:t>
            </a:r>
            <a:endParaRPr b="1"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Sagnay Pilamunga Luis Eduardo</a:t>
            </a:r>
            <a:endParaRPr>
              <a:solidFill>
                <a:schemeClr val="lt1"/>
              </a:solidFill>
            </a:endParaRPr>
          </a:p>
          <a:p>
            <a:pPr marL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b="1">
                <a:solidFill>
                  <a:schemeClr val="lt1"/>
                </a:solidFill>
              </a:rPr>
              <a:t>Yépez Morán Jefferson David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"/>
          <p:cNvPicPr>
            <a:picLocks noChangeAspect="1"/>
          </p:cNvPicPr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319597" y="716302"/>
            <a:ext cx="11647502" cy="2193925"/>
          </a:xfrm>
          <a:prstGeom prst="rect">
            <a:avLst/>
          </a:prstGeom>
          <a:ln>
            <a:noFill/>
          </a:ln>
        </p:spPr>
      </p:pic>
      <p:sp>
        <p:nvSpPr>
          <p:cNvPr id="99" name="Google Shape;99;p1"/>
          <p:cNvSpPr>
            <a:spLocks noGrp="1"/>
          </p:cNvSpPr>
          <p:nvPr/>
        </p:nvSpPr>
        <p:spPr>
          <a:xfrm>
            <a:off x="7239000" y="5301806"/>
            <a:ext cx="4572000" cy="1235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FECHA:  08/10/2026</a:t>
            </a:r>
            <a:endParaRPr sz="1600" b="0" i="0" u="none" strike="noStrike" cap="none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  <a:p>
            <a:pPr marL="0" marR="0" lvl="0" indent="0" algn="l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Noto Sans Symbols"/>
              <a:buNone/>
            </a:pPr>
            <a:r>
              <a:rPr sz="1600" b="1" i="0" u="none" strike="noStrike" cap="none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ING: Eduardo Mauricio Campaña Ortega</a:t>
            </a:r>
            <a:endParaRPr sz="1600" b="1" i="0" u="none" strike="noStrike" cap="none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00" name="Google Shape;100;p1"/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 panose="020B0502020104020203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"/>
          <p:cNvSpPr>
            <a:spLocks noGrp="1"/>
          </p:cNvSpPr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 panose="020B0502020104020203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06" name="Google Shape;106;p2"/>
          <p:cNvSpPr>
            <a:spLocks noGrp="1"/>
          </p:cNvSpPr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lt1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07" name="Google Shape;107;p2"/>
          <p:cNvSpPr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 lnSpcReduction="10000"/>
          </a:bodyPr>
          <a:lstStyle/>
          <a:p>
            <a:pPr marL="306070" lvl="0" indent="-30607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DESARROLLO</a:t>
            </a:r>
            <a:endParaRPr>
              <a:solidFill>
                <a:schemeClr val="lt1"/>
              </a:solidFill>
            </a:endParaRPr>
          </a:p>
          <a:p>
            <a:pPr marL="629920" lvl="1" indent="-320040" algn="l">
              <a:lnSpc>
                <a:spcPct val="100000"/>
              </a:lnSpc>
              <a:spcBef>
                <a:spcPts val="870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629920" lvl="1" indent="-320040" algn="l">
              <a:lnSpc>
                <a:spcPct val="100000"/>
              </a:lnSpc>
              <a:spcBef>
                <a:spcPts val="870"/>
              </a:spcBef>
              <a:spcAft>
                <a:spcPts val="0"/>
              </a:spcAft>
              <a:buSzPts val="1472"/>
              <a:buChar char="◼"/>
            </a:pPr>
            <a:r>
              <a:rPr>
                <a:solidFill>
                  <a:schemeClr val="lt1"/>
                </a:solidFill>
              </a:rPr>
              <a:t>CREACIÓN DEL SERVIDOR SOAP EN .NET</a:t>
            </a:r>
            <a:endParaRPr>
              <a:solidFill>
                <a:schemeClr val="lt1"/>
              </a:solidFill>
            </a:endParaRPr>
          </a:p>
          <a:p>
            <a:pPr marL="629920" lvl="1" indent="-320040" algn="l">
              <a:lnSpc>
                <a:spcPct val="100000"/>
              </a:lnSpc>
              <a:spcBef>
                <a:spcPts val="870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CONSOLA</a:t>
            </a:r>
            <a:endParaRPr sz="1800">
              <a:solidFill>
                <a:schemeClr val="lt1"/>
              </a:solidFill>
            </a:endParaRPr>
          </a:p>
          <a:p>
            <a:pPr marL="629920" lvl="1" indent="-320040" algn="l">
              <a:lnSpc>
                <a:spcPct val="100000"/>
              </a:lnSpc>
              <a:spcBef>
                <a:spcPts val="870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ESCRITORIO</a:t>
            </a:r>
            <a:endParaRPr sz="1800">
              <a:solidFill>
                <a:schemeClr val="lt1"/>
              </a:solidFill>
            </a:endParaRPr>
          </a:p>
          <a:p>
            <a:pPr marL="629920" lvl="1" indent="-320040" algn="l">
              <a:lnSpc>
                <a:spcPct val="100000"/>
              </a:lnSpc>
              <a:spcBef>
                <a:spcPts val="870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WEB</a:t>
            </a:r>
            <a:endParaRPr sz="1800">
              <a:solidFill>
                <a:schemeClr val="lt1"/>
              </a:solidFill>
            </a:endParaRPr>
          </a:p>
          <a:p>
            <a:pPr marL="629920" lvl="1" indent="-320040" algn="l">
              <a:lnSpc>
                <a:spcPct val="100000"/>
              </a:lnSpc>
              <a:spcBef>
                <a:spcPts val="870"/>
              </a:spcBef>
              <a:spcAft>
                <a:spcPts val="0"/>
              </a:spcAft>
              <a:buSzPts val="1472"/>
              <a:buChar char="◼"/>
            </a:pPr>
            <a:r>
              <a:rPr sz="1800">
                <a:solidFill>
                  <a:schemeClr val="lt1"/>
                </a:solidFill>
              </a:rPr>
              <a:t>CREACIÓN DEL PROYECTO – CLIENTE MÓVIL</a:t>
            </a:r>
            <a:endParaRPr sz="1800">
              <a:solidFill>
                <a:schemeClr val="lt1"/>
              </a:solidFill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905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CONCLUSIONES</a:t>
            </a:r>
            <a:endParaRPr>
              <a:solidFill>
                <a:schemeClr val="lt1"/>
              </a:solidFill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905"/>
              </a:spcBef>
              <a:spcAft>
                <a:spcPts val="0"/>
              </a:spcAft>
              <a:buSzPts val="1656"/>
              <a:buChar char="◼"/>
            </a:pPr>
            <a:r>
              <a:rPr>
                <a:solidFill>
                  <a:schemeClr val="lt1"/>
                </a:solidFill>
              </a:rPr>
              <a:t>RECOMENDACIONES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9" name="Google Shape;109;p2"/>
          <p:cNvSpPr>
            <a:spLocks noGrp="1"/>
          </p:cNvSpPr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 panose="020B0502020104020203"/>
              <a:buNone/>
            </a:pPr>
            <a:r>
              <a:rPr sz="2000" b="0" i="0" u="none" strike="noStrike" cap="none">
                <a:solidFill>
                  <a:srgbClr val="0000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4505" y="1665605"/>
            <a:ext cx="7671435" cy="372046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 panose="020B0502020104020203"/>
              <a:buNone/>
            </a:pPr>
            <a:r>
              <a:t>DESARROLLO</a:t>
            </a:r>
          </a:p>
        </p:txBody>
      </p:sp>
      <p:sp>
        <p:nvSpPr>
          <p:cNvPr id="115" name="Google Shape;115;p3"/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441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342900" marR="0" lvl="0" indent="-34290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Char char="∙"/>
            </a:pPr>
            <a:r>
              <a:rPr>
                <a:latin typeface="Cambria" panose="02040503050406030204"/>
                <a:ea typeface="Cambria" panose="02040503050406030204"/>
                <a:cs typeface="Cambria" panose="02040503050406030204"/>
              </a:rPr>
              <a:t>1.1  OBJETIVO</a:t>
            </a:r>
            <a:endParaRPr>
              <a:latin typeface="Cambria" panose="02040503050406030204"/>
              <a:ea typeface="Cambria" panose="02040503050406030204"/>
              <a:cs typeface="Cambria" panose="02040503050406030204"/>
            </a:endParaRPr>
          </a:p>
          <a:p>
            <a:pPr marL="342900" marR="0" lvl="0" indent="-23749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Noto Sans Symbols"/>
              <a:buNone/>
            </a:pPr>
            <a:endParaRPr sz="1800">
              <a:latin typeface="Cambria" panose="02040503050406030204"/>
              <a:ea typeface="Cambria" panose="02040503050406030204"/>
              <a:cs typeface="Cambria" panose="02040503050406030204"/>
            </a:endParaRPr>
          </a:p>
          <a:p>
            <a:pPr marL="457200" lvl="0" indent="-33401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>
                <a:latin typeface="Cambria" panose="02040503050406030204"/>
                <a:ea typeface="Cambria" panose="02040503050406030204"/>
                <a:cs typeface="Cambria" panose="02040503050406030204"/>
              </a:rPr>
              <a:t>Implementar un servicio SOAP con WCF en .NET que centralice la autenticación, el catálogo y las conversiones de longitud, masa y temperatura, para que los clientes de consola, escritorio, web y móvil utilicen el mismo backend sin base de datos.</a:t>
            </a:r>
            <a:endParaRPr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16" name="Google Shape;116;p3"/>
          <p:cNvSpPr>
            <a:spLocks noGrp="1"/>
          </p:cNvSpPr>
          <p:nvPr/>
        </p:nvSpPr>
        <p:spPr>
          <a:xfrm>
            <a:off x="9383697" y="0"/>
            <a:ext cx="2808303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d6d00c5bd2_0_0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4" name="Fondo blanco del contenido S4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5" name="Franja superior azul S4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6" name="Acento superior 1 S4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7" name="Acento superior 2 S4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8" name="Acento superior 3 S4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9" name="Título de sección S4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30" name="Título del contenido S4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Servidor SOAP en .NET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31" name="Texto del contenido S4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servicio WCF se aloja en WSConUni.svc sobre .NET Framework 4.7.2. IIS Express lo publica en el puerto 14028 junto con su WSDL.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1100" y="2533392"/>
            <a:ext cx="3581900" cy="37152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9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2" name="Fondo blanco del contenido S5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3" name="Franja superior azul S5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4" name="Acento superior 1 S5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5" name="Acento superior 2 S5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6" name="Acento superior 3 S5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7" name="Título de sección S5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48" name="Título del contenido S5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Contrato WSDL y operaciones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49" name="Texto del contenido S5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IWSConUni define autenticar, recuperarClave, obtenerCategorias, obtenerUnidades y convertir sobre basicHttpBinding (SOAP 1.1). Las respuestas incluyen estado, código y mensaje.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5538" y="2038350"/>
            <a:ext cx="4812549" cy="293178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0617" y="3943160"/>
            <a:ext cx="2600883" cy="277761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d624313899_0_5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1" name="Fondo blanco del contenido S6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2" name="Franja superior azul S6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3" name="Acento superior 1 S6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4" name="Acento superior 2 S6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5" name="Acento superior 3 S6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6" name="Título de sección S6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57" name="Título del contenido S6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lang="es-EC"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Clases </a:t>
            </a: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del servidor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58" name="Texto del contenido S6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WSConUni recibe las solicitudes SOAP y delega las reglas en ConversorUnidadesServices. Respuesta normaliza resultados y errores. No se usa base de datos.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2466975"/>
            <a:ext cx="4472940" cy="35706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d624313899_0_26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67" name="Fondo blanco del contenido S7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8" name="Franja superior azul S7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9" name="Acento superior 1 S7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0" name="Acento superior 2 S7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1" name="Acento superior 3 S7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2" name="Título de sección S7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73" name="Título del contenido S7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Autenticación y sesión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74" name="Texto del contenido S7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servidor valida el token antes de consultar o convertir. La sesión vence a los 15 minutos; usuario, clave y duración se configuran en Web.config.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4388" y="2209800"/>
            <a:ext cx="4669112" cy="2434098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824" y="4643898"/>
            <a:ext cx="7621064" cy="203863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624313899_0_71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91" name="Fondo blanco del contenido S8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2" name="Franja superior azul S8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3" name="Acento superior 1 S8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4" name="Acento superior 2 S8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5" name="Acento superior 3 S8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6" name="Título de sección S8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197" name="Título del contenido S8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Pruebas implementadas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198" name="Texto del contenido S8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PruebaServicioUnidades verifica conversiones, códigos de error, sesiones, recuperación de clave y metadatos WSDL. Se ejecuta con Ejecutar-Pruebas.ps1.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0554" y="3404770"/>
            <a:ext cx="5102229" cy="19725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624313899_0_51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23" name="Fondo blanco del contenido S9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4" name="Franja superior azul S9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5" name="Acento superior 1 S9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6" name="Acento superior 2 S9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7" name="Acento superior 3 S9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8" name="Título de sección S9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229" name="Título del contenido S9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Cliente de consola .NET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30" name="Texto del contenido S9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Aplicación .NET Framework 4.7.2. ContratoWcf.cs replica la interfaz del servidor y MainConsola toma el endpoint de App.config o del primer argumento.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969" y="3922586"/>
            <a:ext cx="9016180" cy="184571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d624313899_0_95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42" name="Fondo blanco del contenido S10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3" name="Franja superior azul S10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4" name="Acento superior 1 S10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5" name="Acento superior 2 S10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6" name="Acento superior 3 S10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7" name="Título de sección S10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248" name="Título del contenido S10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Controlador y adaptador SOAP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49" name="Texto del contenido S10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ControladorConsola administra el flujo y la sesión. ClienteSoap crea un ChannelFactory con BasicHttpBinding y normaliza las respuestas en RespuestaSoap.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3228" y="2252662"/>
            <a:ext cx="5019473" cy="28627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27" y="4076673"/>
            <a:ext cx="4146923" cy="23821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624313899_0_111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1" name="Fondo blanco del contenido S11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2" name="Franja superior azul S11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3" name="Acento superior 1 S11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4" name="Acento superior 2 S11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5" name="Acento superior 3 S11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56" name="Título de sección S11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257" name="Título del contenido S11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Menú y flujo de conversión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58" name="Texto del contenido S11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La consola permite acceder, consultar categorías y unidades, convertir, cerrar la sesión y recuperar la clave. El flujo solicita categoría, origen, destino y valor.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2324" y="3261419"/>
            <a:ext cx="4862179" cy="26225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d624313899_0_138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9" name="Fondo blanco del contenido S12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0" name="Franja superior azul S12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1" name="Acento superior 1 S12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2" name="Acento superior 2 S12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3" name="Acento superior 3 S12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4" name="Título de sección S12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265" name="Título del contenido S12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Ejecución en terminal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66" name="Texto del contenido S12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cliente se inicia después de levantar el servicio en IIS Express. Si cambia el puerto, se ajusta App.config o se pasa la URL como argumento.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2245" y="3601920"/>
            <a:ext cx="5021255" cy="218977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7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70" name="Fondo blanco del contenido S13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1" name="Franja superior azul S13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2" name="Acento superior 1 S13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3" name="Acento superior 2 S13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4" name="Acento superior 3 S13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75" name="Título de sección S13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276" name="Título del contenido S13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Cliente de escritorio WinForms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277" name="Texto del contenido S13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Aplicación C# WinForms en .NET Framework 4.7.2. El proxy WSConUniClient se generó con SvcUtil desde el WSDL guardado en Connected Services.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4" y="4184456"/>
            <a:ext cx="8943975" cy="21734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1974b856cc_0_109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03" name="Fondo blanco del contenido S14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4" name="Franja superior azul S14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5" name="Acento superior 1 S14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6" name="Acento superior 2 S14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7" name="Acento superior 3 S14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08" name="Título de sección S14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09" name="Título del contenido S14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Organización MVC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10" name="Texto del contenido S14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cliente separa vista, controlador, modelo y servicio. GestorVentanas coordina el cambio entre la ventana de acceso y la de conversión.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3814" y="2271599"/>
            <a:ext cx="2114845" cy="161947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8476" y="4069705"/>
            <a:ext cx="7250676" cy="260966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1974b856cc_0_128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11" name="Fondo blanco del contenido S15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2" name="Franja superior azul S15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3" name="Acento superior 1 S15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4" name="Acento superior 2 S15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5" name="Acento superior 3 S15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16" name="Título de sección S15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17" name="Título del contenido S15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Vistas WinForms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18" name="Texto del contenido S15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LoginForm gestiona el acceso y la recuperación de clave. ConversionForm presenta el catálogo y los campos de conversión; EstilosUI aplica la paleta.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43260" y="2738340"/>
            <a:ext cx="4303977" cy="219745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31974b856cc_0_137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19" name="Fondo blanco del contenido S16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0" name="Franja superior azul S16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1" name="Acento superior 1 S16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2" name="Acento superior 2 S16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3" name="Acento superior 3 S16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24" name="Título de sección S16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25" name="Título del contenido S16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Inicio de sesión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26" name="Texto del contenido S16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ControladorLogin envía las credenciales al servidor. Si la respuesta es correcta, guarda el token en memoria y abre ConversionForm.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29346" y="3536234"/>
            <a:ext cx="5133307" cy="29963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d6d00c5bd2_2_19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37" name="Fondo blanco del contenido S17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8" name="Franja superior azul S17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39" name="Acento superior 1 S17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0" name="Acento superior 2 S17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1" name="Acento superior 3 S17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2" name="Título de sección S17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43" name="Título del contenido S17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Pantalla de conversión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44" name="Texto del contenido S17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Las llamadas SOAP se ejecutan con Task.Run para no bloquear la ventana. El controlador envía el valor y presenta el resultado o el error recibido.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78211" y="3569859"/>
            <a:ext cx="5184789" cy="292434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32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45" name="Fondo blanco del contenido S18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6" name="Franja superior azul S18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7" name="Acento superior 1 S18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8" name="Acento superior 2 S18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49" name="Acento superior 3 S18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0" name="Título de sección S18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51" name="Título del contenido S18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Cliente web ASP.NET Core MVC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52" name="Texto del contenido S18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Aplicación ASP.NET Core MVC en .NET 10. ClienteSoap usa ChannelFactory y BasicHttpBinding; el endpoint se define en appsettings.json.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59269" y="2000250"/>
            <a:ext cx="2151233" cy="4648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19782968e5_0_88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79" name="Fondo blanco del contenido S19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0" name="Franja superior azul S19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1" name="Acento superior 1 S19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2" name="Acento superior 2 S19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3" name="Acento superior 3 S19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4" name="Título de sección S19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85" name="Título del contenido S19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Controladores y sesión HTTP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86" name="Texto del contenido S19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AccesoController gestiona acceso, recuperación y salida; ConversorController, el catálogo y las conversiones. El token vive en la sesión HTTP y los POST usan token antifalsificación.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1661" y="2466975"/>
            <a:ext cx="5040518" cy="244773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72" y="4831635"/>
            <a:ext cx="5662728" cy="180029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19782968e5_0_73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7" name="Fondo blanco del contenido S20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8" name="Franja superior azul S20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89" name="Acento superior 1 S20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0" name="Acento superior 2 S20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1" name="Acento superior 3 S20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92" name="Título de sección S20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393" name="Título del contenido S20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Vistas Razor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394" name="Texto del contenido S20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Login.cshtml y Recuperar.cshtml reciben las credenciales. Conversor/Index.cshtml presenta las categorías, unidades, formulario y respuesta.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01865" y="1814392"/>
            <a:ext cx="4959895" cy="229527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92" y="4123829"/>
            <a:ext cx="5664453" cy="254654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19782968e5_0_112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03" name="Fondo blanco del contenido S21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4" name="Franja superior azul S21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5" name="Acento superior 1 S21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6" name="Acento superior 2 S21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7" name="Acento superior 3 S21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08" name="Título de sección S21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09" name="Título del contenido S21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Ejecución con Kestrel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10" name="Texto del contenido S21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Primero se inicia el servicio WCF en IIS Express. Después se ejecuta dotnet run en el cliente web y se abre http://localhost:5080.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9264" y="1952625"/>
            <a:ext cx="5172797" cy="1876687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299" y="4238625"/>
            <a:ext cx="5763701" cy="1342048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929" y="4078250"/>
            <a:ext cx="2661146" cy="217015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19782968e5_0_135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13" name="Fondo blanco del contenido S22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4" name="Franja superior azul S22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5" name="Acento superior 1 S22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6" name="Acento superior 2 S22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7" name="Acento superior 3 S22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18" name="Título de sección S22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19" name="Título del contenido S22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Acceso web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20" name="Texto del contenido S22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AccesoController invoca autenticar y guarda el token en la sesión HTTP (cookie HttpOnly, SameSite=Strict). SesionWeb protege las rutas privadas.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43375" y="3156424"/>
            <a:ext cx="5137668" cy="270145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19782968e5_0_123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21" name="Fondo blanco del contenido S23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2" name="Franja superior azul S23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3" name="Acento superior 1 S23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4" name="Acento superior 2 S23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5" name="Acento superior 3 S23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26" name="Título de sección S23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27" name="Título del contenido S23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Conversor web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28" name="Texto del contenido S23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usuario selecciona categoría y unidades, ingresa el valor y envía la conversión al servicio SOAP.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1559" y="3429000"/>
            <a:ext cx="5899355" cy="307900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7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33" name="Fondo blanco del contenido S24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4" name="Franja superior azul S24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5" name="Acento superior 1 S24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6" name="Acento superior 2 S24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7" name="Acento superior 3 S24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38" name="Título de sección S24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39" name="Título del contenido S24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Aplicación móvil .NET MAUI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40" name="Texto del contenido S24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cliente usa C# y .NET MAUI 10. Compila para Android (API 36) y deja configurado iOS, que solo compila en una Mac.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153" y="3999139"/>
            <a:ext cx="5889523" cy="167898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d624313899_0_157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40" name="Fondo blanco del contenido S25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1" name="Franja superior azul S25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2" name="Acento superior 1 S25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3" name="Acento superior 2 S25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4" name="Acento superior 3 S25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45" name="Título de sección S25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46" name="Título del contenido S25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MVC en .NET MAUI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47" name="Texto del contenido S25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modelo contiene sesión y respuestas. LoginPage y ConversionesPage presentan las vistas; los controladores coordinan acceso, catálogo y conversiones.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8987" y="2310581"/>
            <a:ext cx="2903037" cy="430050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d624313899_0_172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49" name="Fondo blanco del contenido S26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0" name="Franja superior azul S26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1" name="Acento superior 1 S26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2" name="Acento superior 2 S26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3" name="Acento superior 3 S26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54" name="Título de sección S26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55" name="Título del contenido S26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Cliente SOAP para .NET MAUI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56" name="Texto del contenido S26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ClienteSoap arma el sobre SOAP 1.1 con LINQ to XML y lo envía con HttpClient de forma asíncrona, igual en Android e iOS.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5816" y="3690674"/>
            <a:ext cx="5377748" cy="26672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2d624313899_0_193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59" name="Fondo blanco del contenido S27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0" name="Franja superior azul S27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1" name="Acento superior 1 S27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2" name="Acento superior 2 S27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3" name="Acento superior 3 S27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64" name="Título de sección S27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465" name="Título del contenido S27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Pantallas móviles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66" name="Texto del contenido S27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LoginPage permite acceder y recuperar la clave. ConversionesPage muestra el catálogo y el resultado de la operación.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3104" y="2000250"/>
            <a:ext cx="4360396" cy="3107356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166" y="3553928"/>
            <a:ext cx="4891770" cy="297697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2d6d00c5bd2_3_16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496" name="Fondo blanco del contenido S28"/>
          <p:cNvSpPr>
            <a:spLocks noGrp="1"/>
          </p:cNvSpPr>
          <p:nvPr/>
        </p:nvSpPr>
        <p:spPr>
          <a:xfrm>
            <a:off x="0" y="0"/>
            <a:ext cx="9382125" cy="68580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7" name="Franja superior azul S28"/>
          <p:cNvSpPr>
            <a:spLocks noGrp="1"/>
          </p:cNvSpPr>
          <p:nvPr/>
        </p:nvSpPr>
        <p:spPr>
          <a:xfrm>
            <a:off x="438150" y="609600"/>
            <a:ext cx="8943975" cy="1190625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8" name="Acento superior 1 S28"/>
          <p:cNvSpPr>
            <a:spLocks noGrp="1"/>
          </p:cNvSpPr>
          <p:nvPr/>
        </p:nvSpPr>
        <p:spPr>
          <a:xfrm>
            <a:off x="438150" y="457200"/>
            <a:ext cx="3705225" cy="95250"/>
          </a:xfrm>
          <a:prstGeom prst="rect">
            <a:avLst/>
          </a:prstGeom>
          <a:solidFill>
            <a:srgbClr val="1A3260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99" name="Acento superior 2 S28"/>
          <p:cNvSpPr>
            <a:spLocks noGrp="1"/>
          </p:cNvSpPr>
          <p:nvPr/>
        </p:nvSpPr>
        <p:spPr>
          <a:xfrm>
            <a:off x="4238625" y="457200"/>
            <a:ext cx="3705225" cy="95250"/>
          </a:xfrm>
          <a:prstGeom prst="rect">
            <a:avLst/>
          </a:prstGeom>
          <a:solidFill>
            <a:srgbClr val="4A94B8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0" name="Acento superior 3 S28"/>
          <p:cNvSpPr>
            <a:spLocks noGrp="1"/>
          </p:cNvSpPr>
          <p:nvPr/>
        </p:nvSpPr>
        <p:spPr>
          <a:xfrm>
            <a:off x="8039100" y="457200"/>
            <a:ext cx="1343025" cy="95250"/>
          </a:xfrm>
          <a:prstGeom prst="rect">
            <a:avLst/>
          </a:prstGeom>
          <a:solidFill>
            <a:srgbClr val="9AA3AA"/>
          </a:solidFill>
          <a:ln w="0">
            <a:noFill/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01" name="Título de sección S28"/>
          <p:cNvSpPr>
            <a:spLocks noGrp="1"/>
          </p:cNvSpPr>
          <p:nvPr/>
        </p:nvSpPr>
        <p:spPr>
          <a:xfrm>
            <a:off x="666750" y="1019175"/>
            <a:ext cx="8286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defPPr>
            <a:lvl1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1pPr>
            <a:lvl2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2pPr>
            <a:lvl3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3pPr>
            <a:lvl4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4pPr>
            <a:lvl5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5pPr>
            <a:lvl6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6pPr>
            <a:lvl7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7pPr>
            <a:lvl8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8pPr>
            <a:lvl9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lvl9pPr>
          </a:lstStyle>
          <a:p>
            <a:pPr>
              <a:def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defRPr>
            </a:pPr>
            <a:r>
              <a:rPr sz="2800">
                <a:solidFill>
                  <a:srgbClr val="FFFFFF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2800">
              <a:solidFill>
                <a:srgbClr val="FFFFFF"/>
              </a:solidFill>
              <a:latin typeface="Gill Sans" panose="020B0502020104020203"/>
              <a:ea typeface="Gill Sans" panose="020B0502020104020203"/>
              <a:cs typeface="Gill Sans" panose="020B0502020104020203"/>
            </a:endParaRPr>
          </a:p>
        </p:txBody>
      </p:sp>
      <p:sp>
        <p:nvSpPr>
          <p:cNvPr id="502" name="Título del contenido S28"/>
          <p:cNvSpPr>
            <a:spLocks noGrp="1"/>
          </p:cNvSpPr>
          <p:nvPr/>
        </p:nvSpPr>
        <p:spPr>
          <a:xfrm>
            <a:off x="666750" y="2038350"/>
            <a:ext cx="809625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950" b="1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Ejecución en emulador o teléfono</a:t>
            </a:r>
            <a:endParaRPr sz="1950" b="1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503" name="Texto del contenido S28"/>
          <p:cNvSpPr>
            <a:spLocks noGrp="1"/>
          </p:cNvSpPr>
          <p:nvPr/>
        </p:nvSpPr>
        <p:spPr>
          <a:xfrm>
            <a:off x="666750" y="2619375"/>
            <a:ext cx="3714750" cy="3238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defPPr>
            <a:lvl1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1pPr>
            <a:lvl2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2pPr>
            <a:lvl3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3pPr>
            <a:lvl4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4pPr>
            <a:lvl5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5pPr>
            <a:lvl6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6pPr>
            <a:lvl7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7pPr>
            <a:lvl8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8pPr>
            <a:lvl9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lvl9pPr>
          </a:lstStyle>
          <a:p>
            <a:pPr>
              <a:def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defRPr>
            </a:pPr>
            <a:r>
              <a:rPr sz="1575">
                <a:solidFill>
                  <a:srgbClr val="3D3D3D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El emulador usa 10.0.2.2:14028. IIS Express solo acepta el host localhost, por eso un teléfono se conecta mediante ngrok con --host-header.</a:t>
            </a:r>
            <a:endParaRPr sz="1575">
              <a:solidFill>
                <a:srgbClr val="3D3D3D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95966" y="2009775"/>
            <a:ext cx="2431479" cy="439102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06" y="2009775"/>
            <a:ext cx="2237357" cy="452775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 panose="020B0502020104020203"/>
              <a:buNone/>
            </a:pPr>
            <a:r>
              <a:t>CONCLUSIONES</a:t>
            </a:r>
          </a:p>
        </p:txBody>
      </p:sp>
      <p:sp>
        <p:nvSpPr>
          <p:cNvPr id="503" name="Google Shape;503;p41"/>
          <p:cNvSpPr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 panose="02040503050406030204"/>
                <a:ea typeface="Cambria" panose="02040503050406030204"/>
                <a:cs typeface="Cambria" panose="02040503050406030204"/>
              </a:rPr>
              <a:t>El mismo contrato SOAP publicado por WCF sirve a cuatro clientes .NET: consola, WinForms, ASP.NET Core MVC y .NET MAUI. El servicio centraliza las reglas de autenticación, catálogo y conversión, por lo que los cálculos se ejecutan en el servidor y no se duplican en cada interfaz.</a:t>
            </a: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900"/>
          </a:p>
          <a:p>
            <a:pPr marL="0" marR="0" lvl="0" indent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sz="1900">
                <a:latin typeface="Cambria" panose="02040503050406030204"/>
                <a:ea typeface="Cambria" panose="02040503050406030204"/>
                <a:cs typeface="Cambria" panose="02040503050406030204"/>
              </a:rPr>
              <a:t>El proyecto funciona sin base de datos: las credenciales, las sesiones y el catálogo viven en memoria. Las sesiones vencen a los 15 minutos y un reinicio del servidor invalida los tokens.</a:t>
            </a:r>
            <a:endParaRPr sz="1900"/>
          </a:p>
        </p:txBody>
      </p:sp>
      <p:sp>
        <p:nvSpPr>
          <p:cNvPr id="504" name="Google Shape;504;p41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42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 panose="020B0502020104020203"/>
              <a:buNone/>
            </a:pPr>
            <a:r>
              <a:t>RECOMENDACIONES</a:t>
            </a:r>
          </a:p>
        </p:txBody>
      </p:sp>
      <p:sp>
        <p:nvSpPr>
          <p:cNvPr id="510" name="Google Shape;510;p42"/>
          <p:cNvSpPr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/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Configurar el endpoint y las credenciales en Web.config, App.config y appsettings.json según cada entorno.</a:t>
            </a:r>
            <a:endParaRPr sz="1900"/>
          </a:p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Usar HTTPS (BasicHttpSecurityMode.Transport) cuando el servicio salga de la red de laboratorio.</a:t>
            </a:r>
            <a:endParaRPr sz="1900"/>
          </a:p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Regenerar el proxy y actualizar ContratoWcf.cs cuando cambie el contrato del servicio.</a:t>
            </a:r>
            <a:endParaRPr sz="1900"/>
          </a:p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endParaRPr sz="1900"/>
          </a:p>
          <a:p>
            <a:pPr marL="457200" lvl="0" indent="-34036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56"/>
              <a:buChar char="◼"/>
            </a:pPr>
            <a:r>
              <a:rPr sz="1900"/>
              <a:t>Publicar el servicio en IIS en lugar de IIS Express para que los dispositivos móviles no dependan de ngrok.</a:t>
            </a:r>
            <a:endParaRPr sz="1900"/>
          </a:p>
        </p:txBody>
      </p:sp>
      <p:sp>
        <p:nvSpPr>
          <p:cNvPr id="511" name="Google Shape;511;p42"/>
          <p:cNvSpPr>
            <a:spLocks noGrp="1"/>
          </p:cNvSpPr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SERVIDOR </a:t>
            </a:r>
            <a:r>
              <a:rPr sz="1200" b="1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SOAP</a:t>
            </a:r>
            <a:endParaRPr sz="1400" b="0" i="0" u="none" strike="noStrike" cap="none">
              <a:solidFill>
                <a:schemeClr val="lt1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763270" marR="0" lvl="1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CREACIÓN DEL PROYECTO – CLIENTE MOVIL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chemeClr val="lt1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306070" marR="0" lvl="0" indent="-30607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Noto Sans Symbols"/>
              <a:buChar char="◼"/>
            </a:pPr>
            <a:r>
              <a:rPr sz="1200" b="1" i="0" u="none" strike="noStrike" cap="none">
                <a:solidFill>
                  <a:srgbClr val="FFFF00"/>
                </a:solidFill>
                <a:latin typeface="Gill Sans" panose="020B0502020104020203"/>
                <a:ea typeface="Gill Sans" panose="020B0502020104020203"/>
                <a:cs typeface="Gill Sans" panose="020B0502020104020203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marL="457200" marR="0" lvl="0" indent="0" algn="l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</a:pPr>
            <a:endParaRPr sz="14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12209</Words>
  <Application>WPS Presentation</Application>
  <PresentationFormat>Widescreen</PresentationFormat>
  <Paragraphs>505</Paragraphs>
  <Slides>30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1" baseType="lpstr">
      <vt:lpstr>Arial</vt:lpstr>
      <vt:lpstr>SimSun</vt:lpstr>
      <vt:lpstr>Wingdings</vt:lpstr>
      <vt:lpstr>Arial</vt:lpstr>
      <vt:lpstr>Gill Sans</vt:lpstr>
      <vt:lpstr>Noto Sans Symbols</vt:lpstr>
      <vt:lpstr>Segoe Print</vt:lpstr>
      <vt:lpstr>Cambria</vt:lpstr>
      <vt:lpstr>Microsoft YaHei</vt:lpstr>
      <vt:lpstr>Arial Unicode MS</vt:lpstr>
      <vt:lpstr>Dividendo</vt:lpstr>
      <vt:lpstr>SOAP .NET</vt:lpstr>
      <vt:lpstr>PowerPoint 演示文稿</vt:lpstr>
      <vt:lpstr>DESARROLLO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CONCLUSIONES</vt:lpstr>
      <vt:lpstr>RECOMENDACIONES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Sebas Parra</cp:lastModifiedBy>
  <cp:revision>13</cp:revision>
  <dcterms:created xsi:type="dcterms:W3CDTF">2026-10-23T21:16:00Z</dcterms:created>
  <dcterms:modified xsi:type="dcterms:W3CDTF">2026-10-27T14:32:02Z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2058-12.1.0.29162</vt:lpwstr>
  </property>
  <property fmtid="{D5CDD505-2E9C-101B-9397-08002B2CF9AE}" pid="3" name="ICV">
    <vt:lpwstr>CCF982D6EC24460A9E8F218592684D98_12</vt:lpwstr>
  </property>
</Properties>
</file>