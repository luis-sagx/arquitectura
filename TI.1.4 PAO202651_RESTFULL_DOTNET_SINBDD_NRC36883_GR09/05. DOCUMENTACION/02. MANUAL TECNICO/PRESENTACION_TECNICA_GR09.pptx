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" dt="2026-10-26T22:52:37.5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>
            <a:extLst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noGrp="1"/>
          </p:cNvSpPr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>
            <a:extLst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>
            <a:extLst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>
            <a:extLst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>
            <a:extLst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>
            <a:extLst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>
            <a:extLst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>
            <a:extLst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>
            <a:extLst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>
            <a:extLst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>
            <a:extLst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noGrp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>
            <a:extLst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>
            <a:extLst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>
            <a:extLst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>
            <a:extLst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>
            <a:extLst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>
            <a:extLst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>
            <a:extLst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>
            <a:extLst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>
            <a:extLst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>
            <a:extLst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>
            <a:extLst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>
            <a:extLst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>
            <a:extLst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>
            <a:extLst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>
            <a:extLst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>
            <a:extLst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>
            <a:extLst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>
            <a:extLst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>
            <a:extLst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>
            <a:extLst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>
            <a:extLst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57" name="Google Shape;57;p50">
            <a:extLst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noGrp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>
            <a:extLst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>
            <a:extLst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>
            <a:extLst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>
            <a:extLst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noGrp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>
            <a:extLst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>
            <a:extLst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>
            <a:extLst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>
            <a:extLst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>
            <a:extLst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>
            <a:extLst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>
            <a:extLst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>
            <a:extLst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>
            <a:extLst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>
            <a:extLst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>
            <a:extLst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>
            <a:extLst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>
            <a:extLst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>
            <a:extLst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>
            <a:extLst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>
            <a:extLst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>
            <a:extLst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noGrp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>
            <a:extLst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>
            <a:extLst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>
            <a:extLst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>
            <a:extLst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>
            <a:extLst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44">
            <a:extLst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8" name="Google Shape;8;p44">
            <a:extLst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9" name="Google Shape;9;p44">
            <a:extLst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10" name="Google Shape;10;p44">
            <a:extLst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" name="Google Shape;11;p44">
            <a:extLst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noGrp="1"/>
          </p:cNvSpPr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noGrp="1"/>
          </p:cNvSpPr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noGrp="1"/>
          </p:cNvSpPr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 fontScale="90345"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REST .NET</a:t>
            </a:r>
            <a:endParaRPr/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noGrp="1"/>
          </p:cNvSpPr>
          <p:nvPr/>
        </p:nvSpPr>
        <p:spPr>
          <a:xfrm>
            <a:off x="7239000" y="5301806"/>
            <a:ext cx="4572000" cy="1235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noGrp="1"/>
          </p:cNvSpPr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noGrp="1"/>
          </p:cNvSpPr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lnSpcReduction="10000"/>
          </a:bodyPr>
          <a:lstStyle/>
          <a:p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REST EN .NET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Marcador imagen S4">
            <a:extLst>
              <a:ext uri="{FF2B5EF4-FFF2-40B4-BE49-F238E27FC236}">
                <a16:creationId xmlns:a16="http://schemas.microsoft.com/office/drawing/2014/main" id="{9F244490-85CE-7173-9371-F53C43CA2979}"/>
              </a:ext>
            </a:extLst>
          </p:cNvPr>
          <p:cNvSpPr>
            <a:spLocks noGrp="1"/>
          </p:cNvSpPr>
          <p:nvPr/>
        </p:nvSpPr>
        <p:spPr>
          <a:xfrm>
            <a:off x="4714874" y="1071716"/>
            <a:ext cx="6700377" cy="4738534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lang="es-ES"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de arquitectura</a:t>
            </a:r>
            <a:endParaRPr sz="1275" b="1" dirty="0">
              <a:solidFill>
                <a:srgbClr val="1A3260"/>
              </a:solidFill>
              <a:latin typeface="Gill Sans"/>
              <a:ea typeface="Gill Sans"/>
              <a:cs typeface="Gill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92FAA9-9619-55FF-E3E1-8D2550732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899160"/>
            <a:ext cx="7487920" cy="534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339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>
            <a:extLst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15" name="Google Shape;115;p3">
            <a:extLst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una API REST con ASP.NET Core que centralice la autenticación, el catálogo y las conversiones de longitud, masa y temperatura, para que los clientes de consola, escritorio, web y móvil utilicen el mismo backend sin base de datos.</a:t>
            </a:r>
          </a:p>
        </p:txBody>
      </p:sp>
      <p:sp>
        <p:nvSpPr>
          <p:cNvPr id="116" name="Google Shape;116;p3">
            <a:extLst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d6d00c5bd2_0_0">
            <a:extLst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Fondo blanco del contenido S4">
            <a:extLst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5" name="Franja superior azul S4">
            <a:extLst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6" name="Acento superior 1 S4">
            <a:extLst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7" name="Acento superior 2 S4">
            <a:extLst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8" name="Acento superior 3 S4">
            <a:extLst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9" name="Título de sección S4">
            <a:extLst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REST en .NET</a:t>
            </a:r>
          </a:p>
        </p:txBody>
      </p:sp>
      <p:sp>
        <p:nvSpPr>
          <p:cNvPr id="131" name="Texto del contenido S4">
            <a:extLst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API se construye con ASP.NET Core Web API sobre .NET 10. Kestrel la publica en http://localhost:5111 bajo la ruta /api/ws-con-uni.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92CD25-1BBA-3470-92FE-D473953B0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2314080"/>
            <a:ext cx="3115110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35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>
            <a:extLst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Fondo blanco del contenido S5">
            <a:extLst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3" name="Franja superior azul S5">
            <a:extLst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4" name="Acento superior 1 S5">
            <a:extLst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5" name="Acento superior 2 S5">
            <a:extLst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6" name="Acento superior 3 S5">
            <a:extLst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7" name="Título de sección S5">
            <a:extLst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Rutas de la API</a:t>
            </a:r>
          </a:p>
        </p:txBody>
      </p:sp>
      <p:sp>
        <p:nvSpPr>
          <p:cNvPr id="149" name="Texto del contenido S5">
            <a:extLst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WSConUniController expone POST autenticar, POST recuperar-clave, GET categorias, GET unidades y POST convertir. Las respuestas JSON incluyen estado, código y mensaje.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51559B-3B6F-C97A-8BB1-F0ED76D23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1" y="4128100"/>
            <a:ext cx="4595966" cy="2506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B3D3DD7-C5BC-9822-B357-018D6531F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359" y="2209800"/>
            <a:ext cx="4167051" cy="3766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89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624313899_0_5">
            <a:extLst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Fondo blanco del contenido S6">
            <a:extLst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2" name="Franja superior azul S6">
            <a:extLst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3" name="Acento superior 1 S6">
            <a:extLst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4" name="Acento superior 2 S6">
            <a:extLst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5" name="Acento superior 3 S6">
            <a:extLst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6" name="Título de sección S6">
            <a:extLst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WSConUniController recibe las peticiones y delega las reglas en ConversorUnidadesServices, registrado como singleton. Respuesta normaliza resultados y errores.</a:t>
            </a:r>
          </a:p>
        </p:txBody>
      </p:sp>
      <p:sp>
        <p:nvSpPr>
          <p:cNvPr id="3" name="Marcador imagen S7">
            <a:extLst>
              <a:ext uri="{FF2B5EF4-FFF2-40B4-BE49-F238E27FC236}">
                <a16:creationId xmlns:a16="http://schemas.microsoft.com/office/drawing/2014/main" id="{518AD19F-18AC-3B34-897E-4CB6D3FADB70}"/>
              </a:ext>
            </a:extLst>
          </p:cNvPr>
          <p:cNvSpPr>
            <a:spLocks noGrp="1"/>
          </p:cNvSpPr>
          <p:nvPr/>
        </p:nvSpPr>
        <p:spPr>
          <a:xfrm>
            <a:off x="4714875" y="2571750"/>
            <a:ext cx="4286250" cy="3238500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lang="es-ES"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de clases</a:t>
            </a:r>
            <a:endParaRPr sz="1275" b="1" dirty="0">
              <a:solidFill>
                <a:srgbClr val="1A3260"/>
              </a:solidFill>
              <a:latin typeface="Gill Sans"/>
              <a:ea typeface="Gill Sans"/>
              <a:cs typeface="Gill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BF86BC-00B3-6D28-CF0D-98D37DED1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840" y="2247183"/>
            <a:ext cx="4683760" cy="402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624313899_0_26">
            <a:extLst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Fondo blanco del contenido S7">
            <a:extLst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8" name="Franja superior azul S7">
            <a:extLst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9" name="Acento superior 1 S7">
            <a:extLst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0" name="Acento superior 2 S7">
            <a:extLst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1" name="Acento superior 3 S7">
            <a:extLst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2" name="Título de sección S7">
            <a:extLst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controlador lee el token del encabezado Authorization: Bearer. La sesión vence a los 15 minutos; usuario, clave y duración se configuran en appsettings.json.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1A099B0-57DB-E5EA-7D97-59650333A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708" y="2209800"/>
            <a:ext cx="4438904" cy="373511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595668C-4312-C098-2165-2A8591383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339" y="4391026"/>
            <a:ext cx="3398061" cy="184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5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624313899_0_71">
            <a:extLst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Fondo blanco del contenido S8">
            <a:extLst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2" name="Franja superior azul S8">
            <a:extLst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3" name="Acento superior 1 S8">
            <a:extLst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4" name="Acento superior 2 S8">
            <a:extLst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5" name="Acento superior 3 S8">
            <a:extLst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6" name="Título de sección S8">
            <a:extLst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proyecto WS_CON_UNI_DOTNET_REST.Verification comprueba autenticación, catálogo, conversiones y códigos de error; VerifyHttp.ps1 prueba la API en ejecución.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545272-11AB-C78C-BB19-D58C8EAEF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64" y="5438464"/>
            <a:ext cx="8347587" cy="3665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9BC26D2-7A56-7CB2-5B53-804D1E72AF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792" y="3070140"/>
            <a:ext cx="4480708" cy="170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890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624313899_0_51">
            <a:extLst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Fondo blanco del contenido S9">
            <a:extLst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4" name="Franja superior azul S9">
            <a:extLst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5" name="Acento superior 1 S9">
            <a:extLst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6" name="Acento superior 2 S9">
            <a:extLst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7" name="Acento superior 3 S9">
            <a:extLst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8" name="Título de sección S9">
            <a:extLst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.NET</a:t>
            </a:r>
          </a:p>
        </p:txBody>
      </p:sp>
      <p:sp>
        <p:nvSpPr>
          <p:cNvPr id="230" name="Texto del contenido S9">
            <a:extLst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.NET Framework 4.7.2 sin paquetes externos: HttpWebRequest para HTTP y DataContractJsonSerializer para JSON. El endpoint viene de App.config o del primer argumento.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41E7656-F9E5-144C-A7A2-72B9C93C4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725" y="4253649"/>
            <a:ext cx="8159050" cy="160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689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624313899_0_95">
            <a:extLst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Fondo blanco del contenido S10">
            <a:extLst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3" name="Franja superior azul S10">
            <a:extLst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4" name="Acento superior 1 S10">
            <a:extLst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5" name="Acento superior 2 S10">
            <a:extLst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6" name="Acento superior 3 S10">
            <a:extLst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7" name="Título de sección S10">
            <a:extLst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REST</a:t>
            </a:r>
          </a:p>
        </p:txBody>
      </p:sp>
      <p:sp>
        <p:nvSpPr>
          <p:cNvPr id="249" name="Texto del contenido S10">
            <a:extLst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ClienteRest traduce cada operación a su ruta, agrega el token Bearer y normaliza la respuesta.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813067F-13FA-E632-1880-3B0F21CAA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228" y="2252662"/>
            <a:ext cx="5019473" cy="286270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4B4D3FC-EBF8-BCF4-B6CA-31F31EC3B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274" y="5296391"/>
            <a:ext cx="5353274" cy="102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51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624313899_0_111">
            <a:extLst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Fondo blanco del contenido S11">
            <a:extLst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2" name="Franja superior azul S11">
            <a:extLst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3" name="Acento superior 1 S11">
            <a:extLst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4" name="Acento superior 2 S11">
            <a:extLst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5" name="Acento superior 3 S11">
            <a:extLst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6" name="Título de sección S11">
            <a:extLst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convertir, cerrar la sesión y recuperar la clave. El flujo solicita categoría, origen, destino y valor.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C464AB8-B2B3-9B07-9650-8BA0FB2C7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2324" y="3261419"/>
            <a:ext cx="4862179" cy="26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18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d624313899_0_138">
            <a:extLst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Fondo blanco del contenido S12">
            <a:extLst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0" name="Franja superior azul S12">
            <a:extLst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1" name="Acento superior 1 S12">
            <a:extLst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2" name="Acento superior 2 S12">
            <a:extLst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3" name="Acento superior 3 S12">
            <a:extLst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4" name="Título de sección S12">
            <a:extLst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levantar la API. Si cambia el puerto, se ajusta App.config o se pasa la URL terminada en /api/ws-con-uni como argumento.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A47F13F-B442-2C6B-A140-A0FACD114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2245" y="3601920"/>
            <a:ext cx="5021255" cy="218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322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7">
            <a:extLst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Fondo blanco del contenido S13">
            <a:extLst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1" name="Franja superior azul S13">
            <a:extLst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2" name="Acento superior 1 S13">
            <a:extLst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3" name="Acento superior 2 S13">
            <a:extLst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4" name="Acento superior 3 S13">
            <a:extLst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5" name="Título de sección S13">
            <a:extLst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WinForms</a:t>
            </a:r>
          </a:p>
        </p:txBody>
      </p:sp>
      <p:sp>
        <p:nvSpPr>
          <p:cNvPr id="277" name="Texto del contenido S13">
            <a:extLst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C# WinForms en .NET Framework 4.7.2. ClienteRest consume la API con HttpClient y DataContractJsonSerializer.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1485563-8FCA-C83C-7519-39E4B2ABC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137" y="2323820"/>
            <a:ext cx="3781953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38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974b856cc_0_109">
            <a:extLst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Fondo blanco del contenido S14">
            <a:extLst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4" name="Franja superior azul S14">
            <a:extLst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5" name="Acento superior 1 S14">
            <a:extLst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6" name="Acento superior 2 S14">
            <a:extLst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7" name="Acento superior 3 S14">
            <a:extLst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8" name="Título de sección S14">
            <a:extLst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vista, controlador, modelo y servicio. GestorVentanas coordina el cambio entre la ventana de acceso y la de conversión.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FF27C2-5A07-58F8-1D84-9FC055704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350" y="4738462"/>
            <a:ext cx="2114845" cy="161947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9931246C-1E58-E69C-4A79-14BF80335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1952625"/>
            <a:ext cx="4816737" cy="340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51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1974b856cc_0_128">
            <a:extLst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Fondo blanco del contenido S15">
            <a:extLst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2" name="Franja superior azul S15">
            <a:extLst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3" name="Acento superior 1 S15">
            <a:extLst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4" name="Acento superior 2 S15">
            <a:extLst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5" name="Acento superior 3 S15">
            <a:extLst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6" name="Título de sección S15">
            <a:extLst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WinForms</a:t>
            </a:r>
          </a:p>
        </p:txBody>
      </p:sp>
      <p:sp>
        <p:nvSpPr>
          <p:cNvPr id="318" name="Texto del contenido S15">
            <a:extLst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LoginForm gestiona el acceso y la recuperación de clave. ConversionForm presenta el catálogo y los campos de conversión; EstilosUI aplica la paleta.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3F7A81B-BA9A-11CD-2A6A-C4345303E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60" y="2738340"/>
            <a:ext cx="4303977" cy="219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61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1974b856cc_0_137">
            <a:extLst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Fondo blanco del contenido S16">
            <a:extLst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0" name="Franja superior azul S16">
            <a:extLst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1" name="Acento superior 1 S16">
            <a:extLst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2" name="Acento superior 2 S16">
            <a:extLst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3" name="Acento superior 3 S16">
            <a:extLst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4" name="Título de sección S16">
            <a:extLst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guarda el token en memoria y abre ConversionForm.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1E6AC3-7689-02D6-CA6A-75117B5E3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46" y="3536234"/>
            <a:ext cx="5133307" cy="299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5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d6d00c5bd2_2_19">
            <a:extLst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Fondo blanco del contenido S17">
            <a:extLst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8" name="Franja superior azul S17">
            <a:extLst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9" name="Acento superior 1 S17">
            <a:extLst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0" name="Acento superior 2 S17">
            <a:extLst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1" name="Acento superior 3 S17">
            <a:extLst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2" name="Título de sección S17">
            <a:extLst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llamadas HTTP son asíncronas (async/await) para no bloquear la ventana. El controlador envía el valor y presenta el resultado o el error recibido.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B1057B-0BD6-AD12-1D01-39A5134DC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211" y="3569859"/>
            <a:ext cx="5184789" cy="292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12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2">
            <a:extLst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Fondo blanco del contenido S18">
            <a:extLst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6" name="Franja superior azul S18">
            <a:extLst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7" name="Acento superior 1 S18">
            <a:extLst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8" name="Acento superior 2 S18">
            <a:extLst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9" name="Acento superior 3 S18">
            <a:extLst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0" name="Título de sección S18">
            <a:extLst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ASP.NET Core MVC</a:t>
            </a:r>
          </a:p>
        </p:txBody>
      </p:sp>
      <p:sp>
        <p:nvSpPr>
          <p:cNvPr id="352" name="Texto del contenido S18">
            <a:extLst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ASP.NET Core MVC en .NET 10. ClienteRest usa un HttpClient compartido y System.Text.Json; la URL de la API se define en appsettings.json.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F2457B5-459A-1EB7-189D-7BE4C6685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968" y="2209799"/>
            <a:ext cx="2406876" cy="4486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385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19782968e5_0_88">
            <a:extLst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Fondo blanco del contenido S19">
            <a:extLst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0" name="Franja superior azul S19">
            <a:extLst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1" name="Acento superior 1 S19">
            <a:extLst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2" name="Acento superior 2 S19">
            <a:extLst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3" name="Acento superior 3 S19">
            <a:extLst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4" name="Título de sección S19">
            <a:extLst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Controladores y sesión HTTP</a:t>
            </a:r>
          </a:p>
        </p:txBody>
      </p:sp>
      <p:sp>
        <p:nvSpPr>
          <p:cNvPr id="386" name="Texto del contenido S19">
            <a:extLst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gestiona acceso, recuperación y salida; ConversorController, el catálogo y las conversiones. El token vive en la sesión HTTP y los POST usan token antifalsificación.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E74C9B6-48AC-3E51-CB94-4F57F3C15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21" y="4753017"/>
            <a:ext cx="5996585" cy="14541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3D9376-7698-212B-F7C3-470E8AA12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0" y="2019145"/>
            <a:ext cx="3286584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8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19782968e5_0_73">
            <a:extLst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Fondo blanco del contenido S20">
            <a:extLst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8" name="Franja superior azul S20">
            <a:extLst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9" name="Acento superior 1 S20">
            <a:extLst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0" name="Acento superior 2 S20">
            <a:extLst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1" name="Acento superior 3 S20">
            <a:extLst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2" name="Título de sección S20">
            <a:extLst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Razor</a:t>
            </a:r>
          </a:p>
        </p:txBody>
      </p:sp>
      <p:sp>
        <p:nvSpPr>
          <p:cNvPr id="394" name="Texto del contenido S20">
            <a:extLst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Login.cshtml y Recuperar.cshtml reciben las credenciales. Conversor/Index.cshtml presenta las categorías, unidades, formulario y respuesta.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CBE527-2B2C-EB0D-37C6-4F11DA31F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5" y="2038350"/>
            <a:ext cx="4364941" cy="283163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7C77553-A782-97D5-473C-05E178284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63" y="3826046"/>
            <a:ext cx="3714750" cy="287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1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19782968e5_0_112">
            <a:extLst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" name="Fondo blanco del contenido S21">
            <a:extLst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4" name="Franja superior azul S21">
            <a:extLst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5" name="Acento superior 1 S21">
            <a:extLst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6" name="Acento superior 2 S21">
            <a:extLst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7" name="Acento superior 3 S21">
            <a:extLst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8" name="Título de sección S21">
            <a:extLst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con Kestrel</a:t>
            </a:r>
          </a:p>
        </p:txBody>
      </p:sp>
      <p:sp>
        <p:nvSpPr>
          <p:cNvPr id="410" name="Texto del contenido S21">
            <a:extLst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inicia la API REST. Después se ejecuta dotnet run en el cliente web y se abre http://localhost:5080.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237208A-7A8B-49BF-70D3-37B45A266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829" y="3184295"/>
            <a:ext cx="4888783" cy="157640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6F1A80A-91A2-3C0E-0A44-F97C2AF99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309" y="4639250"/>
            <a:ext cx="4502168" cy="183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259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19782968e5_0_135">
            <a:extLst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3" name="Fondo blanco del contenido S22">
            <a:extLst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4" name="Franja superior azul S22">
            <a:extLst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5" name="Acento superior 1 S22">
            <a:extLst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6" name="Acento superior 2 S22">
            <a:extLst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7" name="Acento superior 3 S22">
            <a:extLst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8" name="Título de sección S22">
            <a:extLst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invoca autenticar y guarda el token en la sesión HTTP (cookie HttpOnly, SameSite=Strict). SesionWeb protege las rutas privadas.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7080ADB-6419-32CF-0A8D-FA01F5B8E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3429000"/>
            <a:ext cx="4832586" cy="271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16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19782968e5_0_123">
            <a:extLst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1" name="Fondo blanco del contenido S23">
            <a:extLst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2" name="Franja superior azul S23">
            <a:extLst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3" name="Acento superior 1 S23">
            <a:extLst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4" name="Acento superior 2 S23">
            <a:extLst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5" name="Acento superior 3 S23">
            <a:extLst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6" name="Título de sección S23">
            <a:extLst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 la API REST.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8F9821-CFDA-9BF3-5E3B-202702CB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168" y="3234874"/>
            <a:ext cx="6253316" cy="3417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19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7">
            <a:extLst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3" name="Fondo blanco del contenido S24">
            <a:extLst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4" name="Franja superior azul S24">
            <a:extLst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5" name="Acento superior 1 S24">
            <a:extLst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6" name="Acento superior 2 S24">
            <a:extLst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7" name="Acento superior 3 S24">
            <a:extLst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8" name="Título de sección S24">
            <a:extLst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móvil .NET MAUI</a:t>
            </a:r>
          </a:p>
        </p:txBody>
      </p:sp>
      <p:sp>
        <p:nvSpPr>
          <p:cNvPr id="440" name="Texto del contenido S24">
            <a:extLst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C# y .NET MAUI 10. Compila para Android (API 36) y deja configurado iOS, que solo compila en una Mac.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8ADADBB-8C49-A44B-725A-3959C9B8D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41" y="3713682"/>
            <a:ext cx="8800505" cy="2296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911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d624313899_0_157">
            <a:extLst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Fondo blanco del contenido S25">
            <a:extLst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1" name="Franja superior azul S25">
            <a:extLst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2" name="Acento superior 1 S25">
            <a:extLst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3" name="Acento superior 2 S25">
            <a:extLst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4" name="Acento superior 3 S25">
            <a:extLst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5" name="Título de sección S25">
            <a:extLst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.NET MAUI</a:t>
            </a:r>
          </a:p>
        </p:txBody>
      </p:sp>
      <p:sp>
        <p:nvSpPr>
          <p:cNvPr id="447" name="Texto del contenido S25">
            <a:extLst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LoginPage y ConversionesPage presentan las vistas; los controladores coordinan acceso, catálogo y conversiones.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BA53F2-6A57-D204-6458-B00B46446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768" y="1857375"/>
            <a:ext cx="2710023" cy="436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8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d624313899_0_172">
            <a:extLst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9" name="Fondo blanco del contenido S26">
            <a:extLst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0" name="Franja superior azul S26">
            <a:extLst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1" name="Acento superior 1 S26">
            <a:extLst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2" name="Acento superior 2 S26">
            <a:extLst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3" name="Acento superior 3 S26">
            <a:extLst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4" name="Título de sección S26">
            <a:extLst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REST para .NET MAUI</a:t>
            </a:r>
          </a:p>
        </p:txBody>
      </p:sp>
      <p:sp>
        <p:nvSpPr>
          <p:cNvPr id="456" name="Texto del contenido S26">
            <a:extLst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ClienteRest envía las peticiones con HttpClient de forma asíncrona y procesa el JSON con System.Text.Json, igual en Android e iOS.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104911E-EA04-8B74-AC48-B257D2458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65" y="4082532"/>
            <a:ext cx="8383170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681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2d624313899_0_193">
            <a:extLst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9" name="Fondo blanco del contenido S27">
            <a:extLst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0" name="Franja superior azul S27">
            <a:extLst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1" name="Acento superior 1 S27">
            <a:extLst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2" name="Acento superior 2 S27">
            <a:extLst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3" name="Acento superior 3 S27">
            <a:extLst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4" name="Título de sección S27">
            <a:extLst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móviles</a:t>
            </a:r>
          </a:p>
        </p:txBody>
      </p:sp>
      <p:sp>
        <p:nvSpPr>
          <p:cNvPr id="466" name="Texto del contenido S27">
            <a:extLst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LoginPage permite acceder y recuperar la clave. ConversionesPage muestra el catálogo y el resultado de la operación.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0644E1F-9205-413E-1B3E-666714F7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66" y="3553928"/>
            <a:ext cx="4891770" cy="2976978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958AD03-7B47-249C-AA2A-63CF310DD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062" y="1881835"/>
            <a:ext cx="4396401" cy="32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949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d6d00c5bd2_3_16">
            <a:extLst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6" name="Fondo blanco del contenido S28">
            <a:extLst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7" name="Franja superior azul S28">
            <a:extLst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8" name="Acento superior 1 S28">
            <a:extLst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9" name="Acento superior 2 S28">
            <a:extLst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0" name="Acento superior 3 S28">
            <a:extLst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1" name="Título de sección S28">
            <a:extLst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usa http://10.0.2.2:5111/api/ws-con-uni. Un teléfono físico se conecta publicando la API con ngrok.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E4E2E8-7089-67CC-9844-17D9FAFFC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106" y="2009775"/>
            <a:ext cx="2237357" cy="452775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5D7B7E1-63AB-C2CC-EFDB-26CAABF96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479" y="1911679"/>
            <a:ext cx="2366965" cy="4834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0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>
            <a:extLst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</a:p>
        </p:txBody>
      </p:sp>
      <p:sp>
        <p:nvSpPr>
          <p:cNvPr id="503" name="Google Shape;503;p41">
            <a:extLst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misma API REST sirve a cuatro clientes .NET: consola, WinForms, ASP.NET Core MVC y .NET MAUI. El servicio centraliza las reglas de autenticación, catálogo y conversión, por lo que los cálculos se ejecutan en el servidor y no se duplican en cada interfaz.</a:t>
            </a: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>
            <a:extLst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</a:p>
        </p:txBody>
      </p:sp>
      <p:sp>
        <p:nvSpPr>
          <p:cNvPr id="510" name="Google Shape;510;p42">
            <a:extLst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la URL de la API y las credenciales en appsettings.json y App.config según cada entorno.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(perfil https de Kestrel) cuando el servicio salga de la red de laboratorio, porque el token Bearer viaja en cada petición.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Aprovechar el documento OpenAPI que genera el servidor para mantener alineados la API y los clientes.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Ampliar las pruebas de integración para verificar los cuatro clientes contra el mismo servidor antes de cada entrega.</a:t>
            </a:r>
          </a:p>
        </p:txBody>
      </p:sp>
      <p:sp>
        <p:nvSpPr>
          <p:cNvPr id="511" name="Google Shape;511;p42">
            <a:extLst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2582</Words>
  <Application>Microsoft Office PowerPoint</Application>
  <DocSecurity>0</DocSecurity>
  <PresentationFormat>Widescreen</PresentationFormat>
  <Paragraphs>424</Paragraphs>
  <Slides>30</Slides>
  <Notes>30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Dividendo</vt:lpstr>
      <vt:lpstr>MANUAL TÉCNICO CONVERSOR DE UNIDADES REST .NET</vt:lpstr>
      <vt:lpstr>PowerPoint Presentation</vt:lpstr>
      <vt:lpstr>DESARROLLO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Sebastián Parra</cp:lastModifiedBy>
  <cp:revision>10</cp:revision>
  <dcterms:created xsi:type="dcterms:W3CDTF">2026-10-23T21:16:53Z</dcterms:created>
  <dcterms:modified xsi:type="dcterms:W3CDTF">2026-10-26T22:52:50Z</dcterms:modified>
</cp:coreProperties>
</file>