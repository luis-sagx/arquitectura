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12192000" cy="6858000"/>
  <p:notesSz cx="6858000" cy="9144000"/>
  <p:embeddedFontLst>
    <p:embeddedFont>
      <p:font typeface="Gill Sans" panose="020B0502020104020203"/>
      <p:regular r:id="rId37"/>
      <p:bold r:id="rId38"/>
    </p:embeddedFont>
    <p:embeddedFont>
      <p:font typeface="Cambria" panose="02040503050406030204"/>
      <p:regular r:id="rId39"/>
      <p:bold r:id="rId40"/>
      <p:italic r:id="rId41"/>
      <p:boldItalic r:id="rId42"/>
    </p:embeddedFont>
  </p:embeddedFontLst>
  <p:defaultTextStyle>
    <a:defPPr marR="0" algn="l">
      <a:lnSpc>
        <a:spcPct val="100000"/>
      </a:lnSpc>
      <a:spcBef>
        <a:spcPts val="0"/>
      </a:spcBef>
      <a:spcAft>
        <a:spcPts val="0"/>
      </a:spcAft>
      <a:buNone/>
    </a:defPPr>
    <a:lvl1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1pPr>
    <a:lvl2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2pPr>
    <a:lvl3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3pPr>
    <a:lvl4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4pPr>
    <a:lvl5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5pPr>
    <a:lvl6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6pPr>
    <a:lvl7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7pPr>
    <a:lvl8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8pPr>
    <a:lvl9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font" Target="fonts/font6.fntdata"/><Relationship Id="rId41" Type="http://schemas.openxmlformats.org/officeDocument/2006/relationships/font" Target="fonts/font5.fntdata"/><Relationship Id="rId40" Type="http://schemas.openxmlformats.org/officeDocument/2006/relationships/font" Target="fonts/font4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3.fntdata"/><Relationship Id="rId38" Type="http://schemas.openxmlformats.org/officeDocument/2006/relationships/font" Target="fonts/font2.fntdata"/><Relationship Id="rId37" Type="http://schemas.openxmlformats.org/officeDocument/2006/relationships/font" Target="fonts/font1.fntdata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ERS_CONVERSION_UNIDADES_SEGURIDAD_COMPLETA (1).docx, portada.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ERS_CONVERSION_UNIDADES_SEGURIDAD_COMPLETA (1).docx, alcance y canales.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ERS_CONVERSION_UNIDADES_SEGURIDAD_COMPLETA (1).docx, propósito y alcance.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WS_CON_UNI_JAVA_REST.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WS_CON_UNI_JAVA_REST.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WS_CON_UNI_JAVA_REST.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WS_CON_UNI_JAVA_REST.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WS_CON_UNI_JAVA_REST.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CLI_ESC_CON_UNI_JAVA_REST.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CLI_ESC_CON_UNI_JAVA_REST.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CLI_ESC_CON_UNI_JAVA_REST.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CLI_ESC_CON_UNI_JAVA_REST.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CLI_ESC_CON_UNI_JAVA_REST.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CLI_WEB_CON_UNI_JAVA_REST.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CLI_WEB_CON_UNI_JAVA_REST.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CLI_WEB_CON_UNI_JAVA_REST.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CLI_WEB_CON_UNI_JAVA_REST.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CLI_WEB_CON_UNI_JAVA_REST.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CLI_WEB_CON_UNI_JAVA_REST.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CLI_MOV_CON_UNI_JAVA_REST.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CLI_MOV_CON_UNI_JAVA_REST.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CLI_MOV_CON_UNI_JAVA_REST.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CLI_MOV_CON_UNI_JAVA_REST.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CLI_MOV_CON_UNI_JAVA_REST.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README de los cuatro clientes y del servidor; 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README del servidor; README de los cuatro clientes.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Diapositiva de título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5"/>
          <p:cNvSpPr>
            <a:spLocks noGrp="1"/>
          </p:cNvSpPr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Google Shape;16;p45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 panose="020B0502020104020203"/>
              <a:buNone/>
              <a:defRPr sz="36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5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5"/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5"/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5"/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ítulo y objetos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6"/>
          <p:cNvSpPr>
            <a:spLocks noGrp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Google Shape;23;p46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6"/>
          <p:cNvSpPr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25" name="Google Shape;25;p46"/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6"/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6"/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Encabezado de sección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7"/>
          <p:cNvSpPr>
            <a:spLocks noGrp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Google Shape;30;p47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 panose="020B0502020104020203"/>
              <a:buNone/>
              <a:defRPr sz="3600" b="0" cap="none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7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7"/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7"/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7"/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Dos objetos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8"/>
          <p:cNvSpPr>
            <a:spLocks noGrp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" name="Google Shape;37;p48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8"/>
          <p:cNvSpPr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39" name="Google Shape;39;p48"/>
          <p:cNvSpPr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0" name="Google Shape;40;p48"/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8"/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8"/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ación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9"/>
          <p:cNvSpPr>
            <a:spLocks noGrp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5" name="Google Shape;45;p49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9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Autofit/>
          </a:bodyPr>
          <a:lstStyle>
            <a:lvl1pPr marL="45720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/>
        </p:txBody>
      </p:sp>
      <p:sp>
        <p:nvSpPr>
          <p:cNvPr id="47" name="Google Shape;47;p49"/>
          <p:cNvSpPr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8" name="Google Shape;48;p49"/>
          <p:cNvSpPr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Autofit/>
          </a:bodyPr>
          <a:lstStyle>
            <a:lvl1pPr marL="45720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/>
        </p:txBody>
      </p:sp>
      <p:sp>
        <p:nvSpPr>
          <p:cNvPr id="49" name="Google Shape;49;p49"/>
          <p:cNvSpPr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0" name="Google Shape;50;p49"/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9"/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9"/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Solo el título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0"/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0"/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0"/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sp>
        <p:nvSpPr>
          <p:cNvPr id="57" name="Google Shape;57;p50"/>
          <p:cNvSpPr>
            <a:spLocks noGrp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8" name="Google Shape;58;p50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En blanco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1"/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1"/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1"/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ido con título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2"/>
          <p:cNvSpPr>
            <a:spLocks noGrp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5" name="Google Shape;65;p52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 panose="020B0502020104020203"/>
              <a:buNone/>
              <a:defRPr sz="2000" b="0"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2"/>
          <p:cNvSpPr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indent="-3219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indent="-310515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52"/>
          <p:cNvSpPr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68" name="Google Shape;68;p52"/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2"/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2"/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Imagen con título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3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 panose="020B0502020104020203"/>
              <a:buNone/>
              <a:defRPr sz="2400" b="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3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53"/>
          <p:cNvSpPr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75" name="Google Shape;75;p53"/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3"/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3"/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ítulo y texto vertical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4"/>
          <p:cNvSpPr>
            <a:spLocks noGrp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0" name="Google Shape;80;p54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54"/>
          <p:cNvSpPr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219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2" name="Google Shape;82;p54"/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4"/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4"/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Título vertical y texto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5"/>
          <p:cNvSpPr>
            <a:spLocks noGrp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7" name="Google Shape;87;p55"/>
          <p:cNvSpPr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55"/>
          <p:cNvSpPr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9" name="Google Shape;89;p55"/>
          <p:cNvSpPr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55"/>
          <p:cNvSpPr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55"/>
          <p:cNvSpPr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4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  <a:defRPr sz="2800" b="0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/>
        </p:txBody>
      </p:sp>
      <p:sp>
        <p:nvSpPr>
          <p:cNvPr id="7" name="Google Shape;7;p44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marR="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L="914400" marR="0" indent="-3219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L="1371600" marR="0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L="1828800" marR="0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L="2286000" marR="0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L="2743200" marR="0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L="3200400" marR="0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L="3657600" marR="0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L="4114800" marR="0" indent="-29845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/>
        </p:txBody>
      </p:sp>
      <p:sp>
        <p:nvSpPr>
          <p:cNvPr id="8" name="Google Shape;8;p44"/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/>
        </p:txBody>
      </p:sp>
      <p:sp>
        <p:nvSpPr>
          <p:cNvPr id="9" name="Google Shape;9;p44"/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/>
        </p:txBody>
      </p:sp>
      <p:sp>
        <p:nvSpPr>
          <p:cNvPr id="10" name="Google Shape;10;p44"/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sp>
        <p:nvSpPr>
          <p:cNvPr id="11" name="Google Shape;11;p44"/>
          <p:cNvSpPr>
            <a:spLocks noGrp="1"/>
          </p:cNvSpPr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Google Shape;12;p44"/>
          <p:cNvSpPr>
            <a:spLocks noGrp="1"/>
          </p:cNvSpPr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Google Shape;13;p44"/>
          <p:cNvSpPr>
            <a:spLocks noGrp="1"/>
          </p:cNvSpPr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 fontScale="90345"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 panose="020B0502020104020203"/>
              <a:buNone/>
            </a:pPr>
            <a:r>
              <a:rPr>
                <a:solidFill>
                  <a:schemeClr val="lt1"/>
                </a:solidFill>
              </a:rPr>
              <a:t>MANUAL TÉCNICO</a:t>
            </a:r>
            <a:endParaRPr>
              <a:solidFill>
                <a:schemeClr val="lt1"/>
              </a:solidFill>
            </a:endParaRP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 panose="020B0502020104020203"/>
              <a:buNone/>
            </a:pPr>
            <a:r>
              <a:rPr>
                <a:solidFill>
                  <a:schemeClr val="lt1"/>
                </a:solidFill>
              </a:rPr>
              <a:t>CONVERSOR DE UNIDADES</a:t>
            </a:r>
            <a:endParaRPr>
              <a:solidFill>
                <a:schemeClr val="lt1"/>
              </a:solidFill>
            </a:endParaRP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 panose="020B0502020104020203"/>
              <a:buNone/>
            </a:pPr>
            <a:r>
              <a:rPr>
                <a:solidFill>
                  <a:schemeClr val="lt1"/>
                </a:solidFill>
              </a:rPr>
              <a:t>REST JAVA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7" name="Google Shape;97;p1"/>
          <p:cNvSpPr>
            <a:spLocks noGrp="1"/>
          </p:cNvSpPr>
          <p:nvPr>
            <p:ph type="subTitle" idx="1"/>
          </p:nvPr>
        </p:nvSpPr>
        <p:spPr>
          <a:xfrm>
            <a:off x="599226" y="4572000"/>
            <a:ext cx="4261531" cy="1812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t>INTEGRANTES:  Parra Rosales Sebastián Enrique</a:t>
            </a:r>
            <a:endParaRPr b="1">
              <a:solidFill>
                <a:schemeClr val="lt1"/>
              </a:solidFill>
            </a:endParaRPr>
          </a:p>
          <a:p>
            <a:pPr marL="0" lvl="0" indent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rPr b="1">
                <a:solidFill>
                  <a:schemeClr val="lt1"/>
                </a:solidFill>
              </a:rPr>
              <a:t>Sagnay Pilamunga Luis Eduardo</a:t>
            </a:r>
            <a:endParaRPr>
              <a:solidFill>
                <a:schemeClr val="lt1"/>
              </a:solidFill>
            </a:endParaRPr>
          </a:p>
          <a:p>
            <a:pPr marL="0" lvl="0" indent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rPr b="1">
                <a:solidFill>
                  <a:schemeClr val="lt1"/>
                </a:solidFill>
              </a:rPr>
              <a:t>Yépez Morán Jefferson David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8" name="Google Shape;98;p1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19597" y="716302"/>
            <a:ext cx="11647502" cy="2193925"/>
          </a:xfrm>
          <a:prstGeom prst="rect">
            <a:avLst/>
          </a:prstGeom>
          <a:ln>
            <a:noFill/>
          </a:ln>
        </p:spPr>
      </p:pic>
      <p:sp>
        <p:nvSpPr>
          <p:cNvPr id="99" name="Google Shape;99;p1"/>
          <p:cNvSpPr>
            <a:spLocks noGrp="1"/>
          </p:cNvSpPr>
          <p:nvPr/>
        </p:nvSpPr>
        <p:spPr>
          <a:xfrm>
            <a:off x="7239000" y="5301806"/>
            <a:ext cx="4572000" cy="1235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sz="1600" b="1" i="0" u="none" strike="noStrike" cap="none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FECHA:  08/10/2026</a:t>
            </a:r>
            <a:endParaRPr sz="1600" b="0" i="0" u="none" strike="noStrike" cap="none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  <a:p>
            <a:pPr marL="0" marR="0" lvl="0" indent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sz="1600" b="1" i="0" u="none" strike="noStrike" cap="none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ING: Eduardo Mauricio Campaña Ortega</a:t>
            </a:r>
            <a:endParaRPr sz="1600" b="1" i="0" u="none" strike="noStrike" cap="none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100" name="Google Shape;100;p1"/>
          <p:cNvSpPr>
            <a:spLocks noGrp="1"/>
          </p:cNvSpPr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 panose="020B0502020104020203"/>
              <a:buNone/>
            </a:pPr>
            <a:r>
              <a:rPr sz="2000" b="0" i="0" u="none" strike="noStrike" cap="none">
                <a:solidFill>
                  <a:srgbClr val="0000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>
            <a:spLocks noGrp="1"/>
          </p:cNvSpPr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 panose="020B0502020104020203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106" name="Google Shape;106;p2"/>
          <p:cNvSpPr>
            <a:spLocks noGrp="1"/>
          </p:cNvSpPr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107" name="Google Shape;107;p2"/>
          <p:cNvSpPr>
            <a:spLocks noGrp="1"/>
          </p:cNvSpPr>
          <p:nvPr>
            <p:ph type="body" idx="1"/>
          </p:nvPr>
        </p:nvSpPr>
        <p:spPr>
          <a:xfrm>
            <a:off x="596348" y="701336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 lnSpcReduction="10000"/>
          </a:bodyPr>
          <a:lstStyle/>
          <a:p>
            <a:pPr marL="306070" lvl="0" indent="-3060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>
                <a:solidFill>
                  <a:schemeClr val="lt1"/>
                </a:solidFill>
              </a:rPr>
              <a:t>DESARROLLO</a:t>
            </a:r>
            <a:endParaRPr>
              <a:solidFill>
                <a:schemeClr val="lt1"/>
              </a:solidFill>
            </a:endParaRPr>
          </a:p>
          <a:p>
            <a:pPr marL="629920" lvl="1" indent="-320040" algn="l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72"/>
              <a:buChar char="◼"/>
            </a:pPr>
            <a:r>
              <a:rPr>
                <a:solidFill>
                  <a:schemeClr val="lt1"/>
                </a:solidFill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629920" lvl="1" indent="-320040" algn="l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72"/>
              <a:buChar char="◼"/>
            </a:pPr>
            <a:r>
              <a:rPr>
                <a:solidFill>
                  <a:schemeClr val="lt1"/>
                </a:solidFill>
              </a:rPr>
              <a:t>CREACIÓN DEL SERVIDOR REST EN JAVA</a:t>
            </a:r>
            <a:endParaRPr>
              <a:solidFill>
                <a:schemeClr val="lt1"/>
              </a:solidFill>
            </a:endParaRPr>
          </a:p>
          <a:p>
            <a:pPr marL="629920" lvl="1" indent="-320040" algn="l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72"/>
              <a:buChar char="◼"/>
            </a:pPr>
            <a:r>
              <a:rPr sz="1800">
                <a:solidFill>
                  <a:schemeClr val="lt1"/>
                </a:solidFill>
              </a:rPr>
              <a:t>CREACIÓN DEL PROYECTO – CLIENTE CONSOLA</a:t>
            </a:r>
            <a:endParaRPr sz="1800">
              <a:solidFill>
                <a:schemeClr val="lt1"/>
              </a:solidFill>
            </a:endParaRPr>
          </a:p>
          <a:p>
            <a:pPr marL="629920" lvl="1" indent="-320040" algn="l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72"/>
              <a:buChar char="◼"/>
            </a:pPr>
            <a:r>
              <a:rPr sz="1800">
                <a:solidFill>
                  <a:schemeClr val="lt1"/>
                </a:solidFill>
              </a:rPr>
              <a:t>CREACIÓN DEL PROYECTO – CLIENTE ESCRITORIO</a:t>
            </a:r>
            <a:endParaRPr sz="1800">
              <a:solidFill>
                <a:schemeClr val="lt1"/>
              </a:solidFill>
            </a:endParaRPr>
          </a:p>
          <a:p>
            <a:pPr marL="629920" lvl="1" indent="-320040" algn="l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72"/>
              <a:buChar char="◼"/>
            </a:pPr>
            <a:r>
              <a:rPr sz="1800">
                <a:solidFill>
                  <a:schemeClr val="lt1"/>
                </a:solidFill>
              </a:rPr>
              <a:t>CREACIÓN DEL PROYECTO – CLIENTE WEB</a:t>
            </a:r>
            <a:endParaRPr sz="1800">
              <a:solidFill>
                <a:schemeClr val="lt1"/>
              </a:solidFill>
            </a:endParaRPr>
          </a:p>
          <a:p>
            <a:pPr marL="629920" lvl="1" indent="-320040" algn="l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72"/>
              <a:buChar char="◼"/>
            </a:pPr>
            <a:r>
              <a:rPr sz="1800">
                <a:solidFill>
                  <a:schemeClr val="lt1"/>
                </a:solidFill>
              </a:rPr>
              <a:t>CREACIÓN DEL PROYECTO – CLIENTE MÓVIL</a:t>
            </a:r>
            <a:endParaRPr sz="1800">
              <a:solidFill>
                <a:schemeClr val="lt1"/>
              </a:solidFill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905"/>
              </a:spcBef>
              <a:spcAft>
                <a:spcPts val="0"/>
              </a:spcAft>
              <a:buSzPts val="1656"/>
              <a:buChar char="◼"/>
            </a:pPr>
            <a:r>
              <a:rPr>
                <a:solidFill>
                  <a:schemeClr val="lt1"/>
                </a:solidFill>
              </a:rPr>
              <a:t>CONCLUSIONES</a:t>
            </a:r>
            <a:endParaRPr>
              <a:solidFill>
                <a:schemeClr val="lt1"/>
              </a:solidFill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905"/>
              </a:spcBef>
              <a:spcAft>
                <a:spcPts val="0"/>
              </a:spcAft>
              <a:buSzPts val="1656"/>
              <a:buChar char="◼"/>
            </a:pPr>
            <a:r>
              <a:rPr>
                <a:solidFill>
                  <a:schemeClr val="lt1"/>
                </a:solidFill>
              </a:rPr>
              <a:t>RECOMENDACIONES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9" name="Google Shape;109;p2"/>
          <p:cNvSpPr>
            <a:spLocks noGrp="1"/>
          </p:cNvSpPr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 panose="020B0502020104020203"/>
              <a:buNone/>
            </a:pPr>
            <a:r>
              <a:rPr sz="2000" b="0" i="0" u="none" strike="noStrike" cap="none">
                <a:solidFill>
                  <a:srgbClr val="0000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6925" y="1812925"/>
            <a:ext cx="6931660" cy="3371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t>DESARROLLO</a:t>
            </a:r>
          </a:p>
        </p:txBody>
      </p:sp>
      <p:sp>
        <p:nvSpPr>
          <p:cNvPr id="115" name="Google Shape;115;p3"/>
          <p:cNvSpPr>
            <a:spLocks noGrp="1"/>
          </p:cNvSpPr>
          <p:nvPr>
            <p:ph type="body" idx="1"/>
          </p:nvPr>
        </p:nvSpPr>
        <p:spPr>
          <a:xfrm>
            <a:off x="581192" y="2180496"/>
            <a:ext cx="8589441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1.1  OBJETIVO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342900" marR="0" lvl="0" indent="-23749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marL="457200" lvl="0" indent="-33401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>
                <a:latin typeface="Cambria" panose="02040503050406030204"/>
                <a:ea typeface="Cambria" panose="02040503050406030204"/>
                <a:cs typeface="Cambria" panose="02040503050406030204"/>
              </a:rPr>
              <a:t>Implementar un servicio REST en Java que centralice la autenticación, el catálogo y las conversiones de longitud, masa y temperatura, para que los clientes de consola, escritorio, web y Android utilicen el mismo backend sin base de datos.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16" name="Google Shape;116;p3"/>
          <p:cNvSpPr>
            <a:spLocks noGrp="1"/>
          </p:cNvSpPr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d6d00c5bd2_0_0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4" name="Fondo blanco del contenido S4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5" name="Franja superior azul S4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6" name="Acento superior 1 S4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7" name="Acento superior 2 S4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8" name="Acento superior 3 S4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9" name="Título de sección S4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130" name="Título del contenido S4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Servidor REST en Java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31" name="Texto del contenido S4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El backend Java 21 expone recursos Jakarta REST (JAX-RS) bajo /api y Maven lo empaqueta como WAR. Payara lo despliega sin base de datos.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0125" y="2290524"/>
            <a:ext cx="3658111" cy="34104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2" name="Fondo blanco del contenido S5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3" name="Franja superior azul S5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4" name="Acento superior 1 S5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5" name="Acento superior 2 S5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6" name="Acento superior 3 S5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7" name="Título de sección S5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148" name="Título del contenido S5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Recursos y rutas de la API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49" name="Texto del contenido S5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AuthResource publica /auth/login y /auth/recover; CatalogResource, /catalog/categories y sus unidades; ConversionResource, /conversions. Todo viaja en JSON.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3191" y="2000250"/>
            <a:ext cx="3959371" cy="293170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17" y="4931958"/>
            <a:ext cx="7162185" cy="15503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d624313899_0_5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1" name="Fondo blanco del contenido S6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2" name="Franja superior azul S6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3" name="Acento superior 1 S6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4" name="Acento superior 2 S6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5" name="Acento superior 3 S6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6" name="Título de sección S6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157" name="Título del contenido S6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lang="es-EC"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Clases </a:t>
            </a: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del servidor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58" name="Texto del contenido S6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Los recursos REST actúan como controladores y delegan en ConversorUnidadesServices. RestResponseMapper traduce cada código de negocio a su estado HTTP.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0165" y="2705100"/>
            <a:ext cx="5295265" cy="30816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d624313899_0_26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7" name="Fondo blanco del contenido S7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8" name="Franja superior azul S7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9" name="Acento superior 1 S7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0" name="Acento superior 2 S7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1" name="Acento superior 3 S7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2" name="Título de sección S7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173" name="Título del contenido S7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Autenticación y sesión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74" name="Texto del contenido S7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Las rutas protegidas exigen Authorization: Bearer &lt;token&gt;. La sesión vence a los 15 minutos; los errores AUTH-* devuelven HTTP 401 y los demás HTTP 400.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5961" y="2466975"/>
            <a:ext cx="4751702" cy="31428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d624313899_0_71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1" name="Fondo blanco del contenido S8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2" name="Franja superior azul S8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3" name="Acento superior 1 S8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4" name="Acento superior 2 S8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5" name="Acento superior 3 S8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6" name="Título de sección S8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197" name="Título del contenido S8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Pruebas implementadas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98" name="Texto del contenido S8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El proyecto incluye pruebas de autenticación, catálogo, magnitudes, validaciones y expiración, y una prueba de integración HTTP que se ejecuta con ejecutar-pruebas.ps1.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3185" y="2252662"/>
            <a:ext cx="4390315" cy="180654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89" y="4391026"/>
            <a:ext cx="7783011" cy="15432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d624313899_0_51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3" name="Fondo blanco del contenido S9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4" name="Franja superior azul S9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5" name="Acento superior 1 S9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6" name="Acento superior 2 S9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7" name="Acento superior 3 S9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8" name="Título de sección S9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229" name="Título del contenido S9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Cliente de consola Java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230" name="Texto del contenido S9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Aplicación Java 21 con Maven. Usa java.net.http.HttpClient para las peticiones y Gson para el JSON; la URL base termina en /api.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0" y="2038350"/>
            <a:ext cx="4277322" cy="244826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177" y="5233903"/>
            <a:ext cx="6087325" cy="12098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d624313899_0_95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2" name="Fondo blanco del contenido S10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3" name="Franja superior azul S10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4" name="Acento superior 1 S10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5" name="Acento superior 2 S10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6" name="Acento superior 3 S10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7" name="Título de sección S10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248" name="Título del contenido S10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Controlador y adaptador REST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249" name="Texto del contenido S10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ControladorConsola administra el flujo y la sesión. ClienteRest arma cada petición HTTP, agrega el token Bearer y normaliza la respuesta en RespuestaRest.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157" y="5257716"/>
            <a:ext cx="8125959" cy="120031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9458" y="2377870"/>
            <a:ext cx="4913200" cy="25816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d624313899_0_111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1" name="Fondo blanco del contenido S11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2" name="Franja superior azul S11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3" name="Acento superior 1 S11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4" name="Acento superior 2 S11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5" name="Acento superior 3 S11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6" name="Título de sección S11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257" name="Título del contenido S11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Menú y flujo de conversión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258" name="Texto del contenido S11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La consola permite acceder, consultar categorías y unidades, convertir, cerrar la sesión y recuperar la clave. El flujo solicita categoría, origen, destino y valor.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2836" y="2533186"/>
            <a:ext cx="3057952" cy="332468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d624313899_0_138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9" name="Fondo blanco del contenido S12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0" name="Franja superior azul S12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1" name="Acento superior 1 S12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2" name="Acento superior 2 S12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3" name="Acento superior 3 S12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4" name="Título de sección S12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265" name="Título del contenido S12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Ejecución en terminal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266" name="Texto del contenido S12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El cliente se inicia después de desplegar el servidor. Puede usar la URL local predeterminada o recibir otra por argumento o propiedad JVM.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713" y="4230875"/>
            <a:ext cx="4820323" cy="236253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189" y="1833340"/>
            <a:ext cx="3934374" cy="3191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7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0" name="Fondo blanco del contenido S13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1" name="Franja superior azul S13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2" name="Acento superior 1 S13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3" name="Acento superior 2 S13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4" name="Acento superior 3 S13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5" name="Título de sección S13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276" name="Título del contenido S13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Cliente de escritorio Swing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277" name="Texto del contenido S13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Aplicación Java 21 con Maven. Swing presenta el acceso y las conversiones, y ClienteRest consume la misma API con HTTP y Gson.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9118" y="2000250"/>
            <a:ext cx="3594668" cy="338925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1974b856cc_0_109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3" name="Fondo blanco del contenido S14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4" name="Franja superior azul S14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5" name="Acento superior 1 S14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6" name="Acento superior 2 S14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7" name="Acento superior 3 S14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8" name="Título de sección S14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309" name="Título del contenido S14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Organización MVC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310" name="Texto del contenido S14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El cliente separa modelo, vista, controlador y servicio. GestorPantallas coordina el cambio entre acceso y conversión.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7056" y="1998106"/>
            <a:ext cx="2050995" cy="813561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125" y="3646127"/>
            <a:ext cx="5883864" cy="275467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1974b856cc_0_128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1" name="Fondo blanco del contenido S15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2" name="Franja superior azul S15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3" name="Acento superior 1 S15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4" name="Acento superior 2 S15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5" name="Acento superior 3 S15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6" name="Título de sección S15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317" name="Título del contenido S15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Vistas Swing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318" name="Texto del contenido S15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LoginFrame gestiona el acceso y VentanaConversiones presenta el catálogo y los campos de conversión.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0137" y="1857375"/>
            <a:ext cx="4288345" cy="2920748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38" y="3637127"/>
            <a:ext cx="4482756" cy="287943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1974b856cc_0_137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9" name="Fondo blanco del contenido S16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0" name="Franja superior azul S16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1" name="Acento superior 1 S16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2" name="Acento superior 2 S16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3" name="Acento superior 3 S16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4" name="Título de sección S16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325" name="Título del contenido S16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Inicio de sesión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326" name="Texto del contenido S16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ControladorLogin envía las credenciales al servidor. Si la respuesta es correcta, abre la ventana de conversiones.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6390" y="2877228"/>
            <a:ext cx="4627110" cy="2819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d6d00c5bd2_2_19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7" name="Fondo blanco del contenido S17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8" name="Franja superior azul S17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9" name="Acento superior 1 S17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0" name="Acento superior 2 S17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1" name="Acento superior 3 S17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2" name="Título de sección S17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343" name="Título del contenido S17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Pantalla de conversión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344" name="Texto del contenido S17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Las llamadas HTTP se ejecutan en SwingWorker para mantener la interfaz disponible. El controlador envía el valor y presenta el resultado o el error recibido.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0701" y="2619375"/>
            <a:ext cx="5142210" cy="33030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2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5" name="Fondo blanco del contenido S18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6" name="Franja superior azul S18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7" name="Acento superior 1 S18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8" name="Acento superior 2 S18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9" name="Acento superior 3 S18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50" name="Título de sección S18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351" name="Título del contenido S18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Cliente web Java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352" name="Texto del contenido S18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El cliente usa Java 21, Servlets, JSP y Maven. Payara aloja el WAR; ClienteRest consume la API con HttpClient y JSON-B.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0187" y="2309543"/>
            <a:ext cx="3248478" cy="385816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19782968e5_0_88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9" name="Fondo blanco del contenido S19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0" name="Franja superior azul S19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1" name="Acento superior 1 S19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2" name="Acento superior 2 S19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3" name="Acento superior 3 S19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4" name="Título de sección S19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385" name="Título del contenido S19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Servlets y sesión HTTP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386" name="Texto del contenido S19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 dirty="0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Los Servlets </a:t>
            </a:r>
            <a:r>
              <a:rPr sz="1575" dirty="0" err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gestionan</a:t>
            </a:r>
            <a:r>
              <a:rPr sz="1575" dirty="0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 </a:t>
            </a:r>
            <a:r>
              <a:rPr sz="1575" dirty="0" err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acceso</a:t>
            </a:r>
            <a:r>
              <a:rPr sz="1575" dirty="0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, </a:t>
            </a:r>
            <a:r>
              <a:rPr sz="1575" dirty="0" err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recuperación</a:t>
            </a:r>
            <a:r>
              <a:rPr sz="1575" dirty="0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 y </a:t>
            </a:r>
            <a:r>
              <a:rPr sz="1575" dirty="0" err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conversiones</a:t>
            </a:r>
            <a:r>
              <a:rPr sz="1575" dirty="0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. El token Bearer se </a:t>
            </a:r>
            <a:r>
              <a:rPr sz="1575" dirty="0" err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guarda</a:t>
            </a:r>
            <a:r>
              <a:rPr sz="1575" dirty="0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 </a:t>
            </a:r>
            <a:r>
              <a:rPr sz="1575" dirty="0" err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en</a:t>
            </a:r>
            <a:r>
              <a:rPr sz="1575" dirty="0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 </a:t>
            </a:r>
            <a:r>
              <a:rPr sz="1575" dirty="0" err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sesión</a:t>
            </a:r>
            <a:r>
              <a:rPr sz="1575" dirty="0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 HTTP; </a:t>
            </a:r>
            <a:r>
              <a:rPr sz="1575" dirty="0" err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los</a:t>
            </a:r>
            <a:r>
              <a:rPr sz="1575" dirty="0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 </a:t>
            </a:r>
            <a:r>
              <a:rPr sz="1575" dirty="0" err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formularios</a:t>
            </a:r>
            <a:r>
              <a:rPr sz="1575" dirty="0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 POST </a:t>
            </a:r>
            <a:r>
              <a:rPr sz="1575" dirty="0" err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usan</a:t>
            </a:r>
            <a:r>
              <a:rPr sz="1575" dirty="0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 </a:t>
            </a:r>
            <a:r>
              <a:rPr sz="1575" dirty="0" err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protección</a:t>
            </a:r>
            <a:r>
              <a:rPr sz="1575" dirty="0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 CSRF.</a:t>
            </a:r>
            <a:endParaRPr sz="1575" dirty="0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1385" y="2177175"/>
            <a:ext cx="4760854" cy="2485312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16" y="4591220"/>
            <a:ext cx="5069282" cy="1962424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711" y="4896465"/>
            <a:ext cx="3676046" cy="15715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19782968e5_0_73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7" name="Fondo blanco del contenido S20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8" name="Franja superior azul S20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9" name="Acento superior 1 S20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0" name="Acento superior 2 S20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1" name="Acento superior 3 S20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2" name="Título de sección S20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393" name="Título del contenido S20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Vistas JSP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394" name="Texto del contenido S20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login.jsp y recuperar-clave.jsp reciben las credenciales. conversor.jsp presenta las categorías, unidades, formulario y respuesta.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2272" y="2409825"/>
            <a:ext cx="4642023" cy="243747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3855681"/>
            <a:ext cx="4117751" cy="279498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19782968e5_0_112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03" name="Fondo blanco del contenido S21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4" name="Franja superior azul S21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5" name="Acento superior 1 S21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6" name="Acento superior 2 S21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7" name="Acento superior 3 S21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8" name="Título de sección S21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409" name="Título del contenido S21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Despliegue en Payara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10" name="Texto del contenido S21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Primero se despliega el servidor REST. Después se compila el cliente con Maven, se despliega su WAR y se abre el contexto web.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1813" y="2209800"/>
            <a:ext cx="4401687" cy="1822134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60" y="4801523"/>
            <a:ext cx="8943976" cy="64344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19782968e5_0_135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13" name="Fondo blanco del contenido S22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4" name="Franja superior azul S22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5" name="Acento superior 1 S22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6" name="Acento superior 2 S22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7" name="Acento superior 3 S22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8" name="Título de sección S22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419" name="Título del contenido S22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Acceso web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20" name="Texto del contenido S22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AutenticacionServlet invoca el servicio y guarda el token en sesión HTTP. FiltroSesion protege las rutas privadas.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4508" y="3510117"/>
            <a:ext cx="5407646" cy="289068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19782968e5_0_123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1" name="Fondo blanco del contenido S23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2" name="Franja superior azul S23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3" name="Acento superior 1 S23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4" name="Acento superior 2 S23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5" name="Acento superior 3 S23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6" name="Título de sección S23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427" name="Título del contenido S23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Conversor web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28" name="Texto del contenido S23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El usuario selecciona categoría y unidades, ingresa el valor y envía la conversión a la API REST.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89331" y="2770422"/>
            <a:ext cx="5276011" cy="286346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7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33" name="Fondo blanco del contenido S24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4" name="Franja superior azul S24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5" name="Acento superior 1 S24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6" name="Acento superior 2 S24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7" name="Acento superior 3 S24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8" name="Título de sección S24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439" name="Título del contenido S24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Aplicación Android en Java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40" name="Texto del contenido S24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El cliente usa Android Studio, Gradle y Java, con compileSdk 35 y minSdk 26. Conserva las pantallas del cliente SOAP y solo cambia el adaptador de servicio.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2171" y="2252662"/>
            <a:ext cx="3419282" cy="37783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d624313899_0_157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40" name="Fondo blanco del contenido S25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1" name="Franja superior azul S25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2" name="Acento superior 1 S25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3" name="Acento superior 2 S25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4" name="Acento superior 3 S25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5" name="Título de sección S25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446" name="Título del contenido S25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MVC en Android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47" name="Texto del contenido S25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El modelo contiene sesión y respuestas. Las Activities presentan las vistas; los controladores coordinan acceso, catálogo y conversiones.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9445" y="2119129"/>
            <a:ext cx="3403368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2d624313899_0_172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49" name="Fondo blanco del contenido S26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50" name="Franja superior azul S26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51" name="Acento superior 1 S26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52" name="Acento superior 2 S26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53" name="Acento superior 3 S26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54" name="Título de sección S26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455" name="Título del contenido S26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Cliente REST para Android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56" name="Texto del contenido S26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ClienteRest usa HttpURLConnection y org.json, incluidos en Android. EjecutorAndroid realiza las llamadas fuera del hilo de interfaz.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339" y="4008785"/>
            <a:ext cx="3627749" cy="2588218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911" y="2209800"/>
            <a:ext cx="4718069" cy="307723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2d624313899_0_193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59" name="Fondo blanco del contenido S27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0" name="Franja superior azul S27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1" name="Acento superior 1 S27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2" name="Acento superior 2 S27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3" name="Acento superior 3 S27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4" name="Título de sección S27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465" name="Título del contenido S27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Pantallas Android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466" name="Texto del contenido S27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LoginActivity permite acceder y recuperar la clave. ConversionesActivity muestra el catálogo y el resultado de la operación.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0238" y="1920588"/>
            <a:ext cx="2161162" cy="4817049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986" y="1857375"/>
            <a:ext cx="2175527" cy="482512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2d6d00c5bd2_3_16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96" name="Fondo blanco del contenido S28"/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97" name="Franja superior azul S28"/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98" name="Acento superior 1 S28"/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99" name="Acento superior 2 S28"/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00" name="Acento superior 3 S28"/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01" name="Título de sección S28"/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defPPr>
            <a:lvl1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  <a:lvl6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6pPr>
            <a:lvl7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7pPr>
            <a:lvl8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8pPr>
            <a:lvl9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lvl9pPr>
          </a:lstStyle>
          <a:p>
            <a:pPr>
              <a:def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defRPr>
            </a:pPr>
            <a:r>
              <a:rPr sz="280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280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</a:endParaRPr>
          </a:p>
        </p:txBody>
      </p:sp>
      <p:sp>
        <p:nvSpPr>
          <p:cNvPr id="502" name="Título del contenido S28"/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950" b="1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Ejecución en emulador o teléfono</a:t>
            </a:r>
            <a:endParaRPr sz="1950" b="1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503" name="Texto del contenido S28"/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  <a:lvl1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1575">
                <a:solidFill>
                  <a:srgbClr val="3D3D3D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El emulador accede al API mediante 10.0.2.2:8080. Un teléfono usa la IP local del computador en la misma red o una URL de ngrok.</a:t>
            </a:r>
            <a:endParaRPr sz="1575">
              <a:solidFill>
                <a:srgbClr val="3D3D3D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9450" y="2000250"/>
            <a:ext cx="1911089" cy="423862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t>CONCLUSIONES</a:t>
            </a:r>
          </a:p>
        </p:txBody>
      </p:sp>
      <p:sp>
        <p:nvSpPr>
          <p:cNvPr id="503" name="Google Shape;503;p41"/>
          <p:cNvSpPr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sz="1900">
                <a:latin typeface="Cambria" panose="02040503050406030204"/>
                <a:ea typeface="Cambria" panose="02040503050406030204"/>
                <a:cs typeface="Cambria" panose="02040503050406030204"/>
              </a:rPr>
              <a:t>La misma API REST sirve a cuatro clientes Java: consola, escritorio, web y Android. El servicio centraliza las reglas de autenticación, catálogo y conversión, por lo que los cálculos se ejecutan en el servidor y no se duplican en cada interfaz.</a:t>
            </a:r>
            <a:endParaRPr sz="1900"/>
          </a:p>
          <a:p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900"/>
          </a:p>
          <a:p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sz="1900">
                <a:latin typeface="Cambria" panose="02040503050406030204"/>
                <a:ea typeface="Cambria" panose="02040503050406030204"/>
                <a:cs typeface="Cambria" panose="02040503050406030204"/>
              </a:rPr>
              <a:t>El proyecto funciona sin base de datos: las credenciales, las sesiones y el catálogo viven en memoria. Las sesiones vencen a los 15 minutos y un reinicio del servidor invalida los tokens.</a:t>
            </a:r>
            <a:endParaRPr sz="1900"/>
          </a:p>
        </p:txBody>
      </p:sp>
      <p:sp>
        <p:nvSpPr>
          <p:cNvPr id="504" name="Google Shape;504;p41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2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t>RECOMENDACIONES</a:t>
            </a:r>
          </a:p>
        </p:txBody>
      </p:sp>
      <p:sp>
        <p:nvSpPr>
          <p:cNvPr id="510" name="Google Shape;510;p42"/>
          <p:cNvSpPr>
            <a:spLocks noGrp="1"/>
          </p:cNvSpPr>
          <p:nvPr>
            <p:ph type="body" idx="1"/>
          </p:nvPr>
        </p:nvSpPr>
        <p:spPr>
          <a:xfrm>
            <a:off x="581200" y="2025325"/>
            <a:ext cx="8500800" cy="42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457200" lvl="0" indent="-34036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sz="1900"/>
              <a:t>Configurar la URL base y las credenciales mediante propiedades JVM o archivos de configuración para cada entorno.</a:t>
            </a:r>
            <a:endParaRPr sz="1900"/>
          </a:p>
          <a:p>
            <a:pPr marL="457200" lvl="0" indent="-34036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endParaRPr sz="1900"/>
          </a:p>
          <a:p>
            <a:pPr marL="457200" lvl="0" indent="-34036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sz="1900"/>
              <a:t>Usar HTTPS cuando el servicio salga de la red de laboratorio, porque el token Bearer viaja en cada petición.</a:t>
            </a:r>
            <a:endParaRPr sz="1900"/>
          </a:p>
          <a:p>
            <a:pPr marL="457200" lvl="0" indent="-34036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endParaRPr sz="1900"/>
          </a:p>
          <a:p>
            <a:pPr marL="457200" lvl="0" indent="-34036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sz="1900"/>
              <a:t>Documentar la API con OpenAPI para mantener alineados el servidor y los clientes cuando cambien las rutas.</a:t>
            </a:r>
            <a:endParaRPr sz="1900"/>
          </a:p>
          <a:p>
            <a:pPr marL="457200" lvl="0" indent="-34036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endParaRPr sz="1900"/>
          </a:p>
          <a:p>
            <a:pPr marL="457200" lvl="0" indent="-34036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sz="1900"/>
              <a:t>Ampliar las pruebas de integración para verificar los cuatro clientes contra el mismo servidor antes de cada entrega.</a:t>
            </a:r>
            <a:endParaRPr sz="1900"/>
          </a:p>
        </p:txBody>
      </p:sp>
      <p:sp>
        <p:nvSpPr>
          <p:cNvPr id="511" name="Google Shape;511;p42"/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3270" marR="0" lvl="1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6070" marR="0" lvl="0" indent="-30607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12021</Words>
  <Application>WPS Presentation</Application>
  <PresentationFormat>Panorámica</PresentationFormat>
  <Paragraphs>505</Paragraphs>
  <Slides>30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1" baseType="lpstr">
      <vt:lpstr>Arial</vt:lpstr>
      <vt:lpstr>SimSun</vt:lpstr>
      <vt:lpstr>Wingdings</vt:lpstr>
      <vt:lpstr>Arial</vt:lpstr>
      <vt:lpstr>Gill Sans</vt:lpstr>
      <vt:lpstr>Noto Sans Symbols</vt:lpstr>
      <vt:lpstr>Segoe Print</vt:lpstr>
      <vt:lpstr>Cambria</vt:lpstr>
      <vt:lpstr>Microsoft YaHei</vt:lpstr>
      <vt:lpstr>Arial Unicode MS</vt:lpstr>
      <vt:lpstr>Dividendo</vt:lpstr>
      <vt:lpstr>REST JAVA</vt:lpstr>
      <vt:lpstr>PowerPoint 演示文稿</vt:lpstr>
      <vt:lpstr>DESARROLLO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CONCLUSIONES</vt:lpstr>
      <vt:lpstr>RECOMENDACIONES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Sebas Parra</cp:lastModifiedBy>
  <cp:revision>9</cp:revision>
  <dcterms:created xsi:type="dcterms:W3CDTF">2026-10-23T21:16:00Z</dcterms:created>
  <dcterms:modified xsi:type="dcterms:W3CDTF">2026-10-27T14:33:58Z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379F01B07A0F498BAC246B4339F214C7_12</vt:lpwstr>
  </property>
  <property fmtid="{D5CDD505-2E9C-101B-9397-08002B2CF9AE}" pid="3" name="KSOProductBuildVer">
    <vt:lpwstr>2058-12.1.0.29162</vt:lpwstr>
  </property>
</Properties>
</file>