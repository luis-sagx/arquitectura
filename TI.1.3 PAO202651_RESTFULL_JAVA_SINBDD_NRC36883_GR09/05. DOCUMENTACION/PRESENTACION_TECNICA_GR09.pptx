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embeddedFontLst>
    <p:embeddedFont>
      <p:font typeface="Cambria" panose="02040503050406030204" pitchFamily="18" charset="0"/>
      <p:regular r:id="rId33"/>
      <p:bold r:id="rId34"/>
      <p:italic r:id="rId35"/>
      <p:boldItalic r:id="rId36"/>
    </p:embeddedFont>
    <p:embeddedFont>
      <p:font typeface="Gill Sans" panose="020B0604020202020204" charset="0"/>
      <p:regular r:id="rId37"/>
      <p:bold r:id="rId38"/>
    </p:embeddedFont>
  </p:embeddedFontLst>
  <p:defaultTextStyle>
    <a:defPPr marR="0" algn="l">
      <a:lnSpc>
        <a:spcPct val="100000"/>
      </a:lnSpc>
      <a:spcBef>
        <a:spcPts val="0"/>
      </a:spcBef>
      <a:spcAft>
        <a:spcPts val="0"/>
      </a:spcAft>
      <a:buNone/>
    </a:defPPr>
    <a:lvl1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9" dt="2026-10-26T22:45:32.6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ERS_CONVERSION_UNIDADES_SEGURIDAD_COMPLETA (1).docx, portada.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ERS_CONVERSION_UNIDADES_SEGURIDAD_COMPLETA (1).docx, alcance y canales.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ERS_CONVERSION_UNIDADES_SEGURIDAD_COMPLETA (1).docx, propósito y alcance.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WS_CON_UNI_JAVA_REST.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WS_CON_UNI_JAVA_REST.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WS_CON_UNI_JAVA_REST.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WS_CON_UNI_JAVA_REST.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WS_CON_UNI_JAVA_REST.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CLI_ESC_CON_UNI_JAVA_REST.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CLI_ESC_CON_UNI_JAVA_REST.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CLI_ESC_CON_UNI_JAVA_REST.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CLI_ESC_CON_UNI_JAVA_REST.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CLI_ESC_CON_UNI_JAVA_REST.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CLI_WEB_CON_UNI_JAVA_REST.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CLI_WEB_CON_UNI_JAVA_REST.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CLI_WEB_CON_UNI_JAVA_REST.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CLI_WEB_CON_UNI_JAVA_REST.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CLI_WEB_CON_UNI_JAVA_REST.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CLI_WEB_CON_UNI_JAVA_REST.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CLI_MOV_CON_UNI_JAVA_REST.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CLI_MOV_CON_UNI_JAVA_REST.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CLI_MOV_CON_UNI_JAVA_REST.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CLI_MOV_CON_UNI_JAVA_REST.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CLI_MOV_CON_UNI_JAVA_REST.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README de los cuatro clientes y del servidor; 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README del servidor; README de los cuatro clientes.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5">
            <a:extLst>
              <a:ext uri="{FF2B5EF4-FFF2-40B4-BE49-F238E27FC236}">
                <a16:creationId xmlns:a16="http://schemas.microsoft.com/office/drawing/2014/main" id="{81F7DFCF-B0B0-43C9-A25F-44FF7933E329}"/>
              </a:ext>
            </a:extLst>
          </p:cNvPr>
          <p:cNvSpPr>
            <a:spLocks noGrp="1"/>
          </p:cNvSpPr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Google Shape;16;p45">
            <a:extLst>
              <a:ext uri="{FF2B5EF4-FFF2-40B4-BE49-F238E27FC236}">
                <a16:creationId xmlns:a16="http://schemas.microsoft.com/office/drawing/2014/main" id="{AECFF515-8A5A-4EE8-A018-C63EEADF9A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>
            <a:extLst>
              <a:ext uri="{FF2B5EF4-FFF2-40B4-BE49-F238E27FC236}">
                <a16:creationId xmlns:a16="http://schemas.microsoft.com/office/drawing/2014/main" id="{7F0FAADA-8C5F-466B-9914-A15E066F9E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5">
            <a:extLst>
              <a:ext uri="{FF2B5EF4-FFF2-40B4-BE49-F238E27FC236}">
                <a16:creationId xmlns:a16="http://schemas.microsoft.com/office/drawing/2014/main" id="{907C1668-2893-43C4-9F67-CF18FBDDFA7D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5">
            <a:extLst>
              <a:ext uri="{FF2B5EF4-FFF2-40B4-BE49-F238E27FC236}">
                <a16:creationId xmlns:a16="http://schemas.microsoft.com/office/drawing/2014/main" id="{E7C77B1B-9B39-4371-9052-4EE8EA8C7149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>
            <a:extLst>
              <a:ext uri="{FF2B5EF4-FFF2-40B4-BE49-F238E27FC236}">
                <a16:creationId xmlns:a16="http://schemas.microsoft.com/office/drawing/2014/main" id="{2FCD1942-86CE-4912-B1F4-C8512F89AD0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>
            <a:extLst>
              <a:ext uri="{FF2B5EF4-FFF2-40B4-BE49-F238E27FC236}">
                <a16:creationId xmlns:a16="http://schemas.microsoft.com/office/drawing/2014/main" id="{DA2EAED6-10C7-421F-957B-EA4BCD951F94}"/>
              </a:ext>
            </a:extLst>
          </p:cNvPr>
          <p:cNvSpPr>
            <a:spLocks noGrp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Google Shape;23;p46">
            <a:extLst>
              <a:ext uri="{FF2B5EF4-FFF2-40B4-BE49-F238E27FC236}">
                <a16:creationId xmlns:a16="http://schemas.microsoft.com/office/drawing/2014/main" id="{820F1418-23B4-4753-B2ED-EDF7764F5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6">
            <a:extLst>
              <a:ext uri="{FF2B5EF4-FFF2-40B4-BE49-F238E27FC236}">
                <a16:creationId xmlns:a16="http://schemas.microsoft.com/office/drawing/2014/main" id="{726DEA27-0080-4940-A41F-93FA083446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46">
            <a:extLst>
              <a:ext uri="{FF2B5EF4-FFF2-40B4-BE49-F238E27FC236}">
                <a16:creationId xmlns:a16="http://schemas.microsoft.com/office/drawing/2014/main" id="{102D231E-32CF-42DF-82BC-2E9809FD3BF5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6">
            <a:extLst>
              <a:ext uri="{FF2B5EF4-FFF2-40B4-BE49-F238E27FC236}">
                <a16:creationId xmlns:a16="http://schemas.microsoft.com/office/drawing/2014/main" id="{19FCC995-593F-44F5-BE3C-D2EA1607268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6">
            <a:extLst>
              <a:ext uri="{FF2B5EF4-FFF2-40B4-BE49-F238E27FC236}">
                <a16:creationId xmlns:a16="http://schemas.microsoft.com/office/drawing/2014/main" id="{1774677B-22F4-47A0-B40A-98F33D27645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7">
            <a:extLst>
              <a:ext uri="{FF2B5EF4-FFF2-40B4-BE49-F238E27FC236}">
                <a16:creationId xmlns:a16="http://schemas.microsoft.com/office/drawing/2014/main" id="{A28D9EF3-4C91-4723-9203-6830AB35665D}"/>
              </a:ext>
            </a:extLst>
          </p:cNvPr>
          <p:cNvSpPr>
            <a:spLocks noGrp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Google Shape;30;p47">
            <a:extLst>
              <a:ext uri="{FF2B5EF4-FFF2-40B4-BE49-F238E27FC236}">
                <a16:creationId xmlns:a16="http://schemas.microsoft.com/office/drawing/2014/main" id="{481B5944-5F49-4025-B4C0-7015B51F0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7">
            <a:extLst>
              <a:ext uri="{FF2B5EF4-FFF2-40B4-BE49-F238E27FC236}">
                <a16:creationId xmlns:a16="http://schemas.microsoft.com/office/drawing/2014/main" id="{C8F05D42-1F7B-431F-8F65-F5BAE32E5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7">
            <a:extLst>
              <a:ext uri="{FF2B5EF4-FFF2-40B4-BE49-F238E27FC236}">
                <a16:creationId xmlns:a16="http://schemas.microsoft.com/office/drawing/2014/main" id="{CFFF0A8E-CD25-4A14-8748-E52FAECA427C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>
            <a:extLst>
              <a:ext uri="{FF2B5EF4-FFF2-40B4-BE49-F238E27FC236}">
                <a16:creationId xmlns:a16="http://schemas.microsoft.com/office/drawing/2014/main" id="{087C1B5E-5074-4CCA-BBCC-E9C9E8D1631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>
            <a:extLst>
              <a:ext uri="{FF2B5EF4-FFF2-40B4-BE49-F238E27FC236}">
                <a16:creationId xmlns:a16="http://schemas.microsoft.com/office/drawing/2014/main" id="{9D6B3F20-2351-4972-A58C-66FC442ACF5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8">
            <a:extLst>
              <a:ext uri="{FF2B5EF4-FFF2-40B4-BE49-F238E27FC236}">
                <a16:creationId xmlns:a16="http://schemas.microsoft.com/office/drawing/2014/main" id="{E82128D7-3D14-4383-A20C-51E6333DF3A8}"/>
              </a:ext>
            </a:extLst>
          </p:cNvPr>
          <p:cNvSpPr>
            <a:spLocks noGrp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Google Shape;37;p48">
            <a:extLst>
              <a:ext uri="{FF2B5EF4-FFF2-40B4-BE49-F238E27FC236}">
                <a16:creationId xmlns:a16="http://schemas.microsoft.com/office/drawing/2014/main" id="{A5D71FAD-5DDE-447D-9E8C-DF391383A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>
            <a:extLst>
              <a:ext uri="{FF2B5EF4-FFF2-40B4-BE49-F238E27FC236}">
                <a16:creationId xmlns:a16="http://schemas.microsoft.com/office/drawing/2014/main" id="{534CED20-E911-486D-A46D-8250D6954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48">
            <a:extLst>
              <a:ext uri="{FF2B5EF4-FFF2-40B4-BE49-F238E27FC236}">
                <a16:creationId xmlns:a16="http://schemas.microsoft.com/office/drawing/2014/main" id="{152BBE31-7BF2-4878-BC66-EABB333ED61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48">
            <a:extLst>
              <a:ext uri="{FF2B5EF4-FFF2-40B4-BE49-F238E27FC236}">
                <a16:creationId xmlns:a16="http://schemas.microsoft.com/office/drawing/2014/main" id="{E144B5FC-8BA8-42DB-991B-B97D051E9819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8">
            <a:extLst>
              <a:ext uri="{FF2B5EF4-FFF2-40B4-BE49-F238E27FC236}">
                <a16:creationId xmlns:a16="http://schemas.microsoft.com/office/drawing/2014/main" id="{8814986B-B3D5-4023-92DA-5E66FFEEC13F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8">
            <a:extLst>
              <a:ext uri="{FF2B5EF4-FFF2-40B4-BE49-F238E27FC236}">
                <a16:creationId xmlns:a16="http://schemas.microsoft.com/office/drawing/2014/main" id="{434FFCB9-36F8-4DD2-9F86-F149062B16B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9">
            <a:extLst>
              <a:ext uri="{FF2B5EF4-FFF2-40B4-BE49-F238E27FC236}">
                <a16:creationId xmlns:a16="http://schemas.microsoft.com/office/drawing/2014/main" id="{A47DCEB2-AFF5-4C93-8459-BA856408545E}"/>
              </a:ext>
            </a:extLst>
          </p:cNvPr>
          <p:cNvSpPr>
            <a:spLocks noGrp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Google Shape;45;p49">
            <a:extLst>
              <a:ext uri="{FF2B5EF4-FFF2-40B4-BE49-F238E27FC236}">
                <a16:creationId xmlns:a16="http://schemas.microsoft.com/office/drawing/2014/main" id="{96C0BAFD-703C-4798-B264-B1463D8CC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9">
            <a:extLst>
              <a:ext uri="{FF2B5EF4-FFF2-40B4-BE49-F238E27FC236}">
                <a16:creationId xmlns:a16="http://schemas.microsoft.com/office/drawing/2014/main" id="{58CF630C-968B-4DD4-B0C5-8F61CE4BDC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9">
            <a:extLst>
              <a:ext uri="{FF2B5EF4-FFF2-40B4-BE49-F238E27FC236}">
                <a16:creationId xmlns:a16="http://schemas.microsoft.com/office/drawing/2014/main" id="{BA978D04-EBEA-4AB5-B8FA-9CAA19B8AE1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49">
            <a:extLst>
              <a:ext uri="{FF2B5EF4-FFF2-40B4-BE49-F238E27FC236}">
                <a16:creationId xmlns:a16="http://schemas.microsoft.com/office/drawing/2014/main" id="{FB26FA00-50E6-4256-99B3-8A427F6E8F5C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9">
            <a:extLst>
              <a:ext uri="{FF2B5EF4-FFF2-40B4-BE49-F238E27FC236}">
                <a16:creationId xmlns:a16="http://schemas.microsoft.com/office/drawing/2014/main" id="{D5D229BD-B398-450E-BD8E-0893B06BD21B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49">
            <a:extLst>
              <a:ext uri="{FF2B5EF4-FFF2-40B4-BE49-F238E27FC236}">
                <a16:creationId xmlns:a16="http://schemas.microsoft.com/office/drawing/2014/main" id="{E7B022CB-B59B-4D66-B534-784561399AF4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9">
            <a:extLst>
              <a:ext uri="{FF2B5EF4-FFF2-40B4-BE49-F238E27FC236}">
                <a16:creationId xmlns:a16="http://schemas.microsoft.com/office/drawing/2014/main" id="{E9F00149-9248-4461-821A-5B56F9A675B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9">
            <a:extLst>
              <a:ext uri="{FF2B5EF4-FFF2-40B4-BE49-F238E27FC236}">
                <a16:creationId xmlns:a16="http://schemas.microsoft.com/office/drawing/2014/main" id="{8FC45D92-E1AD-4496-B594-FDA4CB09C5C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0">
            <a:extLst>
              <a:ext uri="{FF2B5EF4-FFF2-40B4-BE49-F238E27FC236}">
                <a16:creationId xmlns:a16="http://schemas.microsoft.com/office/drawing/2014/main" id="{CBF91A3E-77E7-481B-A6FA-910CE3EAC908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0">
            <a:extLst>
              <a:ext uri="{FF2B5EF4-FFF2-40B4-BE49-F238E27FC236}">
                <a16:creationId xmlns:a16="http://schemas.microsoft.com/office/drawing/2014/main" id="{AEA012E0-295D-40C2-A6F1-7F0EC10E7EBF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0">
            <a:extLst>
              <a:ext uri="{FF2B5EF4-FFF2-40B4-BE49-F238E27FC236}">
                <a16:creationId xmlns:a16="http://schemas.microsoft.com/office/drawing/2014/main" id="{18E12064-317B-4349-BC4E-5A49E5395C2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57" name="Google Shape;57;p50">
            <a:extLst>
              <a:ext uri="{FF2B5EF4-FFF2-40B4-BE49-F238E27FC236}">
                <a16:creationId xmlns:a16="http://schemas.microsoft.com/office/drawing/2014/main" id="{1D0858B1-957F-4F3B-A568-2BDCCB1E67C8}"/>
              </a:ext>
            </a:extLst>
          </p:cNvPr>
          <p:cNvSpPr>
            <a:spLocks noGrp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Google Shape;58;p50">
            <a:extLst>
              <a:ext uri="{FF2B5EF4-FFF2-40B4-BE49-F238E27FC236}">
                <a16:creationId xmlns:a16="http://schemas.microsoft.com/office/drawing/2014/main" id="{737991D4-8CBE-493F-ABA6-6CA2F5238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1">
            <a:extLst>
              <a:ext uri="{FF2B5EF4-FFF2-40B4-BE49-F238E27FC236}">
                <a16:creationId xmlns:a16="http://schemas.microsoft.com/office/drawing/2014/main" id="{4CB699C7-DD8D-4B02-B119-B3A046381B6C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51">
            <a:extLst>
              <a:ext uri="{FF2B5EF4-FFF2-40B4-BE49-F238E27FC236}">
                <a16:creationId xmlns:a16="http://schemas.microsoft.com/office/drawing/2014/main" id="{0012E0E8-22D2-4828-96D4-07289747E034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51">
            <a:extLst>
              <a:ext uri="{FF2B5EF4-FFF2-40B4-BE49-F238E27FC236}">
                <a16:creationId xmlns:a16="http://schemas.microsoft.com/office/drawing/2014/main" id="{BE212704-F63D-4467-B4D1-E1A05DF28A6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2">
            <a:extLst>
              <a:ext uri="{FF2B5EF4-FFF2-40B4-BE49-F238E27FC236}">
                <a16:creationId xmlns:a16="http://schemas.microsoft.com/office/drawing/2014/main" id="{4A1B2026-EB38-44EF-A0AF-764273F97F5C}"/>
              </a:ext>
            </a:extLst>
          </p:cNvPr>
          <p:cNvSpPr>
            <a:spLocks noGrp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Google Shape;65;p52">
            <a:extLst>
              <a:ext uri="{FF2B5EF4-FFF2-40B4-BE49-F238E27FC236}">
                <a16:creationId xmlns:a16="http://schemas.microsoft.com/office/drawing/2014/main" id="{DE9E385E-1F19-492B-847A-E036CBF98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2">
            <a:extLst>
              <a:ext uri="{FF2B5EF4-FFF2-40B4-BE49-F238E27FC236}">
                <a16:creationId xmlns:a16="http://schemas.microsoft.com/office/drawing/2014/main" id="{1139554F-F0F8-4A5B-B738-EE4DA1C1A4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52">
            <a:extLst>
              <a:ext uri="{FF2B5EF4-FFF2-40B4-BE49-F238E27FC236}">
                <a16:creationId xmlns:a16="http://schemas.microsoft.com/office/drawing/2014/main" id="{DCA3C867-D9A9-44CC-B2AF-39136477F9A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52">
            <a:extLst>
              <a:ext uri="{FF2B5EF4-FFF2-40B4-BE49-F238E27FC236}">
                <a16:creationId xmlns:a16="http://schemas.microsoft.com/office/drawing/2014/main" id="{B4E33A82-B0DC-4FF4-BFBF-BF541E648C0C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2">
            <a:extLst>
              <a:ext uri="{FF2B5EF4-FFF2-40B4-BE49-F238E27FC236}">
                <a16:creationId xmlns:a16="http://schemas.microsoft.com/office/drawing/2014/main" id="{71C7612B-45BE-43C6-9BFF-BECCDB1C04A0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2">
            <a:extLst>
              <a:ext uri="{FF2B5EF4-FFF2-40B4-BE49-F238E27FC236}">
                <a16:creationId xmlns:a16="http://schemas.microsoft.com/office/drawing/2014/main" id="{6D9F8C13-E65B-48CC-9AE4-0E674D01C65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3">
            <a:extLst>
              <a:ext uri="{FF2B5EF4-FFF2-40B4-BE49-F238E27FC236}">
                <a16:creationId xmlns:a16="http://schemas.microsoft.com/office/drawing/2014/main" id="{FE40F1DB-BF19-412F-99B5-E52B408B8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53">
            <a:extLst>
              <a:ext uri="{FF2B5EF4-FFF2-40B4-BE49-F238E27FC236}">
                <a16:creationId xmlns:a16="http://schemas.microsoft.com/office/drawing/2014/main" id="{061DACDE-73F5-41D1-A5D0-4175AC1FAEA4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53">
            <a:extLst>
              <a:ext uri="{FF2B5EF4-FFF2-40B4-BE49-F238E27FC236}">
                <a16:creationId xmlns:a16="http://schemas.microsoft.com/office/drawing/2014/main" id="{DCE36001-0315-4E88-BBB8-F2243A3545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53">
            <a:extLst>
              <a:ext uri="{FF2B5EF4-FFF2-40B4-BE49-F238E27FC236}">
                <a16:creationId xmlns:a16="http://schemas.microsoft.com/office/drawing/2014/main" id="{EFB92BCB-7165-46A6-8AE3-5E0B97FDCC1D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3">
            <a:extLst>
              <a:ext uri="{FF2B5EF4-FFF2-40B4-BE49-F238E27FC236}">
                <a16:creationId xmlns:a16="http://schemas.microsoft.com/office/drawing/2014/main" id="{8F0D7E44-3EF0-4FA7-8BDB-5B23F508AE19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3">
            <a:extLst>
              <a:ext uri="{FF2B5EF4-FFF2-40B4-BE49-F238E27FC236}">
                <a16:creationId xmlns:a16="http://schemas.microsoft.com/office/drawing/2014/main" id="{42859624-3DA2-4025-8BEE-1EEACB439CB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4">
            <a:extLst>
              <a:ext uri="{FF2B5EF4-FFF2-40B4-BE49-F238E27FC236}">
                <a16:creationId xmlns:a16="http://schemas.microsoft.com/office/drawing/2014/main" id="{03468C5A-88D6-4A4C-BBDC-77B858D7E78C}"/>
              </a:ext>
            </a:extLst>
          </p:cNvPr>
          <p:cNvSpPr>
            <a:spLocks noGrp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Google Shape;80;p54">
            <a:extLst>
              <a:ext uri="{FF2B5EF4-FFF2-40B4-BE49-F238E27FC236}">
                <a16:creationId xmlns:a16="http://schemas.microsoft.com/office/drawing/2014/main" id="{C38EF062-CE41-4E56-AA64-0AE8CA85E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54">
            <a:extLst>
              <a:ext uri="{FF2B5EF4-FFF2-40B4-BE49-F238E27FC236}">
                <a16:creationId xmlns:a16="http://schemas.microsoft.com/office/drawing/2014/main" id="{D1C2769B-2F77-494B-B5CE-DF37CC6682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54">
            <a:extLst>
              <a:ext uri="{FF2B5EF4-FFF2-40B4-BE49-F238E27FC236}">
                <a16:creationId xmlns:a16="http://schemas.microsoft.com/office/drawing/2014/main" id="{C0202F61-654C-400D-B437-6BAECD25B84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4">
            <a:extLst>
              <a:ext uri="{FF2B5EF4-FFF2-40B4-BE49-F238E27FC236}">
                <a16:creationId xmlns:a16="http://schemas.microsoft.com/office/drawing/2014/main" id="{9B1AF221-CF0C-43F5-8ECC-A47C4BE2528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54">
            <a:extLst>
              <a:ext uri="{FF2B5EF4-FFF2-40B4-BE49-F238E27FC236}">
                <a16:creationId xmlns:a16="http://schemas.microsoft.com/office/drawing/2014/main" id="{A3B6E066-2920-400B-ABBD-194544AA758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5">
            <a:extLst>
              <a:ext uri="{FF2B5EF4-FFF2-40B4-BE49-F238E27FC236}">
                <a16:creationId xmlns:a16="http://schemas.microsoft.com/office/drawing/2014/main" id="{E69CB720-1EA3-41DB-B965-7890B9D942EE}"/>
              </a:ext>
            </a:extLst>
          </p:cNvPr>
          <p:cNvSpPr>
            <a:spLocks noGrp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Google Shape;87;p55">
            <a:extLst>
              <a:ext uri="{FF2B5EF4-FFF2-40B4-BE49-F238E27FC236}">
                <a16:creationId xmlns:a16="http://schemas.microsoft.com/office/drawing/2014/main" id="{03771F2A-C701-4CBC-BECB-8E1FFEC4C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55">
            <a:extLst>
              <a:ext uri="{FF2B5EF4-FFF2-40B4-BE49-F238E27FC236}">
                <a16:creationId xmlns:a16="http://schemas.microsoft.com/office/drawing/2014/main" id="{61209296-AE15-4408-9417-D3E5158E8D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55">
            <a:extLst>
              <a:ext uri="{FF2B5EF4-FFF2-40B4-BE49-F238E27FC236}">
                <a16:creationId xmlns:a16="http://schemas.microsoft.com/office/drawing/2014/main" id="{ADEEDEAB-444A-40E8-91D7-939B1C2A5BE9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55">
            <a:extLst>
              <a:ext uri="{FF2B5EF4-FFF2-40B4-BE49-F238E27FC236}">
                <a16:creationId xmlns:a16="http://schemas.microsoft.com/office/drawing/2014/main" id="{7502D426-5355-4074-9DC4-A52F04B3B1C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55">
            <a:extLst>
              <a:ext uri="{FF2B5EF4-FFF2-40B4-BE49-F238E27FC236}">
                <a16:creationId xmlns:a16="http://schemas.microsoft.com/office/drawing/2014/main" id="{0DD6D9CD-B23E-42A1-809A-2A59800F78C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4">
            <a:extLst>
              <a:ext uri="{FF2B5EF4-FFF2-40B4-BE49-F238E27FC236}">
                <a16:creationId xmlns:a16="http://schemas.microsoft.com/office/drawing/2014/main" id="{28BC7AC6-7EB3-464A-8784-CB739CBB9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7" name="Google Shape;7;p44">
            <a:extLst>
              <a:ext uri="{FF2B5EF4-FFF2-40B4-BE49-F238E27FC236}">
                <a16:creationId xmlns:a16="http://schemas.microsoft.com/office/drawing/2014/main" id="{1AE3E04F-CC4F-4463-955A-09E6F3782F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marR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1pPr>
            <a:lvl2pPr marL="914400" marR="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2pPr>
            <a:lvl3pPr marL="1371600" marR="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3pPr>
            <a:lvl4pPr marL="1828800" marR="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4pPr>
            <a:lvl5pPr marL="22860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5pPr>
            <a:lvl6pPr marL="27432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6pPr>
            <a:lvl7pPr marL="32004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7pPr>
            <a:lvl8pPr marL="3657600" marR="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8pPr>
            <a:lvl9pPr marL="4114800" marR="0" indent="-298703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endParaRPr/>
          </a:p>
        </p:txBody>
      </p:sp>
      <p:sp>
        <p:nvSpPr>
          <p:cNvPr id="8" name="Google Shape;8;p44">
            <a:extLst>
              <a:ext uri="{FF2B5EF4-FFF2-40B4-BE49-F238E27FC236}">
                <a16:creationId xmlns:a16="http://schemas.microsoft.com/office/drawing/2014/main" id="{AB2F1B22-6333-4C66-AA79-3225A6B627D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9pPr>
          </a:lstStyle>
          <a:p>
            <a:endParaRPr/>
          </a:p>
        </p:txBody>
      </p:sp>
      <p:sp>
        <p:nvSpPr>
          <p:cNvPr id="9" name="Google Shape;9;p44">
            <a:extLst>
              <a:ext uri="{FF2B5EF4-FFF2-40B4-BE49-F238E27FC236}">
                <a16:creationId xmlns:a16="http://schemas.microsoft.com/office/drawing/2014/main" id="{B72B0364-F582-4558-98B6-6DCD1ADE140F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9pPr>
          </a:lstStyle>
          <a:p>
            <a:endParaRPr/>
          </a:p>
        </p:txBody>
      </p:sp>
      <p:sp>
        <p:nvSpPr>
          <p:cNvPr id="10" name="Google Shape;10;p44">
            <a:extLst>
              <a:ext uri="{FF2B5EF4-FFF2-40B4-BE49-F238E27FC236}">
                <a16:creationId xmlns:a16="http://schemas.microsoft.com/office/drawing/2014/main" id="{834E625B-5E90-460C-B2A9-8D5293E0F86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11" name="Google Shape;11;p44">
            <a:extLst>
              <a:ext uri="{FF2B5EF4-FFF2-40B4-BE49-F238E27FC236}">
                <a16:creationId xmlns:a16="http://schemas.microsoft.com/office/drawing/2014/main" id="{55D2A79D-BCB1-401A-B50E-4CEE4F0A3831}"/>
              </a:ext>
            </a:extLst>
          </p:cNvPr>
          <p:cNvSpPr>
            <a:spLocks noGrp="1"/>
          </p:cNvSpPr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Google Shape;12;p44">
            <a:extLst>
              <a:ext uri="{FF2B5EF4-FFF2-40B4-BE49-F238E27FC236}">
                <a16:creationId xmlns:a16="http://schemas.microsoft.com/office/drawing/2014/main" id="{DC4D634B-B635-4B26-B8ED-28068DF4CA13}"/>
              </a:ext>
            </a:extLst>
          </p:cNvPr>
          <p:cNvSpPr>
            <a:spLocks noGrp="1"/>
          </p:cNvSpPr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Google Shape;13;p44">
            <a:extLst>
              <a:ext uri="{FF2B5EF4-FFF2-40B4-BE49-F238E27FC236}">
                <a16:creationId xmlns:a16="http://schemas.microsoft.com/office/drawing/2014/main" id="{4A18FF3E-8485-45E6-A6DF-E8B36086755F}"/>
              </a:ext>
            </a:extLst>
          </p:cNvPr>
          <p:cNvSpPr>
            <a:spLocks noGrp="1"/>
          </p:cNvSpPr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>
            <a:extLst>
              <a:ext uri="{FF2B5EF4-FFF2-40B4-BE49-F238E27FC236}">
                <a16:creationId xmlns:a16="http://schemas.microsoft.com/office/drawing/2014/main" id="{A3D3BC27-38C9-4577-B9CA-B341FC7157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 fontScale="90345"/>
          </a:bodyPr>
          <a:lstStyle/>
          <a:p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>
                <a:solidFill>
                  <a:schemeClr val="lt1"/>
                </a:solidFill>
              </a:rPr>
              <a:t>MANUAL TÉCNICO</a:t>
            </a:r>
            <a:endParaRPr/>
          </a:p>
          <a:p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>
                <a:solidFill>
                  <a:schemeClr val="lt1"/>
                </a:solidFill>
              </a:rPr>
              <a:t>CONVERSOR DE UNIDADES</a:t>
            </a:r>
            <a:endParaRPr/>
          </a:p>
          <a:p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>
                <a:solidFill>
                  <a:schemeClr val="lt1"/>
                </a:solidFill>
              </a:rPr>
              <a:t>REST JAVA</a:t>
            </a:r>
            <a:endParaRPr/>
          </a:p>
        </p:txBody>
      </p:sp>
      <p:sp>
        <p:nvSpPr>
          <p:cNvPr id="97" name="Google Shape;97;p1">
            <a:extLst>
              <a:ext uri="{FF2B5EF4-FFF2-40B4-BE49-F238E27FC236}">
                <a16:creationId xmlns:a16="http://schemas.microsoft.com/office/drawing/2014/main" id="{B45318DE-2B33-4B0F-9B21-BCBF45B8DE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t>INTEGRANTES:  Parra Rosales Sebastián Enrique</a:t>
            </a:r>
            <a:endParaRPr b="1">
              <a:solidFill>
                <a:schemeClr val="lt1"/>
              </a:solidFill>
            </a:endParaRPr>
          </a:p>
          <a:p>
            <a:pPr marL="0" lvl="0" indent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Sagnay Pilamunga Luis Eduardo</a:t>
            </a:r>
            <a:endParaRPr>
              <a:solidFill>
                <a:schemeClr val="lt1"/>
              </a:solidFill>
            </a:endParaRPr>
          </a:p>
          <a:p>
            <a:pPr marL="0" lvl="0" indent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Yépez Morán Jefferson David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">
            <a:extLst>
              <a:ext uri="{FF2B5EF4-FFF2-40B4-BE49-F238E27FC236}">
                <a16:creationId xmlns:a16="http://schemas.microsoft.com/office/drawing/2014/main" id="{CF0005BE-44E9-4814-B7A8-B47DC0217A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ln>
            <a:noFill/>
          </a:ln>
        </p:spPr>
      </p:pic>
      <p:sp>
        <p:nvSpPr>
          <p:cNvPr id="99" name="Google Shape;99;p1">
            <a:extLst>
              <a:ext uri="{FF2B5EF4-FFF2-40B4-BE49-F238E27FC236}">
                <a16:creationId xmlns:a16="http://schemas.microsoft.com/office/drawing/2014/main" id="{9CD1E8BB-8354-4AD6-B770-62910AE302B9}"/>
              </a:ext>
            </a:extLst>
          </p:cNvPr>
          <p:cNvSpPr>
            <a:spLocks noGrp="1"/>
          </p:cNvSpPr>
          <p:nvPr/>
        </p:nvSpPr>
        <p:spPr>
          <a:xfrm>
            <a:off x="7239000" y="5301806"/>
            <a:ext cx="4572000" cy="1235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FECHA:  08/10/2026</a:t>
            </a:r>
            <a:endParaRPr sz="16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</a:endParaRPr>
          </a:p>
          <a:p>
            <a:pPr marL="0" marR="0" lvl="0" indent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ING: Eduardo Mauricio Campaña Ortega</a:t>
            </a:r>
          </a:p>
        </p:txBody>
      </p:sp>
      <p:sp>
        <p:nvSpPr>
          <p:cNvPr id="100" name="Google Shape;100;p1">
            <a:extLst>
              <a:ext uri="{FF2B5EF4-FFF2-40B4-BE49-F238E27FC236}">
                <a16:creationId xmlns:a16="http://schemas.microsoft.com/office/drawing/2014/main" id="{111340CB-9A53-468E-BAB9-D0074805D87E}"/>
              </a:ext>
            </a:extLst>
          </p:cNvPr>
          <p:cNvSpPr>
            <a:spLocks noGrp="1"/>
          </p:cNvSpPr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49417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>
            <a:extLst>
              <a:ext uri="{FF2B5EF4-FFF2-40B4-BE49-F238E27FC236}">
                <a16:creationId xmlns:a16="http://schemas.microsoft.com/office/drawing/2014/main" id="{BFEC824B-B37F-4C9F-9487-AFC41E7CB619}"/>
              </a:ext>
            </a:extLst>
          </p:cNvPr>
          <p:cNvSpPr>
            <a:spLocks noGrp="1"/>
          </p:cNvSpPr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6" name="Google Shape;106;p2">
            <a:extLst>
              <a:ext uri="{FF2B5EF4-FFF2-40B4-BE49-F238E27FC236}">
                <a16:creationId xmlns:a16="http://schemas.microsoft.com/office/drawing/2014/main" id="{108AD997-5CC0-4B49-9372-403A26D0F3B7}"/>
              </a:ext>
            </a:extLst>
          </p:cNvPr>
          <p:cNvSpPr>
            <a:spLocks noGrp="1"/>
          </p:cNvSpPr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7" name="Google Shape;107;p2">
            <a:extLst>
              <a:ext uri="{FF2B5EF4-FFF2-40B4-BE49-F238E27FC236}">
                <a16:creationId xmlns:a16="http://schemas.microsoft.com/office/drawing/2014/main" id="{7219CC9D-242A-4E8E-93F5-D852BED951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 lnSpcReduction="10000"/>
          </a:bodyPr>
          <a:lstStyle/>
          <a:p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DESARROLLO</a:t>
            </a:r>
            <a:endParaRPr/>
          </a:p>
          <a:p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>
                <a:solidFill>
                  <a:schemeClr val="lt1"/>
                </a:solidFill>
              </a:rPr>
              <a:t>OBJETIVO</a:t>
            </a:r>
            <a:endParaRPr/>
          </a:p>
          <a:p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>
                <a:solidFill>
                  <a:schemeClr val="lt1"/>
                </a:solidFill>
              </a:rPr>
              <a:t>CREACIÓN DEL SERVIDOR REST EN JAVA</a:t>
            </a:r>
            <a:endParaRPr/>
          </a:p>
          <a:p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CONSOLA</a:t>
            </a:r>
            <a:endParaRPr/>
          </a:p>
          <a:p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ESCRITORIO</a:t>
            </a:r>
            <a:endParaRPr/>
          </a:p>
          <a:p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WEB</a:t>
            </a:r>
            <a:endParaRPr/>
          </a:p>
          <a:p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MÓVIL</a:t>
            </a:r>
            <a:endParaRPr/>
          </a:p>
          <a:p>
            <a:pPr marL="306000" marR="0" lvl="0" indent="-306000" algn="l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CONCLUSIONES</a:t>
            </a:r>
            <a:endParaRPr/>
          </a:p>
          <a:p>
            <a:pPr marL="306000" marR="0" lvl="0" indent="-306000" algn="l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RECOMENDACIONES</a:t>
            </a:r>
            <a:endParaRPr/>
          </a:p>
        </p:txBody>
      </p:sp>
      <p:sp>
        <p:nvSpPr>
          <p:cNvPr id="109" name="Google Shape;109;p2">
            <a:extLst>
              <a:ext uri="{FF2B5EF4-FFF2-40B4-BE49-F238E27FC236}">
                <a16:creationId xmlns:a16="http://schemas.microsoft.com/office/drawing/2014/main" id="{0309BD7F-22B3-49D1-8D8B-024097B8FCB9}"/>
              </a:ext>
            </a:extLst>
          </p:cNvPr>
          <p:cNvSpPr>
            <a:spLocks noGrp="1"/>
          </p:cNvSpPr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Marcador imagen S7">
            <a:extLst>
              <a:ext uri="{FF2B5EF4-FFF2-40B4-BE49-F238E27FC236}">
                <a16:creationId xmlns:a16="http://schemas.microsoft.com/office/drawing/2014/main" id="{8D7B362A-0A00-213F-FB31-A45700CF2FD4}"/>
              </a:ext>
            </a:extLst>
          </p:cNvPr>
          <p:cNvSpPr>
            <a:spLocks noGrp="1"/>
          </p:cNvSpPr>
          <p:nvPr/>
        </p:nvSpPr>
        <p:spPr>
          <a:xfrm>
            <a:off x="4714874" y="1022555"/>
            <a:ext cx="6651215" cy="4787695"/>
          </a:xfrm>
          <a:prstGeom prst="rect">
            <a:avLst/>
          </a:prstGeom>
          <a:solidFill>
            <a:srgbClr val="F1F4F8"/>
          </a:solidFill>
          <a:ln w="14288">
            <a:solidFill>
              <a:srgbClr val="73839C"/>
            </a:solidFill>
            <a:prstDash val="solid"/>
          </a:ln>
        </p:spPr>
        <p:txBody>
          <a:bodyPr/>
          <a:lstStyle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 dirty="0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lang="es-ES" sz="1275" b="1" dirty="0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Diagrama de arquitectura</a:t>
            </a:r>
            <a:endParaRPr sz="1275" b="1" dirty="0">
              <a:solidFill>
                <a:srgbClr val="1A3260"/>
              </a:solidFill>
              <a:latin typeface="Gill Sans"/>
              <a:ea typeface="Gill Sans"/>
              <a:cs typeface="Gill Sans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203FBD37-8C0D-1F3D-22FB-E6753CC62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0919" y="934720"/>
            <a:ext cx="7694802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339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>
            <a:extLst>
              <a:ext uri="{FF2B5EF4-FFF2-40B4-BE49-F238E27FC236}">
                <a16:creationId xmlns:a16="http://schemas.microsoft.com/office/drawing/2014/main" id="{81065105-8CCE-4BB9-977C-826847859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</a:p>
        </p:txBody>
      </p:sp>
      <p:sp>
        <p:nvSpPr>
          <p:cNvPr id="115" name="Google Shape;115;p3">
            <a:extLst>
              <a:ext uri="{FF2B5EF4-FFF2-40B4-BE49-F238E27FC236}">
                <a16:creationId xmlns:a16="http://schemas.microsoft.com/office/drawing/2014/main" id="{E56724D6-6BD7-435B-B435-2DE44AAB7C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>
                <a:latin typeface="Cambria"/>
                <a:ea typeface="Cambria"/>
                <a:cs typeface="Cambria"/>
              </a:rPr>
              <a:t>1.1  OBJETIVO</a:t>
            </a:r>
            <a:endParaRPr/>
          </a:p>
          <a:p>
            <a:pPr marL="342900" marR="0" lvl="0" indent="-237744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</a:endParaRPr>
          </a:p>
          <a:p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>
                <a:latin typeface="Cambria"/>
                <a:ea typeface="Cambria"/>
                <a:cs typeface="Cambria"/>
              </a:rPr>
              <a:t>Implementar un servicio REST en Java que centralice la autenticación, el catálogo y las conversiones de longitud, masa y temperatura, para que los clientes de consola, escritorio, web y Android utilicen el mismo backend sin base de datos.</a:t>
            </a:r>
          </a:p>
        </p:txBody>
      </p:sp>
      <p:sp>
        <p:nvSpPr>
          <p:cNvPr id="116" name="Google Shape;116;p3">
            <a:extLst>
              <a:ext uri="{FF2B5EF4-FFF2-40B4-BE49-F238E27FC236}">
                <a16:creationId xmlns:a16="http://schemas.microsoft.com/office/drawing/2014/main" id="{570DFF06-AF3E-421D-AF8D-C398E7B826FD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56043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2d6d00c5bd2_0_0">
            <a:extLst>
              <a:ext uri="{FF2B5EF4-FFF2-40B4-BE49-F238E27FC236}">
                <a16:creationId xmlns:a16="http://schemas.microsoft.com/office/drawing/2014/main" id="{D05DCEC7-19D9-4162-88BA-C10BE50C6864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Fondo blanco del contenido S4">
            <a:extLst>
              <a:ext uri="{FF2B5EF4-FFF2-40B4-BE49-F238E27FC236}">
                <a16:creationId xmlns:a16="http://schemas.microsoft.com/office/drawing/2014/main" id="{FEBE8162-C7F9-45F5-9521-579D2BC22C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5" name="Franja superior azul S4">
            <a:extLst>
              <a:ext uri="{FF2B5EF4-FFF2-40B4-BE49-F238E27FC236}">
                <a16:creationId xmlns:a16="http://schemas.microsoft.com/office/drawing/2014/main" id="{39D9E7EC-A762-42CC-B02E-4CDED63F63EA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6" name="Acento superior 1 S4">
            <a:extLst>
              <a:ext uri="{FF2B5EF4-FFF2-40B4-BE49-F238E27FC236}">
                <a16:creationId xmlns:a16="http://schemas.microsoft.com/office/drawing/2014/main" id="{C823ECB7-1C40-433A-854B-1C246B421CCB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7" name="Acento superior 2 S4">
            <a:extLst>
              <a:ext uri="{FF2B5EF4-FFF2-40B4-BE49-F238E27FC236}">
                <a16:creationId xmlns:a16="http://schemas.microsoft.com/office/drawing/2014/main" id="{824D7EE9-FA03-4D14-ADD0-A9EE40F1D446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8" name="Acento superior 3 S4">
            <a:extLst>
              <a:ext uri="{FF2B5EF4-FFF2-40B4-BE49-F238E27FC236}">
                <a16:creationId xmlns:a16="http://schemas.microsoft.com/office/drawing/2014/main" id="{A37A10BA-5B05-48F3-9F14-DEEF82839B1B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9" name="Título de sección S4">
            <a:extLst>
              <a:ext uri="{FF2B5EF4-FFF2-40B4-BE49-F238E27FC236}">
                <a16:creationId xmlns:a16="http://schemas.microsoft.com/office/drawing/2014/main" id="{0184A6B3-80D0-4479-AA28-DB9D8B107EFB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30" name="Título del contenido S4">
            <a:extLst>
              <a:ext uri="{FF2B5EF4-FFF2-40B4-BE49-F238E27FC236}">
                <a16:creationId xmlns:a16="http://schemas.microsoft.com/office/drawing/2014/main" id="{48D83C8D-47D9-4484-941C-E74C96FC45F0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Servidor REST en Java</a:t>
            </a:r>
          </a:p>
        </p:txBody>
      </p:sp>
      <p:sp>
        <p:nvSpPr>
          <p:cNvPr id="131" name="Texto del contenido S4">
            <a:extLst>
              <a:ext uri="{FF2B5EF4-FFF2-40B4-BE49-F238E27FC236}">
                <a16:creationId xmlns:a16="http://schemas.microsoft.com/office/drawing/2014/main" id="{2725BC22-5BBC-4C5B-A11A-C3DA98006DBE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backend Java 21 expone recursos Jakarta REST (JAX-RS) bajo /api y Maven lo empaqueta como WAR. Payara lo despliega sin base de datos.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B9B891F-04E5-E1FC-A863-1C730614D6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0125" y="2290524"/>
            <a:ext cx="3658111" cy="3410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5355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9">
            <a:extLst>
              <a:ext uri="{FF2B5EF4-FFF2-40B4-BE49-F238E27FC236}">
                <a16:creationId xmlns:a16="http://schemas.microsoft.com/office/drawing/2014/main" id="{091BF3A5-AEDB-464C-A13E-19CA7975709E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2" name="Fondo blanco del contenido S5">
            <a:extLst>
              <a:ext uri="{FF2B5EF4-FFF2-40B4-BE49-F238E27FC236}">
                <a16:creationId xmlns:a16="http://schemas.microsoft.com/office/drawing/2014/main" id="{05A93352-8CC6-462D-83BF-4FFC1458ED7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3" name="Franja superior azul S5">
            <a:extLst>
              <a:ext uri="{FF2B5EF4-FFF2-40B4-BE49-F238E27FC236}">
                <a16:creationId xmlns:a16="http://schemas.microsoft.com/office/drawing/2014/main" id="{7194CBD6-3B94-4F73-B6C6-278B32BF2DF2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4" name="Acento superior 1 S5">
            <a:extLst>
              <a:ext uri="{FF2B5EF4-FFF2-40B4-BE49-F238E27FC236}">
                <a16:creationId xmlns:a16="http://schemas.microsoft.com/office/drawing/2014/main" id="{CCDCF1EA-54D2-44F0-B851-C9C46577260C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5" name="Acento superior 2 S5">
            <a:extLst>
              <a:ext uri="{FF2B5EF4-FFF2-40B4-BE49-F238E27FC236}">
                <a16:creationId xmlns:a16="http://schemas.microsoft.com/office/drawing/2014/main" id="{ACF4D640-AFF5-4882-A3E4-C59D8143C747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6" name="Acento superior 3 S5">
            <a:extLst>
              <a:ext uri="{FF2B5EF4-FFF2-40B4-BE49-F238E27FC236}">
                <a16:creationId xmlns:a16="http://schemas.microsoft.com/office/drawing/2014/main" id="{1F5F0D56-A6A5-4B42-B5CA-4D3AC694774E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7" name="Título de sección S5">
            <a:extLst>
              <a:ext uri="{FF2B5EF4-FFF2-40B4-BE49-F238E27FC236}">
                <a16:creationId xmlns:a16="http://schemas.microsoft.com/office/drawing/2014/main" id="{A276F549-C305-44C9-9FB8-6B31E1BD8206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48" name="Título del contenido S5">
            <a:extLst>
              <a:ext uri="{FF2B5EF4-FFF2-40B4-BE49-F238E27FC236}">
                <a16:creationId xmlns:a16="http://schemas.microsoft.com/office/drawing/2014/main" id="{65565816-C780-430C-99FA-828F92C0B27C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Recursos y rutas de la API</a:t>
            </a:r>
          </a:p>
        </p:txBody>
      </p:sp>
      <p:sp>
        <p:nvSpPr>
          <p:cNvPr id="149" name="Texto del contenido S5">
            <a:extLst>
              <a:ext uri="{FF2B5EF4-FFF2-40B4-BE49-F238E27FC236}">
                <a16:creationId xmlns:a16="http://schemas.microsoft.com/office/drawing/2014/main" id="{387EF7E7-9613-4AF8-8DFB-0C9012789926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AuthResource publica /auth/login y /auth/recover; CatalogResource, /catalog/categories y sus unidades; ConversionResource, /conversions. Todo viaja en JSON.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ACE7408-1414-2611-164F-C829362562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3191" y="2000250"/>
            <a:ext cx="3959371" cy="293170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43FC8AA0-4C1E-C550-BE46-D151D51338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17" y="4931958"/>
            <a:ext cx="7162185" cy="155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889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d624313899_0_5">
            <a:extLst>
              <a:ext uri="{FF2B5EF4-FFF2-40B4-BE49-F238E27FC236}">
                <a16:creationId xmlns:a16="http://schemas.microsoft.com/office/drawing/2014/main" id="{2AC19248-6791-4B07-8F4F-4D8957F2ADBD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" name="Fondo blanco del contenido S6">
            <a:extLst>
              <a:ext uri="{FF2B5EF4-FFF2-40B4-BE49-F238E27FC236}">
                <a16:creationId xmlns:a16="http://schemas.microsoft.com/office/drawing/2014/main" id="{2F8021FE-124F-4FA4-93E0-345350EAB12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2" name="Franja superior azul S6">
            <a:extLst>
              <a:ext uri="{FF2B5EF4-FFF2-40B4-BE49-F238E27FC236}">
                <a16:creationId xmlns:a16="http://schemas.microsoft.com/office/drawing/2014/main" id="{7A968A6F-662E-4184-ABCB-A87E5C7BC1FF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3" name="Acento superior 1 S6">
            <a:extLst>
              <a:ext uri="{FF2B5EF4-FFF2-40B4-BE49-F238E27FC236}">
                <a16:creationId xmlns:a16="http://schemas.microsoft.com/office/drawing/2014/main" id="{63E17F5D-BDBB-4526-B1D2-F52610FB2E14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4" name="Acento superior 2 S6">
            <a:extLst>
              <a:ext uri="{FF2B5EF4-FFF2-40B4-BE49-F238E27FC236}">
                <a16:creationId xmlns:a16="http://schemas.microsoft.com/office/drawing/2014/main" id="{58729BF8-43D6-4B8B-AABB-99AAC1220845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5" name="Acento superior 3 S6">
            <a:extLst>
              <a:ext uri="{FF2B5EF4-FFF2-40B4-BE49-F238E27FC236}">
                <a16:creationId xmlns:a16="http://schemas.microsoft.com/office/drawing/2014/main" id="{879F4C14-BA16-4DA4-B505-3C3D77D6C9D6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6" name="Título de sección S6">
            <a:extLst>
              <a:ext uri="{FF2B5EF4-FFF2-40B4-BE49-F238E27FC236}">
                <a16:creationId xmlns:a16="http://schemas.microsoft.com/office/drawing/2014/main" id="{B4CC9BBD-B390-468A-8047-35136FE9F5B9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57" name="Título del contenido S6">
            <a:extLst>
              <a:ext uri="{FF2B5EF4-FFF2-40B4-BE49-F238E27FC236}">
                <a16:creationId xmlns:a16="http://schemas.microsoft.com/office/drawing/2014/main" id="{4EB45468-B4AE-4978-BBAF-FD0A2582B26B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Capas del servidor</a:t>
            </a:r>
          </a:p>
        </p:txBody>
      </p:sp>
      <p:sp>
        <p:nvSpPr>
          <p:cNvPr id="158" name="Texto del contenido S6">
            <a:extLst>
              <a:ext uri="{FF2B5EF4-FFF2-40B4-BE49-F238E27FC236}">
                <a16:creationId xmlns:a16="http://schemas.microsoft.com/office/drawing/2014/main" id="{67E3F2A0-262F-4D61-8759-308D34E88EF3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Los recursos REST actúan como controladores y delegan en ConversorUnidadesServices. RestResponseMapper traduce cada código de negocio a su estado HTTP.</a:t>
            </a:r>
          </a:p>
        </p:txBody>
      </p:sp>
      <p:sp>
        <p:nvSpPr>
          <p:cNvPr id="3" name="Marcador imagen S7">
            <a:extLst>
              <a:ext uri="{FF2B5EF4-FFF2-40B4-BE49-F238E27FC236}">
                <a16:creationId xmlns:a16="http://schemas.microsoft.com/office/drawing/2014/main" id="{6AC6193F-E970-47E6-33B4-F5FCC7192CA1}"/>
              </a:ext>
            </a:extLst>
          </p:cNvPr>
          <p:cNvSpPr>
            <a:spLocks noGrp="1"/>
          </p:cNvSpPr>
          <p:nvPr/>
        </p:nvSpPr>
        <p:spPr>
          <a:xfrm>
            <a:off x="4714875" y="2571750"/>
            <a:ext cx="4286250" cy="3238500"/>
          </a:xfrm>
          <a:prstGeom prst="rect">
            <a:avLst/>
          </a:prstGeom>
          <a:solidFill>
            <a:srgbClr val="F1F4F8"/>
          </a:solidFill>
          <a:ln w="14288">
            <a:solidFill>
              <a:srgbClr val="73839C"/>
            </a:solidFill>
            <a:prstDash val="solid"/>
          </a:ln>
        </p:spPr>
        <p:txBody>
          <a:bodyPr/>
          <a:lstStyle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 dirty="0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lang="es-ES" sz="1275" b="1" dirty="0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Diagrama clases</a:t>
            </a:r>
            <a:endParaRPr sz="1275" b="1" dirty="0">
              <a:solidFill>
                <a:srgbClr val="1A3260"/>
              </a:solidFill>
              <a:latin typeface="Gill Sans"/>
              <a:ea typeface="Gill Sans"/>
              <a:cs typeface="Gill Sans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A846119D-E1B0-503E-94AD-EB2B29107B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9959" y="2042160"/>
            <a:ext cx="4890642" cy="4399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088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2d624313899_0_26">
            <a:extLst>
              <a:ext uri="{FF2B5EF4-FFF2-40B4-BE49-F238E27FC236}">
                <a16:creationId xmlns:a16="http://schemas.microsoft.com/office/drawing/2014/main" id="{CA994428-09E8-46C9-B0FD-C6481B5029D7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7" name="Fondo blanco del contenido S7">
            <a:extLst>
              <a:ext uri="{FF2B5EF4-FFF2-40B4-BE49-F238E27FC236}">
                <a16:creationId xmlns:a16="http://schemas.microsoft.com/office/drawing/2014/main" id="{B6AA009B-D52D-4531-850F-F5B04C3FD1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8" name="Franja superior azul S7">
            <a:extLst>
              <a:ext uri="{FF2B5EF4-FFF2-40B4-BE49-F238E27FC236}">
                <a16:creationId xmlns:a16="http://schemas.microsoft.com/office/drawing/2014/main" id="{8EDAEAA8-9421-4E19-859A-0B826D0105A9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9" name="Acento superior 1 S7">
            <a:extLst>
              <a:ext uri="{FF2B5EF4-FFF2-40B4-BE49-F238E27FC236}">
                <a16:creationId xmlns:a16="http://schemas.microsoft.com/office/drawing/2014/main" id="{E9FA2BD7-5DB7-448E-A5C5-9FB244A090C1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0" name="Acento superior 2 S7">
            <a:extLst>
              <a:ext uri="{FF2B5EF4-FFF2-40B4-BE49-F238E27FC236}">
                <a16:creationId xmlns:a16="http://schemas.microsoft.com/office/drawing/2014/main" id="{9AC0DEAE-62BD-4802-A5A5-36B35C350676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1" name="Acento superior 3 S7">
            <a:extLst>
              <a:ext uri="{FF2B5EF4-FFF2-40B4-BE49-F238E27FC236}">
                <a16:creationId xmlns:a16="http://schemas.microsoft.com/office/drawing/2014/main" id="{793AE88A-31F2-4908-95EA-80C0C86CEE48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2" name="Título de sección S7">
            <a:extLst>
              <a:ext uri="{FF2B5EF4-FFF2-40B4-BE49-F238E27FC236}">
                <a16:creationId xmlns:a16="http://schemas.microsoft.com/office/drawing/2014/main" id="{963EB008-FB74-4C21-A7E5-88341747349C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73" name="Título del contenido S7">
            <a:extLst>
              <a:ext uri="{FF2B5EF4-FFF2-40B4-BE49-F238E27FC236}">
                <a16:creationId xmlns:a16="http://schemas.microsoft.com/office/drawing/2014/main" id="{DA61DBF0-8449-46D8-B338-29CA9DDE89DC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Autenticación y sesión</a:t>
            </a:r>
          </a:p>
        </p:txBody>
      </p:sp>
      <p:sp>
        <p:nvSpPr>
          <p:cNvPr id="174" name="Texto del contenido S7">
            <a:extLst>
              <a:ext uri="{FF2B5EF4-FFF2-40B4-BE49-F238E27FC236}">
                <a16:creationId xmlns:a16="http://schemas.microsoft.com/office/drawing/2014/main" id="{87B3DC6D-DC55-4D92-8ECD-7AD46CD249D2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Las rutas protegidas exigen Authorization: Bearer &lt;token&gt;. La sesión vence a los 15 minutos; los errores AUTH-* devuelven HTTP 401 y los demás HTTP 400.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160F9A1-5245-98F4-4D9E-2A81CECE84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5961" y="2466975"/>
            <a:ext cx="4751702" cy="3142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451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d624313899_0_71">
            <a:extLst>
              <a:ext uri="{FF2B5EF4-FFF2-40B4-BE49-F238E27FC236}">
                <a16:creationId xmlns:a16="http://schemas.microsoft.com/office/drawing/2014/main" id="{3954C951-A101-4E49-9A6C-8CD6EB773797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1" name="Fondo blanco del contenido S8">
            <a:extLst>
              <a:ext uri="{FF2B5EF4-FFF2-40B4-BE49-F238E27FC236}">
                <a16:creationId xmlns:a16="http://schemas.microsoft.com/office/drawing/2014/main" id="{6C189AB9-C3ED-481D-8602-BADF3F1621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2" name="Franja superior azul S8">
            <a:extLst>
              <a:ext uri="{FF2B5EF4-FFF2-40B4-BE49-F238E27FC236}">
                <a16:creationId xmlns:a16="http://schemas.microsoft.com/office/drawing/2014/main" id="{234A26A1-65D4-4E2F-BE42-E87C4D8F97C7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3" name="Acento superior 1 S8">
            <a:extLst>
              <a:ext uri="{FF2B5EF4-FFF2-40B4-BE49-F238E27FC236}">
                <a16:creationId xmlns:a16="http://schemas.microsoft.com/office/drawing/2014/main" id="{122B8BB6-54DB-4C20-8DF3-C554F4C94842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4" name="Acento superior 2 S8">
            <a:extLst>
              <a:ext uri="{FF2B5EF4-FFF2-40B4-BE49-F238E27FC236}">
                <a16:creationId xmlns:a16="http://schemas.microsoft.com/office/drawing/2014/main" id="{E0A5BABD-E39B-4FCC-B70F-CD38944A0771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5" name="Acento superior 3 S8">
            <a:extLst>
              <a:ext uri="{FF2B5EF4-FFF2-40B4-BE49-F238E27FC236}">
                <a16:creationId xmlns:a16="http://schemas.microsoft.com/office/drawing/2014/main" id="{4A5B759C-3307-4C11-B698-AC70362B3538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6" name="Título de sección S8">
            <a:extLst>
              <a:ext uri="{FF2B5EF4-FFF2-40B4-BE49-F238E27FC236}">
                <a16:creationId xmlns:a16="http://schemas.microsoft.com/office/drawing/2014/main" id="{7DD61F77-B9B5-4B81-A85B-686920DB3946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97" name="Título del contenido S8">
            <a:extLst>
              <a:ext uri="{FF2B5EF4-FFF2-40B4-BE49-F238E27FC236}">
                <a16:creationId xmlns:a16="http://schemas.microsoft.com/office/drawing/2014/main" id="{FAA1CFA9-594F-49A1-A793-542AE19D3BEA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Pruebas implementadas</a:t>
            </a:r>
          </a:p>
        </p:txBody>
      </p:sp>
      <p:sp>
        <p:nvSpPr>
          <p:cNvPr id="198" name="Texto del contenido S8">
            <a:extLst>
              <a:ext uri="{FF2B5EF4-FFF2-40B4-BE49-F238E27FC236}">
                <a16:creationId xmlns:a16="http://schemas.microsoft.com/office/drawing/2014/main" id="{376B1026-352A-4337-992A-FE8EA63ACAB1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proyecto incluye pruebas de autenticación, catálogo, magnitudes, validaciones y expiración, y una prueba de integración HTTP que se ejecuta con ejecutar-pruebas.ps1.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8464729-48FC-9036-D4C5-7DC3925028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3185" y="2252662"/>
            <a:ext cx="4390315" cy="180654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D7874267-EB89-EFDE-CA14-0BA7A89435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89" y="4391026"/>
            <a:ext cx="7783011" cy="1543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8907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2d624313899_0_51">
            <a:extLst>
              <a:ext uri="{FF2B5EF4-FFF2-40B4-BE49-F238E27FC236}">
                <a16:creationId xmlns:a16="http://schemas.microsoft.com/office/drawing/2014/main" id="{E90E64E7-18A9-479A-B45A-B2A907F857C9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3" name="Fondo blanco del contenido S9">
            <a:extLst>
              <a:ext uri="{FF2B5EF4-FFF2-40B4-BE49-F238E27FC236}">
                <a16:creationId xmlns:a16="http://schemas.microsoft.com/office/drawing/2014/main" id="{4079680B-A80F-4D41-A715-665D10D152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4" name="Franja superior azul S9">
            <a:extLst>
              <a:ext uri="{FF2B5EF4-FFF2-40B4-BE49-F238E27FC236}">
                <a16:creationId xmlns:a16="http://schemas.microsoft.com/office/drawing/2014/main" id="{785FE3C2-EF9B-4C50-931C-EC43D7B9E90E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5" name="Acento superior 1 S9">
            <a:extLst>
              <a:ext uri="{FF2B5EF4-FFF2-40B4-BE49-F238E27FC236}">
                <a16:creationId xmlns:a16="http://schemas.microsoft.com/office/drawing/2014/main" id="{0B257B3D-E075-44C7-8EFE-475C68A8F314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6" name="Acento superior 2 S9">
            <a:extLst>
              <a:ext uri="{FF2B5EF4-FFF2-40B4-BE49-F238E27FC236}">
                <a16:creationId xmlns:a16="http://schemas.microsoft.com/office/drawing/2014/main" id="{7A905043-0D6C-4530-847B-F5937251386E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7" name="Acento superior 3 S9">
            <a:extLst>
              <a:ext uri="{FF2B5EF4-FFF2-40B4-BE49-F238E27FC236}">
                <a16:creationId xmlns:a16="http://schemas.microsoft.com/office/drawing/2014/main" id="{6D395600-E786-4486-808E-221CB48D87BB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8" name="Título de sección S9">
            <a:extLst>
              <a:ext uri="{FF2B5EF4-FFF2-40B4-BE49-F238E27FC236}">
                <a16:creationId xmlns:a16="http://schemas.microsoft.com/office/drawing/2014/main" id="{DF095B71-FAAC-4B2B-A17A-13FCCB6176D6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29" name="Título del contenido S9">
            <a:extLst>
              <a:ext uri="{FF2B5EF4-FFF2-40B4-BE49-F238E27FC236}">
                <a16:creationId xmlns:a16="http://schemas.microsoft.com/office/drawing/2014/main" id="{1551137B-84B0-4119-B4F9-FBFC97883915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de consola Java</a:t>
            </a:r>
          </a:p>
        </p:txBody>
      </p:sp>
      <p:sp>
        <p:nvSpPr>
          <p:cNvPr id="230" name="Texto del contenido S9">
            <a:extLst>
              <a:ext uri="{FF2B5EF4-FFF2-40B4-BE49-F238E27FC236}">
                <a16:creationId xmlns:a16="http://schemas.microsoft.com/office/drawing/2014/main" id="{8DC260B4-94DC-4584-BA3F-D1BED4A91DB1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Aplicación Java 21 con Maven. Usa java.net.http.HttpClient para las peticiones y Gson para el JSON; la URL base termina en /api.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72343CC-955E-D332-5F1D-FE0C1AEB38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2038350"/>
            <a:ext cx="4277322" cy="2448267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B8A1960-D1A2-7022-B0CB-DF04B9226D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3177" y="5233903"/>
            <a:ext cx="6087325" cy="120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689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2d624313899_0_95">
            <a:extLst>
              <a:ext uri="{FF2B5EF4-FFF2-40B4-BE49-F238E27FC236}">
                <a16:creationId xmlns:a16="http://schemas.microsoft.com/office/drawing/2014/main" id="{2AA3253F-4130-44F7-83CF-A5A252952326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2" name="Fondo blanco del contenido S10">
            <a:extLst>
              <a:ext uri="{FF2B5EF4-FFF2-40B4-BE49-F238E27FC236}">
                <a16:creationId xmlns:a16="http://schemas.microsoft.com/office/drawing/2014/main" id="{59F7E05F-5BD2-4D46-A8CA-24EDF956091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3" name="Franja superior azul S10">
            <a:extLst>
              <a:ext uri="{FF2B5EF4-FFF2-40B4-BE49-F238E27FC236}">
                <a16:creationId xmlns:a16="http://schemas.microsoft.com/office/drawing/2014/main" id="{E5C3EBB8-BBC7-4565-8DC8-5B0ADF650D7F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4" name="Acento superior 1 S10">
            <a:extLst>
              <a:ext uri="{FF2B5EF4-FFF2-40B4-BE49-F238E27FC236}">
                <a16:creationId xmlns:a16="http://schemas.microsoft.com/office/drawing/2014/main" id="{88377406-CB7B-4E3F-819A-9FA28A58E923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5" name="Acento superior 2 S10">
            <a:extLst>
              <a:ext uri="{FF2B5EF4-FFF2-40B4-BE49-F238E27FC236}">
                <a16:creationId xmlns:a16="http://schemas.microsoft.com/office/drawing/2014/main" id="{E330C141-1293-43CC-BF8B-85A0FF97D8CC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6" name="Acento superior 3 S10">
            <a:extLst>
              <a:ext uri="{FF2B5EF4-FFF2-40B4-BE49-F238E27FC236}">
                <a16:creationId xmlns:a16="http://schemas.microsoft.com/office/drawing/2014/main" id="{FC6BB1D6-015C-49AB-88DE-1343AAEA8BB7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7" name="Título de sección S10">
            <a:extLst>
              <a:ext uri="{FF2B5EF4-FFF2-40B4-BE49-F238E27FC236}">
                <a16:creationId xmlns:a16="http://schemas.microsoft.com/office/drawing/2014/main" id="{3560E954-8C68-4CFE-8D25-179B62C31BF5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48" name="Título del contenido S10">
            <a:extLst>
              <a:ext uri="{FF2B5EF4-FFF2-40B4-BE49-F238E27FC236}">
                <a16:creationId xmlns:a16="http://schemas.microsoft.com/office/drawing/2014/main" id="{A15873B9-27B4-446A-9A0E-5441D5DD1BFD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 y adaptador REST</a:t>
            </a:r>
          </a:p>
        </p:txBody>
      </p:sp>
      <p:sp>
        <p:nvSpPr>
          <p:cNvPr id="249" name="Texto del contenido S10">
            <a:extLst>
              <a:ext uri="{FF2B5EF4-FFF2-40B4-BE49-F238E27FC236}">
                <a16:creationId xmlns:a16="http://schemas.microsoft.com/office/drawing/2014/main" id="{5ABE798A-5CED-4A16-B959-8C538FBD5AE0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ControladorConsola administra el flujo y la sesión. ClienteRest arma cada petición HTTP, agrega el token Bearer y normaliza la respuesta en RespuestaRest.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D8C70D9-46B9-57F0-9B7C-8532E280A9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157" y="5257716"/>
            <a:ext cx="8125959" cy="120031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0199E8B6-8AFF-1E16-0A91-191711AE12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9458" y="2377870"/>
            <a:ext cx="4913200" cy="2581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2515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d624313899_0_111">
            <a:extLst>
              <a:ext uri="{FF2B5EF4-FFF2-40B4-BE49-F238E27FC236}">
                <a16:creationId xmlns:a16="http://schemas.microsoft.com/office/drawing/2014/main" id="{445F796F-6704-4F68-81FE-91E97F4D89AC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1" name="Fondo blanco del contenido S11">
            <a:extLst>
              <a:ext uri="{FF2B5EF4-FFF2-40B4-BE49-F238E27FC236}">
                <a16:creationId xmlns:a16="http://schemas.microsoft.com/office/drawing/2014/main" id="{066CDABE-8CF3-4605-A94E-7E78BDD595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2" name="Franja superior azul S11">
            <a:extLst>
              <a:ext uri="{FF2B5EF4-FFF2-40B4-BE49-F238E27FC236}">
                <a16:creationId xmlns:a16="http://schemas.microsoft.com/office/drawing/2014/main" id="{974FAB9E-53A4-4B9E-A479-939F818BC8F0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3" name="Acento superior 1 S11">
            <a:extLst>
              <a:ext uri="{FF2B5EF4-FFF2-40B4-BE49-F238E27FC236}">
                <a16:creationId xmlns:a16="http://schemas.microsoft.com/office/drawing/2014/main" id="{CC73F015-EF3F-4BA1-AE3B-0FDA56150CDE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4" name="Acento superior 2 S11">
            <a:extLst>
              <a:ext uri="{FF2B5EF4-FFF2-40B4-BE49-F238E27FC236}">
                <a16:creationId xmlns:a16="http://schemas.microsoft.com/office/drawing/2014/main" id="{B91C1963-8731-4FDC-83CF-53539BF8CB76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5" name="Acento superior 3 S11">
            <a:extLst>
              <a:ext uri="{FF2B5EF4-FFF2-40B4-BE49-F238E27FC236}">
                <a16:creationId xmlns:a16="http://schemas.microsoft.com/office/drawing/2014/main" id="{BB60DCBA-068B-4652-901E-FE11DD67C89D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6" name="Título de sección S11">
            <a:extLst>
              <a:ext uri="{FF2B5EF4-FFF2-40B4-BE49-F238E27FC236}">
                <a16:creationId xmlns:a16="http://schemas.microsoft.com/office/drawing/2014/main" id="{F0EF4153-B8EC-42AD-B416-5368AD375ECD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57" name="Título del contenido S11">
            <a:extLst>
              <a:ext uri="{FF2B5EF4-FFF2-40B4-BE49-F238E27FC236}">
                <a16:creationId xmlns:a16="http://schemas.microsoft.com/office/drawing/2014/main" id="{5C214074-F490-45C3-A226-8079E1A1C57D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Menú y flujo de conversión</a:t>
            </a:r>
          </a:p>
        </p:txBody>
      </p:sp>
      <p:sp>
        <p:nvSpPr>
          <p:cNvPr id="258" name="Texto del contenido S11">
            <a:extLst>
              <a:ext uri="{FF2B5EF4-FFF2-40B4-BE49-F238E27FC236}">
                <a16:creationId xmlns:a16="http://schemas.microsoft.com/office/drawing/2014/main" id="{62E07DED-4413-4A93-8EB1-CAD6E1002193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La consola permite acceder, consultar categorías y unidades, convertir, cerrar la sesión y recuperar la clave. El flujo solicita categoría, origen, destino y valor.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806A4FD-DE30-766C-3896-B81CC1A515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2836" y="2533186"/>
            <a:ext cx="3057952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0186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2d624313899_0_138">
            <a:extLst>
              <a:ext uri="{FF2B5EF4-FFF2-40B4-BE49-F238E27FC236}">
                <a16:creationId xmlns:a16="http://schemas.microsoft.com/office/drawing/2014/main" id="{0B83016B-588B-4396-AB84-57263B6BE0FE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9" name="Fondo blanco del contenido S12">
            <a:extLst>
              <a:ext uri="{FF2B5EF4-FFF2-40B4-BE49-F238E27FC236}">
                <a16:creationId xmlns:a16="http://schemas.microsoft.com/office/drawing/2014/main" id="{3D104D45-7366-44DF-9022-29AF315293F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0" name="Franja superior azul S12">
            <a:extLst>
              <a:ext uri="{FF2B5EF4-FFF2-40B4-BE49-F238E27FC236}">
                <a16:creationId xmlns:a16="http://schemas.microsoft.com/office/drawing/2014/main" id="{F5BCED6D-B134-4DBA-A059-5A5F78DBEDA9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1" name="Acento superior 1 S12">
            <a:extLst>
              <a:ext uri="{FF2B5EF4-FFF2-40B4-BE49-F238E27FC236}">
                <a16:creationId xmlns:a16="http://schemas.microsoft.com/office/drawing/2014/main" id="{F4AE9DD6-B951-4FFD-BB57-44902E2AD544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2" name="Acento superior 2 S12">
            <a:extLst>
              <a:ext uri="{FF2B5EF4-FFF2-40B4-BE49-F238E27FC236}">
                <a16:creationId xmlns:a16="http://schemas.microsoft.com/office/drawing/2014/main" id="{47F52F99-CD76-4DC2-B233-8F7E9EC58BF8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3" name="Acento superior 3 S12">
            <a:extLst>
              <a:ext uri="{FF2B5EF4-FFF2-40B4-BE49-F238E27FC236}">
                <a16:creationId xmlns:a16="http://schemas.microsoft.com/office/drawing/2014/main" id="{41498AAB-6B01-494A-8968-EC569F14F7D3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4" name="Título de sección S12">
            <a:extLst>
              <a:ext uri="{FF2B5EF4-FFF2-40B4-BE49-F238E27FC236}">
                <a16:creationId xmlns:a16="http://schemas.microsoft.com/office/drawing/2014/main" id="{2F441F59-F12A-4E27-A9ED-7C13F10B38DF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65" name="Título del contenido S12">
            <a:extLst>
              <a:ext uri="{FF2B5EF4-FFF2-40B4-BE49-F238E27FC236}">
                <a16:creationId xmlns:a16="http://schemas.microsoft.com/office/drawing/2014/main" id="{650D48B8-C274-4DA7-B258-4B2AA4C4ED40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Ejecución en terminal</a:t>
            </a:r>
          </a:p>
        </p:txBody>
      </p:sp>
      <p:sp>
        <p:nvSpPr>
          <p:cNvPr id="266" name="Texto del contenido S12">
            <a:extLst>
              <a:ext uri="{FF2B5EF4-FFF2-40B4-BE49-F238E27FC236}">
                <a16:creationId xmlns:a16="http://schemas.microsoft.com/office/drawing/2014/main" id="{9350FB0F-0174-4F73-8D00-5CA9DA465C55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cliente se inicia después de desplegar el servidor. Puede usar la URL local predeterminada o recibir otra por argumento o propiedad JVM.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731E4FE-73DF-A6E6-A822-76F6396DAB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713" y="4230875"/>
            <a:ext cx="4820323" cy="236253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B59541F1-BDD1-E519-858D-DB077BE8BE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189" y="1833340"/>
            <a:ext cx="3934374" cy="3191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3228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7">
            <a:extLst>
              <a:ext uri="{FF2B5EF4-FFF2-40B4-BE49-F238E27FC236}">
                <a16:creationId xmlns:a16="http://schemas.microsoft.com/office/drawing/2014/main" id="{53344BC8-97D0-47FF-9FE0-5E6F53CCB660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0" name="Fondo blanco del contenido S13">
            <a:extLst>
              <a:ext uri="{FF2B5EF4-FFF2-40B4-BE49-F238E27FC236}">
                <a16:creationId xmlns:a16="http://schemas.microsoft.com/office/drawing/2014/main" id="{E8353AB1-05D8-4583-8B4F-11E4BF7BC37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71" name="Franja superior azul S13">
            <a:extLst>
              <a:ext uri="{FF2B5EF4-FFF2-40B4-BE49-F238E27FC236}">
                <a16:creationId xmlns:a16="http://schemas.microsoft.com/office/drawing/2014/main" id="{A970F014-3981-4295-AF5C-074DA9FF99A1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72" name="Acento superior 1 S13">
            <a:extLst>
              <a:ext uri="{FF2B5EF4-FFF2-40B4-BE49-F238E27FC236}">
                <a16:creationId xmlns:a16="http://schemas.microsoft.com/office/drawing/2014/main" id="{6635705F-A4F1-450A-86A1-A8DB12BFB8DF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73" name="Acento superior 2 S13">
            <a:extLst>
              <a:ext uri="{FF2B5EF4-FFF2-40B4-BE49-F238E27FC236}">
                <a16:creationId xmlns:a16="http://schemas.microsoft.com/office/drawing/2014/main" id="{F36396AC-0C73-4B4A-9855-CB53254F2D8F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74" name="Acento superior 3 S13">
            <a:extLst>
              <a:ext uri="{FF2B5EF4-FFF2-40B4-BE49-F238E27FC236}">
                <a16:creationId xmlns:a16="http://schemas.microsoft.com/office/drawing/2014/main" id="{2A6E6A8E-2386-45BD-BDED-6A7C8B6FA570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75" name="Título de sección S13">
            <a:extLst>
              <a:ext uri="{FF2B5EF4-FFF2-40B4-BE49-F238E27FC236}">
                <a16:creationId xmlns:a16="http://schemas.microsoft.com/office/drawing/2014/main" id="{9503FF92-5DF7-4A2B-AD4B-DF57961DC612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76" name="Título del contenido S13">
            <a:extLst>
              <a:ext uri="{FF2B5EF4-FFF2-40B4-BE49-F238E27FC236}">
                <a16:creationId xmlns:a16="http://schemas.microsoft.com/office/drawing/2014/main" id="{F92D456D-EFE7-4589-A491-8DFDEE97C861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de escritorio Swing</a:t>
            </a:r>
          </a:p>
        </p:txBody>
      </p:sp>
      <p:sp>
        <p:nvSpPr>
          <p:cNvPr id="277" name="Texto del contenido S13">
            <a:extLst>
              <a:ext uri="{FF2B5EF4-FFF2-40B4-BE49-F238E27FC236}">
                <a16:creationId xmlns:a16="http://schemas.microsoft.com/office/drawing/2014/main" id="{C2A0A331-6B4F-4620-91D0-F42258DC3557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Aplicación Java 21 con Maven. Swing presenta el acceso y las conversiones, y ClienteRest consume la misma API con HTTP y Gson.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8CAED9C-E5B4-204B-87F7-1EAB788C7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9118" y="2000250"/>
            <a:ext cx="3594668" cy="3389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0386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1974b856cc_0_109">
            <a:extLst>
              <a:ext uri="{FF2B5EF4-FFF2-40B4-BE49-F238E27FC236}">
                <a16:creationId xmlns:a16="http://schemas.microsoft.com/office/drawing/2014/main" id="{25A8BC9A-4680-448A-A288-A56B25FD6769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3" name="Fondo blanco del contenido S14">
            <a:extLst>
              <a:ext uri="{FF2B5EF4-FFF2-40B4-BE49-F238E27FC236}">
                <a16:creationId xmlns:a16="http://schemas.microsoft.com/office/drawing/2014/main" id="{D1BCD550-EE36-4FE6-8D85-C77F0F2210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4" name="Franja superior azul S14">
            <a:extLst>
              <a:ext uri="{FF2B5EF4-FFF2-40B4-BE49-F238E27FC236}">
                <a16:creationId xmlns:a16="http://schemas.microsoft.com/office/drawing/2014/main" id="{64255486-DD3D-461D-9532-2C69C96F599B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5" name="Acento superior 1 S14">
            <a:extLst>
              <a:ext uri="{FF2B5EF4-FFF2-40B4-BE49-F238E27FC236}">
                <a16:creationId xmlns:a16="http://schemas.microsoft.com/office/drawing/2014/main" id="{78AAB2DA-9D49-4D5D-8921-3053E9A1F3AC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6" name="Acento superior 2 S14">
            <a:extLst>
              <a:ext uri="{FF2B5EF4-FFF2-40B4-BE49-F238E27FC236}">
                <a16:creationId xmlns:a16="http://schemas.microsoft.com/office/drawing/2014/main" id="{50FD0B7E-9706-4B2F-8CDD-A14AAD2960B1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7" name="Acento superior 3 S14">
            <a:extLst>
              <a:ext uri="{FF2B5EF4-FFF2-40B4-BE49-F238E27FC236}">
                <a16:creationId xmlns:a16="http://schemas.microsoft.com/office/drawing/2014/main" id="{8D5DC68B-4F90-46DC-9A59-4D607096B51C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8" name="Título de sección S14">
            <a:extLst>
              <a:ext uri="{FF2B5EF4-FFF2-40B4-BE49-F238E27FC236}">
                <a16:creationId xmlns:a16="http://schemas.microsoft.com/office/drawing/2014/main" id="{915A8A62-07C4-483A-861F-2C911628DCAF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09" name="Título del contenido S14">
            <a:extLst>
              <a:ext uri="{FF2B5EF4-FFF2-40B4-BE49-F238E27FC236}">
                <a16:creationId xmlns:a16="http://schemas.microsoft.com/office/drawing/2014/main" id="{8F7BE097-96E0-445C-B49D-27C404C96705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Organización MVC</a:t>
            </a:r>
          </a:p>
        </p:txBody>
      </p:sp>
      <p:sp>
        <p:nvSpPr>
          <p:cNvPr id="310" name="Texto del contenido S14">
            <a:extLst>
              <a:ext uri="{FF2B5EF4-FFF2-40B4-BE49-F238E27FC236}">
                <a16:creationId xmlns:a16="http://schemas.microsoft.com/office/drawing/2014/main" id="{C21A0569-FCF6-48F7-AC57-10CBF9E4F32F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cliente separa modelo, vista, controlador y servicio. GestorPantallas coordina el cambio entre acceso y conversión.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CA65645-869E-7493-46C0-B1C0B7AA69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7056" y="1998106"/>
            <a:ext cx="2050995" cy="813561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701CE109-3F97-4FA8-31F0-558559563C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4125" y="3646127"/>
            <a:ext cx="5883864" cy="2754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7515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1974b856cc_0_128">
            <a:extLst>
              <a:ext uri="{FF2B5EF4-FFF2-40B4-BE49-F238E27FC236}">
                <a16:creationId xmlns:a16="http://schemas.microsoft.com/office/drawing/2014/main" id="{3F29F400-341E-4014-A454-F03E384CFDFC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1" name="Fondo blanco del contenido S15">
            <a:extLst>
              <a:ext uri="{FF2B5EF4-FFF2-40B4-BE49-F238E27FC236}">
                <a16:creationId xmlns:a16="http://schemas.microsoft.com/office/drawing/2014/main" id="{F04A68F3-4E69-4A40-98EF-B30C5CBF795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2" name="Franja superior azul S15">
            <a:extLst>
              <a:ext uri="{FF2B5EF4-FFF2-40B4-BE49-F238E27FC236}">
                <a16:creationId xmlns:a16="http://schemas.microsoft.com/office/drawing/2014/main" id="{980136AD-79F3-4E24-827B-5737D13F7C8D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3" name="Acento superior 1 S15">
            <a:extLst>
              <a:ext uri="{FF2B5EF4-FFF2-40B4-BE49-F238E27FC236}">
                <a16:creationId xmlns:a16="http://schemas.microsoft.com/office/drawing/2014/main" id="{13BC421D-CB11-4855-A166-A195A3484611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4" name="Acento superior 2 S15">
            <a:extLst>
              <a:ext uri="{FF2B5EF4-FFF2-40B4-BE49-F238E27FC236}">
                <a16:creationId xmlns:a16="http://schemas.microsoft.com/office/drawing/2014/main" id="{B4F8DD5F-0880-4DD6-8DE5-629EB823556F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5" name="Acento superior 3 S15">
            <a:extLst>
              <a:ext uri="{FF2B5EF4-FFF2-40B4-BE49-F238E27FC236}">
                <a16:creationId xmlns:a16="http://schemas.microsoft.com/office/drawing/2014/main" id="{26889F1F-1C97-4D89-B374-7460DCEFA794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6" name="Título de sección S15">
            <a:extLst>
              <a:ext uri="{FF2B5EF4-FFF2-40B4-BE49-F238E27FC236}">
                <a16:creationId xmlns:a16="http://schemas.microsoft.com/office/drawing/2014/main" id="{8F95D69A-EC92-470D-8CD9-D68C4EB537CA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17" name="Título del contenido S15">
            <a:extLst>
              <a:ext uri="{FF2B5EF4-FFF2-40B4-BE49-F238E27FC236}">
                <a16:creationId xmlns:a16="http://schemas.microsoft.com/office/drawing/2014/main" id="{BD50981D-FA04-4895-B0C1-7214CDC4F082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Vistas Swing</a:t>
            </a:r>
          </a:p>
        </p:txBody>
      </p:sp>
      <p:sp>
        <p:nvSpPr>
          <p:cNvPr id="318" name="Texto del contenido S15">
            <a:extLst>
              <a:ext uri="{FF2B5EF4-FFF2-40B4-BE49-F238E27FC236}">
                <a16:creationId xmlns:a16="http://schemas.microsoft.com/office/drawing/2014/main" id="{E2C221B4-CA45-47E1-A4B0-E708A2D4F823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LoginFrame gestiona el acceso y VentanaConversiones presenta el catálogo y los campos de conversión.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BB39D11-7012-2EE5-98BC-03D9A56643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137" y="1857375"/>
            <a:ext cx="4288345" cy="2920748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ED6210CA-0088-26B8-6438-ECA5B080D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738" y="3637127"/>
            <a:ext cx="4482756" cy="2879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2611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1974b856cc_0_137">
            <a:extLst>
              <a:ext uri="{FF2B5EF4-FFF2-40B4-BE49-F238E27FC236}">
                <a16:creationId xmlns:a16="http://schemas.microsoft.com/office/drawing/2014/main" id="{BF55C9AB-CA58-495D-A485-6A6E29EF5F42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9" name="Fondo blanco del contenido S16">
            <a:extLst>
              <a:ext uri="{FF2B5EF4-FFF2-40B4-BE49-F238E27FC236}">
                <a16:creationId xmlns:a16="http://schemas.microsoft.com/office/drawing/2014/main" id="{8338C50B-BE0E-4BA7-9248-3D9A192A09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0" name="Franja superior azul S16">
            <a:extLst>
              <a:ext uri="{FF2B5EF4-FFF2-40B4-BE49-F238E27FC236}">
                <a16:creationId xmlns:a16="http://schemas.microsoft.com/office/drawing/2014/main" id="{1A4C9852-99B3-4180-8148-40E5D8F06FA0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1" name="Acento superior 1 S16">
            <a:extLst>
              <a:ext uri="{FF2B5EF4-FFF2-40B4-BE49-F238E27FC236}">
                <a16:creationId xmlns:a16="http://schemas.microsoft.com/office/drawing/2014/main" id="{F5209612-E722-4C8B-A448-7F156DA118A2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2" name="Acento superior 2 S16">
            <a:extLst>
              <a:ext uri="{FF2B5EF4-FFF2-40B4-BE49-F238E27FC236}">
                <a16:creationId xmlns:a16="http://schemas.microsoft.com/office/drawing/2014/main" id="{94E7AC07-DD2A-4562-AFB7-9031CE72AFCC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3" name="Acento superior 3 S16">
            <a:extLst>
              <a:ext uri="{FF2B5EF4-FFF2-40B4-BE49-F238E27FC236}">
                <a16:creationId xmlns:a16="http://schemas.microsoft.com/office/drawing/2014/main" id="{9117CE3F-8EB5-4B2C-ADC6-C22EB1F0B4C6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4" name="Título de sección S16">
            <a:extLst>
              <a:ext uri="{FF2B5EF4-FFF2-40B4-BE49-F238E27FC236}">
                <a16:creationId xmlns:a16="http://schemas.microsoft.com/office/drawing/2014/main" id="{6A1086BD-8520-45A9-A9F1-FC310CB4D3BD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25" name="Título del contenido S16">
            <a:extLst>
              <a:ext uri="{FF2B5EF4-FFF2-40B4-BE49-F238E27FC236}">
                <a16:creationId xmlns:a16="http://schemas.microsoft.com/office/drawing/2014/main" id="{F6825046-BB20-40C0-A247-14041F3D2067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Inicio de sesión</a:t>
            </a:r>
          </a:p>
        </p:txBody>
      </p:sp>
      <p:sp>
        <p:nvSpPr>
          <p:cNvPr id="326" name="Texto del contenido S16">
            <a:extLst>
              <a:ext uri="{FF2B5EF4-FFF2-40B4-BE49-F238E27FC236}">
                <a16:creationId xmlns:a16="http://schemas.microsoft.com/office/drawing/2014/main" id="{FEB89C35-91CB-4EED-9598-4895667BA9D8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ControladorLogin envía las credenciales al servidor. Si la respuesta es correcta, abre la ventana de conversiones.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D1BE905-0F0F-858C-ADF0-A7387D6A32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390" y="2877228"/>
            <a:ext cx="4627110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255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d6d00c5bd2_2_19">
            <a:extLst>
              <a:ext uri="{FF2B5EF4-FFF2-40B4-BE49-F238E27FC236}">
                <a16:creationId xmlns:a16="http://schemas.microsoft.com/office/drawing/2014/main" id="{6203560E-8377-4D46-ADDB-786D0DF21847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7" name="Fondo blanco del contenido S17">
            <a:extLst>
              <a:ext uri="{FF2B5EF4-FFF2-40B4-BE49-F238E27FC236}">
                <a16:creationId xmlns:a16="http://schemas.microsoft.com/office/drawing/2014/main" id="{FC2F99F1-DAF3-45A5-888E-CBC67A32B7B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38" name="Franja superior azul S17">
            <a:extLst>
              <a:ext uri="{FF2B5EF4-FFF2-40B4-BE49-F238E27FC236}">
                <a16:creationId xmlns:a16="http://schemas.microsoft.com/office/drawing/2014/main" id="{FD6EDABC-5414-43E0-8E84-988E8AE96299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39" name="Acento superior 1 S17">
            <a:extLst>
              <a:ext uri="{FF2B5EF4-FFF2-40B4-BE49-F238E27FC236}">
                <a16:creationId xmlns:a16="http://schemas.microsoft.com/office/drawing/2014/main" id="{2821470C-6E93-456E-86E2-E8D55F140BFA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0" name="Acento superior 2 S17">
            <a:extLst>
              <a:ext uri="{FF2B5EF4-FFF2-40B4-BE49-F238E27FC236}">
                <a16:creationId xmlns:a16="http://schemas.microsoft.com/office/drawing/2014/main" id="{DB52359D-1E06-49F6-9AFE-DC1B022BF419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1" name="Acento superior 3 S17">
            <a:extLst>
              <a:ext uri="{FF2B5EF4-FFF2-40B4-BE49-F238E27FC236}">
                <a16:creationId xmlns:a16="http://schemas.microsoft.com/office/drawing/2014/main" id="{7356BA75-E89B-4C22-B8C6-0B4306D21ED6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2" name="Título de sección S17">
            <a:extLst>
              <a:ext uri="{FF2B5EF4-FFF2-40B4-BE49-F238E27FC236}">
                <a16:creationId xmlns:a16="http://schemas.microsoft.com/office/drawing/2014/main" id="{01EBA485-5451-4CF6-BCA5-7E97F1FBC93A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43" name="Título del contenido S17">
            <a:extLst>
              <a:ext uri="{FF2B5EF4-FFF2-40B4-BE49-F238E27FC236}">
                <a16:creationId xmlns:a16="http://schemas.microsoft.com/office/drawing/2014/main" id="{B0CE05B1-CFB5-4E2A-96EC-7E27BEECCA53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Pantalla de conversión</a:t>
            </a:r>
          </a:p>
        </p:txBody>
      </p:sp>
      <p:sp>
        <p:nvSpPr>
          <p:cNvPr id="344" name="Texto del contenido S17">
            <a:extLst>
              <a:ext uri="{FF2B5EF4-FFF2-40B4-BE49-F238E27FC236}">
                <a16:creationId xmlns:a16="http://schemas.microsoft.com/office/drawing/2014/main" id="{C0845671-C2D1-470C-AAEF-26A22B7120D4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Las llamadas HTTP se ejecutan en SwingWorker para mantener la interfaz disponible. El controlador envía el valor y presenta el resultado o el error recibido.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D4E71FF-4EFE-67F8-12AB-54A461F9DB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0701" y="2619375"/>
            <a:ext cx="5142210" cy="330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128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32">
            <a:extLst>
              <a:ext uri="{FF2B5EF4-FFF2-40B4-BE49-F238E27FC236}">
                <a16:creationId xmlns:a16="http://schemas.microsoft.com/office/drawing/2014/main" id="{A8C44E00-09AA-4768-873A-8A798E027439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5" name="Fondo blanco del contenido S18">
            <a:extLst>
              <a:ext uri="{FF2B5EF4-FFF2-40B4-BE49-F238E27FC236}">
                <a16:creationId xmlns:a16="http://schemas.microsoft.com/office/drawing/2014/main" id="{8DB0FE11-4700-4389-BF02-82B12E2F82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6" name="Franja superior azul S18">
            <a:extLst>
              <a:ext uri="{FF2B5EF4-FFF2-40B4-BE49-F238E27FC236}">
                <a16:creationId xmlns:a16="http://schemas.microsoft.com/office/drawing/2014/main" id="{55ACDD45-E64A-41E3-BE3F-1B852509A040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7" name="Acento superior 1 S18">
            <a:extLst>
              <a:ext uri="{FF2B5EF4-FFF2-40B4-BE49-F238E27FC236}">
                <a16:creationId xmlns:a16="http://schemas.microsoft.com/office/drawing/2014/main" id="{4542899F-0D75-4D53-B787-3207D921418D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8" name="Acento superior 2 S18">
            <a:extLst>
              <a:ext uri="{FF2B5EF4-FFF2-40B4-BE49-F238E27FC236}">
                <a16:creationId xmlns:a16="http://schemas.microsoft.com/office/drawing/2014/main" id="{4D13A0AD-5795-4C0C-8BC2-AAF0726D4C42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9" name="Acento superior 3 S18">
            <a:extLst>
              <a:ext uri="{FF2B5EF4-FFF2-40B4-BE49-F238E27FC236}">
                <a16:creationId xmlns:a16="http://schemas.microsoft.com/office/drawing/2014/main" id="{B79B3AFD-C3C8-47DE-9E2D-CBDD4017DF2F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50" name="Título de sección S18">
            <a:extLst>
              <a:ext uri="{FF2B5EF4-FFF2-40B4-BE49-F238E27FC236}">
                <a16:creationId xmlns:a16="http://schemas.microsoft.com/office/drawing/2014/main" id="{5731747B-6B51-47D8-A142-46394FB8FD9E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51" name="Título del contenido S18">
            <a:extLst>
              <a:ext uri="{FF2B5EF4-FFF2-40B4-BE49-F238E27FC236}">
                <a16:creationId xmlns:a16="http://schemas.microsoft.com/office/drawing/2014/main" id="{3B175E7E-26E7-40B5-9206-6D669B1641F9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web Java</a:t>
            </a:r>
          </a:p>
        </p:txBody>
      </p:sp>
      <p:sp>
        <p:nvSpPr>
          <p:cNvPr id="352" name="Texto del contenido S18">
            <a:extLst>
              <a:ext uri="{FF2B5EF4-FFF2-40B4-BE49-F238E27FC236}">
                <a16:creationId xmlns:a16="http://schemas.microsoft.com/office/drawing/2014/main" id="{81DAE47E-B620-4DBA-9215-55A26D3927BB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cliente usa Java 21, Servlets, JSP y Maven. Payara aloja el WAR; ClienteRest consume la API con HttpClient y JSON-B.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B7D2518-ADB6-FB28-3B40-28D4AD7D52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0187" y="2309543"/>
            <a:ext cx="3248478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3852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19782968e5_0_88">
            <a:extLst>
              <a:ext uri="{FF2B5EF4-FFF2-40B4-BE49-F238E27FC236}">
                <a16:creationId xmlns:a16="http://schemas.microsoft.com/office/drawing/2014/main" id="{55A9D044-95A5-4688-984E-E5DABE2F2393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9" name="Fondo blanco del contenido S19">
            <a:extLst>
              <a:ext uri="{FF2B5EF4-FFF2-40B4-BE49-F238E27FC236}">
                <a16:creationId xmlns:a16="http://schemas.microsoft.com/office/drawing/2014/main" id="{EDFBC877-637A-4038-BD92-26D7A91148F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0" name="Franja superior azul S19">
            <a:extLst>
              <a:ext uri="{FF2B5EF4-FFF2-40B4-BE49-F238E27FC236}">
                <a16:creationId xmlns:a16="http://schemas.microsoft.com/office/drawing/2014/main" id="{8949DE7D-96E4-493A-8731-76BE58F3436F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1" name="Acento superior 1 S19">
            <a:extLst>
              <a:ext uri="{FF2B5EF4-FFF2-40B4-BE49-F238E27FC236}">
                <a16:creationId xmlns:a16="http://schemas.microsoft.com/office/drawing/2014/main" id="{FB784D14-EBD6-4C3D-BA8F-93EE72D92C92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2" name="Acento superior 2 S19">
            <a:extLst>
              <a:ext uri="{FF2B5EF4-FFF2-40B4-BE49-F238E27FC236}">
                <a16:creationId xmlns:a16="http://schemas.microsoft.com/office/drawing/2014/main" id="{90F4C11A-FC4D-45F8-9BA1-E2C1DD7D497D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3" name="Acento superior 3 S19">
            <a:extLst>
              <a:ext uri="{FF2B5EF4-FFF2-40B4-BE49-F238E27FC236}">
                <a16:creationId xmlns:a16="http://schemas.microsoft.com/office/drawing/2014/main" id="{59C40456-CEE3-4DC4-9160-7AA051EBAB6E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4" name="Título de sección S19">
            <a:extLst>
              <a:ext uri="{FF2B5EF4-FFF2-40B4-BE49-F238E27FC236}">
                <a16:creationId xmlns:a16="http://schemas.microsoft.com/office/drawing/2014/main" id="{67355AD1-533F-4350-8699-2BFCE307850E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85" name="Título del contenido S19">
            <a:extLst>
              <a:ext uri="{FF2B5EF4-FFF2-40B4-BE49-F238E27FC236}">
                <a16:creationId xmlns:a16="http://schemas.microsoft.com/office/drawing/2014/main" id="{8458D636-3E22-4402-A773-A3072E89C4DD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Servlets y sesión HTTP</a:t>
            </a:r>
          </a:p>
        </p:txBody>
      </p:sp>
      <p:sp>
        <p:nvSpPr>
          <p:cNvPr id="386" name="Texto del contenido S19">
            <a:extLst>
              <a:ext uri="{FF2B5EF4-FFF2-40B4-BE49-F238E27FC236}">
                <a16:creationId xmlns:a16="http://schemas.microsoft.com/office/drawing/2014/main" id="{2933916A-9055-4395-866C-2B1FC38924DB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 dirty="0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Los Servlets </a:t>
            </a:r>
            <a:r>
              <a:rPr sz="1575" dirty="0" err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gestionan</a:t>
            </a:r>
            <a:r>
              <a:rPr sz="1575" dirty="0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 </a:t>
            </a:r>
            <a:r>
              <a:rPr sz="1575" dirty="0" err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acceso</a:t>
            </a:r>
            <a:r>
              <a:rPr sz="1575" dirty="0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, </a:t>
            </a:r>
            <a:r>
              <a:rPr sz="1575" dirty="0" err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recuperación</a:t>
            </a:r>
            <a:r>
              <a:rPr sz="1575" dirty="0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 y </a:t>
            </a:r>
            <a:r>
              <a:rPr sz="1575" dirty="0" err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conversiones</a:t>
            </a:r>
            <a:r>
              <a:rPr sz="1575" dirty="0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. El token Bearer se </a:t>
            </a:r>
            <a:r>
              <a:rPr sz="1575" dirty="0" err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guarda</a:t>
            </a:r>
            <a:r>
              <a:rPr sz="1575" dirty="0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 </a:t>
            </a:r>
            <a:r>
              <a:rPr sz="1575" dirty="0" err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en</a:t>
            </a:r>
            <a:r>
              <a:rPr sz="1575" dirty="0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 </a:t>
            </a:r>
            <a:r>
              <a:rPr sz="1575" dirty="0" err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sesión</a:t>
            </a:r>
            <a:r>
              <a:rPr sz="1575" dirty="0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 HTTP; </a:t>
            </a:r>
            <a:r>
              <a:rPr sz="1575" dirty="0" err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los</a:t>
            </a:r>
            <a:r>
              <a:rPr sz="1575" dirty="0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 </a:t>
            </a:r>
            <a:r>
              <a:rPr sz="1575" dirty="0" err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formularios</a:t>
            </a:r>
            <a:r>
              <a:rPr sz="1575" dirty="0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 POST </a:t>
            </a:r>
            <a:r>
              <a:rPr sz="1575" dirty="0" err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usan</a:t>
            </a:r>
            <a:r>
              <a:rPr sz="1575" dirty="0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 </a:t>
            </a:r>
            <a:r>
              <a:rPr sz="1575" dirty="0" err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protección</a:t>
            </a:r>
            <a:r>
              <a:rPr sz="1575" dirty="0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 CSRF.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5BBFE0B-E98B-5170-7FB6-486B7E75E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385" y="2177175"/>
            <a:ext cx="4760854" cy="248531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1FDEF1C-BCD0-B221-4D92-CD3FE47BC2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616" y="4591220"/>
            <a:ext cx="5069282" cy="196242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1A3B7BC0-72D4-A287-ABA3-AADDABF694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3711" y="4896465"/>
            <a:ext cx="3676046" cy="1571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388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19782968e5_0_73">
            <a:extLst>
              <a:ext uri="{FF2B5EF4-FFF2-40B4-BE49-F238E27FC236}">
                <a16:creationId xmlns:a16="http://schemas.microsoft.com/office/drawing/2014/main" id="{B913EFC6-6384-4CEE-A9BA-C09B98BF99EA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7" name="Fondo blanco del contenido S20">
            <a:extLst>
              <a:ext uri="{FF2B5EF4-FFF2-40B4-BE49-F238E27FC236}">
                <a16:creationId xmlns:a16="http://schemas.microsoft.com/office/drawing/2014/main" id="{F46A36E8-93C6-446A-BAFE-3715CF7953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8" name="Franja superior azul S20">
            <a:extLst>
              <a:ext uri="{FF2B5EF4-FFF2-40B4-BE49-F238E27FC236}">
                <a16:creationId xmlns:a16="http://schemas.microsoft.com/office/drawing/2014/main" id="{F182531A-5DA2-4155-A8DD-37298F562FE2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9" name="Acento superior 1 S20">
            <a:extLst>
              <a:ext uri="{FF2B5EF4-FFF2-40B4-BE49-F238E27FC236}">
                <a16:creationId xmlns:a16="http://schemas.microsoft.com/office/drawing/2014/main" id="{996BC4F6-D2E8-41BF-997F-5A4BFDDA9F60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90" name="Acento superior 2 S20">
            <a:extLst>
              <a:ext uri="{FF2B5EF4-FFF2-40B4-BE49-F238E27FC236}">
                <a16:creationId xmlns:a16="http://schemas.microsoft.com/office/drawing/2014/main" id="{614D5A18-6BEC-41A8-B776-4BC363481F97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91" name="Acento superior 3 S20">
            <a:extLst>
              <a:ext uri="{FF2B5EF4-FFF2-40B4-BE49-F238E27FC236}">
                <a16:creationId xmlns:a16="http://schemas.microsoft.com/office/drawing/2014/main" id="{C3249603-A2D8-4767-94DF-421D3D65952E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92" name="Título de sección S20">
            <a:extLst>
              <a:ext uri="{FF2B5EF4-FFF2-40B4-BE49-F238E27FC236}">
                <a16:creationId xmlns:a16="http://schemas.microsoft.com/office/drawing/2014/main" id="{06BAB58B-49B8-4269-A6D4-2A532B4E6E52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93" name="Título del contenido S20">
            <a:extLst>
              <a:ext uri="{FF2B5EF4-FFF2-40B4-BE49-F238E27FC236}">
                <a16:creationId xmlns:a16="http://schemas.microsoft.com/office/drawing/2014/main" id="{731B6112-11F3-4139-A333-2731F502EF49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Vistas JSP</a:t>
            </a:r>
          </a:p>
        </p:txBody>
      </p:sp>
      <p:sp>
        <p:nvSpPr>
          <p:cNvPr id="394" name="Texto del contenido S20">
            <a:extLst>
              <a:ext uri="{FF2B5EF4-FFF2-40B4-BE49-F238E27FC236}">
                <a16:creationId xmlns:a16="http://schemas.microsoft.com/office/drawing/2014/main" id="{C8B8E7C2-A084-4543-B86C-700463C4F9CC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login.jsp y recuperar-clave.jsp reciben las credenciales. conversor.jsp presenta las categorías, unidades, formulario y respuesta.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4021374-C71B-CEF5-9DAA-08847F27F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2272" y="2409825"/>
            <a:ext cx="4642023" cy="243747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645017F4-0390-254F-07E0-6226BCC6A4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50" y="3855681"/>
            <a:ext cx="4117751" cy="2794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0911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19782968e5_0_112">
            <a:extLst>
              <a:ext uri="{FF2B5EF4-FFF2-40B4-BE49-F238E27FC236}">
                <a16:creationId xmlns:a16="http://schemas.microsoft.com/office/drawing/2014/main" id="{44E84EC4-9884-4941-9CD4-209A952FCF11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3" name="Fondo blanco del contenido S21">
            <a:extLst>
              <a:ext uri="{FF2B5EF4-FFF2-40B4-BE49-F238E27FC236}">
                <a16:creationId xmlns:a16="http://schemas.microsoft.com/office/drawing/2014/main" id="{F4666D95-7C49-45A9-82E0-8272558284E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4" name="Franja superior azul S21">
            <a:extLst>
              <a:ext uri="{FF2B5EF4-FFF2-40B4-BE49-F238E27FC236}">
                <a16:creationId xmlns:a16="http://schemas.microsoft.com/office/drawing/2014/main" id="{454C65D2-0C5C-4F83-AE0B-B42CD4B58293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5" name="Acento superior 1 S21">
            <a:extLst>
              <a:ext uri="{FF2B5EF4-FFF2-40B4-BE49-F238E27FC236}">
                <a16:creationId xmlns:a16="http://schemas.microsoft.com/office/drawing/2014/main" id="{3E895756-4AE9-41E8-9ACB-4BE882A43978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6" name="Acento superior 2 S21">
            <a:extLst>
              <a:ext uri="{FF2B5EF4-FFF2-40B4-BE49-F238E27FC236}">
                <a16:creationId xmlns:a16="http://schemas.microsoft.com/office/drawing/2014/main" id="{0A715A45-5E25-4064-8D8A-36051B0B0DCE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7" name="Acento superior 3 S21">
            <a:extLst>
              <a:ext uri="{FF2B5EF4-FFF2-40B4-BE49-F238E27FC236}">
                <a16:creationId xmlns:a16="http://schemas.microsoft.com/office/drawing/2014/main" id="{EE5200EF-AADE-4BEF-B497-DBACCD30088A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8" name="Título de sección S21">
            <a:extLst>
              <a:ext uri="{FF2B5EF4-FFF2-40B4-BE49-F238E27FC236}">
                <a16:creationId xmlns:a16="http://schemas.microsoft.com/office/drawing/2014/main" id="{E715B03C-C518-405C-9818-1D30EA91CF20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09" name="Título del contenido S21">
            <a:extLst>
              <a:ext uri="{FF2B5EF4-FFF2-40B4-BE49-F238E27FC236}">
                <a16:creationId xmlns:a16="http://schemas.microsoft.com/office/drawing/2014/main" id="{B0D81D13-8B8D-4440-9F14-FBF52C138413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Despliegue en Payara</a:t>
            </a:r>
          </a:p>
        </p:txBody>
      </p:sp>
      <p:sp>
        <p:nvSpPr>
          <p:cNvPr id="410" name="Texto del contenido S21">
            <a:extLst>
              <a:ext uri="{FF2B5EF4-FFF2-40B4-BE49-F238E27FC236}">
                <a16:creationId xmlns:a16="http://schemas.microsoft.com/office/drawing/2014/main" id="{7E0F96F8-B1AC-4B1B-8BC8-1B3A10BE0FAE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Primero se despliega el servidor REST. Después se compila el cliente con Maven, se despliega su WAR y se abre el contexto web.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16F7139-691D-ECFB-793E-3C48428A69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1813" y="2209800"/>
            <a:ext cx="4401687" cy="1822134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6889D97-DBB6-3EB7-2A58-7EA2178B8F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660" y="4801523"/>
            <a:ext cx="8943976" cy="643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2591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19782968e5_0_135">
            <a:extLst>
              <a:ext uri="{FF2B5EF4-FFF2-40B4-BE49-F238E27FC236}">
                <a16:creationId xmlns:a16="http://schemas.microsoft.com/office/drawing/2014/main" id="{CB4A8B47-BE48-4A97-A917-167192DC5E20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3" name="Fondo blanco del contenido S22">
            <a:extLst>
              <a:ext uri="{FF2B5EF4-FFF2-40B4-BE49-F238E27FC236}">
                <a16:creationId xmlns:a16="http://schemas.microsoft.com/office/drawing/2014/main" id="{A64DE1DF-1F79-4094-88CE-679CC40D0B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4" name="Franja superior azul S22">
            <a:extLst>
              <a:ext uri="{FF2B5EF4-FFF2-40B4-BE49-F238E27FC236}">
                <a16:creationId xmlns:a16="http://schemas.microsoft.com/office/drawing/2014/main" id="{DB7037E4-68DE-47C2-A46E-66CDB2A7E4EF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5" name="Acento superior 1 S22">
            <a:extLst>
              <a:ext uri="{FF2B5EF4-FFF2-40B4-BE49-F238E27FC236}">
                <a16:creationId xmlns:a16="http://schemas.microsoft.com/office/drawing/2014/main" id="{F1B2D875-6CE0-4854-88C7-2830773036F9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6" name="Acento superior 2 S22">
            <a:extLst>
              <a:ext uri="{FF2B5EF4-FFF2-40B4-BE49-F238E27FC236}">
                <a16:creationId xmlns:a16="http://schemas.microsoft.com/office/drawing/2014/main" id="{68DD59A8-F1E2-4659-B216-2E9BF1FE4EB1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7" name="Acento superior 3 S22">
            <a:extLst>
              <a:ext uri="{FF2B5EF4-FFF2-40B4-BE49-F238E27FC236}">
                <a16:creationId xmlns:a16="http://schemas.microsoft.com/office/drawing/2014/main" id="{8242EAB0-7429-4545-8F3D-50732E6DCC19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8" name="Título de sección S22">
            <a:extLst>
              <a:ext uri="{FF2B5EF4-FFF2-40B4-BE49-F238E27FC236}">
                <a16:creationId xmlns:a16="http://schemas.microsoft.com/office/drawing/2014/main" id="{0C527865-BC8E-4C36-A6D5-7A70E4295345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19" name="Título del contenido S22">
            <a:extLst>
              <a:ext uri="{FF2B5EF4-FFF2-40B4-BE49-F238E27FC236}">
                <a16:creationId xmlns:a16="http://schemas.microsoft.com/office/drawing/2014/main" id="{6E8D1C57-FA02-41FC-B14A-CC31E2256F8D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Acceso web</a:t>
            </a:r>
          </a:p>
        </p:txBody>
      </p:sp>
      <p:sp>
        <p:nvSpPr>
          <p:cNvPr id="420" name="Texto del contenido S22">
            <a:extLst>
              <a:ext uri="{FF2B5EF4-FFF2-40B4-BE49-F238E27FC236}">
                <a16:creationId xmlns:a16="http://schemas.microsoft.com/office/drawing/2014/main" id="{8D0E4F10-EECF-4A05-88AE-DDF5ABF5FE9F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AutenticacionServlet invoca el servicio y guarda el token en sesión HTTP. FiltroSesion protege las rutas privadas.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D32790C-2F6C-A47A-2F05-6D97810F57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4508" y="3510117"/>
            <a:ext cx="5407646" cy="2890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5168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319782968e5_0_123">
            <a:extLst>
              <a:ext uri="{FF2B5EF4-FFF2-40B4-BE49-F238E27FC236}">
                <a16:creationId xmlns:a16="http://schemas.microsoft.com/office/drawing/2014/main" id="{66B363B7-452F-4E39-9220-1DB95D4B7AD4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1" name="Fondo blanco del contenido S23">
            <a:extLst>
              <a:ext uri="{FF2B5EF4-FFF2-40B4-BE49-F238E27FC236}">
                <a16:creationId xmlns:a16="http://schemas.microsoft.com/office/drawing/2014/main" id="{D08937AF-4F1A-4523-8922-D64D96738A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2" name="Franja superior azul S23">
            <a:extLst>
              <a:ext uri="{FF2B5EF4-FFF2-40B4-BE49-F238E27FC236}">
                <a16:creationId xmlns:a16="http://schemas.microsoft.com/office/drawing/2014/main" id="{6B08D76A-F0F5-494E-B9BE-179A68DC05AE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3" name="Acento superior 1 S23">
            <a:extLst>
              <a:ext uri="{FF2B5EF4-FFF2-40B4-BE49-F238E27FC236}">
                <a16:creationId xmlns:a16="http://schemas.microsoft.com/office/drawing/2014/main" id="{03D46EA4-0C3E-4B20-A778-513625981F32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4" name="Acento superior 2 S23">
            <a:extLst>
              <a:ext uri="{FF2B5EF4-FFF2-40B4-BE49-F238E27FC236}">
                <a16:creationId xmlns:a16="http://schemas.microsoft.com/office/drawing/2014/main" id="{C2EF3113-66FC-4DE6-8EAF-8FEB4F3FBBCD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5" name="Acento superior 3 S23">
            <a:extLst>
              <a:ext uri="{FF2B5EF4-FFF2-40B4-BE49-F238E27FC236}">
                <a16:creationId xmlns:a16="http://schemas.microsoft.com/office/drawing/2014/main" id="{5B170949-9AFA-4A27-AE76-720B400ED780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6" name="Título de sección S23">
            <a:extLst>
              <a:ext uri="{FF2B5EF4-FFF2-40B4-BE49-F238E27FC236}">
                <a16:creationId xmlns:a16="http://schemas.microsoft.com/office/drawing/2014/main" id="{0BDCB881-C54E-4E8D-98F6-353609D62FEB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27" name="Título del contenido S23">
            <a:extLst>
              <a:ext uri="{FF2B5EF4-FFF2-40B4-BE49-F238E27FC236}">
                <a16:creationId xmlns:a16="http://schemas.microsoft.com/office/drawing/2014/main" id="{79B794E5-A0B7-43E4-9C80-E187745A08C0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Conversor web</a:t>
            </a:r>
          </a:p>
        </p:txBody>
      </p:sp>
      <p:sp>
        <p:nvSpPr>
          <p:cNvPr id="428" name="Texto del contenido S23">
            <a:extLst>
              <a:ext uri="{FF2B5EF4-FFF2-40B4-BE49-F238E27FC236}">
                <a16:creationId xmlns:a16="http://schemas.microsoft.com/office/drawing/2014/main" id="{BE2B1544-39EF-4F75-9185-DEADF766B1DA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usuario selecciona categoría y unidades, ingresa el valor y envía la conversión a la API REST.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D214FFF-B53F-671C-3AF8-3B6798326D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9331" y="2770422"/>
            <a:ext cx="5276011" cy="286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9199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7">
            <a:extLst>
              <a:ext uri="{FF2B5EF4-FFF2-40B4-BE49-F238E27FC236}">
                <a16:creationId xmlns:a16="http://schemas.microsoft.com/office/drawing/2014/main" id="{F100B0FA-0D45-4CBF-9B86-20BC4457A602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3" name="Fondo blanco del contenido S24">
            <a:extLst>
              <a:ext uri="{FF2B5EF4-FFF2-40B4-BE49-F238E27FC236}">
                <a16:creationId xmlns:a16="http://schemas.microsoft.com/office/drawing/2014/main" id="{8AAD1CBB-272B-4CC8-B363-A9117DAAA0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34" name="Franja superior azul S24">
            <a:extLst>
              <a:ext uri="{FF2B5EF4-FFF2-40B4-BE49-F238E27FC236}">
                <a16:creationId xmlns:a16="http://schemas.microsoft.com/office/drawing/2014/main" id="{AF56F0A7-986E-4D23-8CCF-81CAEAD3CB9B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35" name="Acento superior 1 S24">
            <a:extLst>
              <a:ext uri="{FF2B5EF4-FFF2-40B4-BE49-F238E27FC236}">
                <a16:creationId xmlns:a16="http://schemas.microsoft.com/office/drawing/2014/main" id="{46C110C0-3A6B-47E7-9A9D-B992837C00A7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36" name="Acento superior 2 S24">
            <a:extLst>
              <a:ext uri="{FF2B5EF4-FFF2-40B4-BE49-F238E27FC236}">
                <a16:creationId xmlns:a16="http://schemas.microsoft.com/office/drawing/2014/main" id="{24B3DB4D-B729-4AD2-93BE-82E364084175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37" name="Acento superior 3 S24">
            <a:extLst>
              <a:ext uri="{FF2B5EF4-FFF2-40B4-BE49-F238E27FC236}">
                <a16:creationId xmlns:a16="http://schemas.microsoft.com/office/drawing/2014/main" id="{17DF7B68-A40E-4A03-8865-17EB7D618A59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38" name="Título de sección S24">
            <a:extLst>
              <a:ext uri="{FF2B5EF4-FFF2-40B4-BE49-F238E27FC236}">
                <a16:creationId xmlns:a16="http://schemas.microsoft.com/office/drawing/2014/main" id="{F1E10FFF-13CC-429F-B249-F15309F5DD47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39" name="Título del contenido S24">
            <a:extLst>
              <a:ext uri="{FF2B5EF4-FFF2-40B4-BE49-F238E27FC236}">
                <a16:creationId xmlns:a16="http://schemas.microsoft.com/office/drawing/2014/main" id="{062F9DEA-DD14-4465-9417-CD29B94E1395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Aplicación Android en Java</a:t>
            </a:r>
          </a:p>
        </p:txBody>
      </p:sp>
      <p:sp>
        <p:nvSpPr>
          <p:cNvPr id="440" name="Texto del contenido S24">
            <a:extLst>
              <a:ext uri="{FF2B5EF4-FFF2-40B4-BE49-F238E27FC236}">
                <a16:creationId xmlns:a16="http://schemas.microsoft.com/office/drawing/2014/main" id="{D888977A-2A6C-450F-947A-861C8FF7AB1D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cliente usa Android Studio, Gradle y Java, con compileSdk 35 y minSdk 26. Conserva las pantallas del cliente SOAP y solo cambia el adaptador de servicio.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91B5AF4-C84A-A6A7-ECCC-86724BE490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2171" y="2252662"/>
            <a:ext cx="3419282" cy="3778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9116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2d624313899_0_157">
            <a:extLst>
              <a:ext uri="{FF2B5EF4-FFF2-40B4-BE49-F238E27FC236}">
                <a16:creationId xmlns:a16="http://schemas.microsoft.com/office/drawing/2014/main" id="{A711369F-8A55-4163-8D0F-FE102980BC56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0" name="Fondo blanco del contenido S25">
            <a:extLst>
              <a:ext uri="{FF2B5EF4-FFF2-40B4-BE49-F238E27FC236}">
                <a16:creationId xmlns:a16="http://schemas.microsoft.com/office/drawing/2014/main" id="{4D6C8F5D-C850-45DE-84BD-E1D8E461094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1" name="Franja superior azul S25">
            <a:extLst>
              <a:ext uri="{FF2B5EF4-FFF2-40B4-BE49-F238E27FC236}">
                <a16:creationId xmlns:a16="http://schemas.microsoft.com/office/drawing/2014/main" id="{CC5FC4A9-80F4-4A60-8370-B9315BA5C09C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2" name="Acento superior 1 S25">
            <a:extLst>
              <a:ext uri="{FF2B5EF4-FFF2-40B4-BE49-F238E27FC236}">
                <a16:creationId xmlns:a16="http://schemas.microsoft.com/office/drawing/2014/main" id="{61875E91-B130-4570-A7F0-643E87D27A32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3" name="Acento superior 2 S25">
            <a:extLst>
              <a:ext uri="{FF2B5EF4-FFF2-40B4-BE49-F238E27FC236}">
                <a16:creationId xmlns:a16="http://schemas.microsoft.com/office/drawing/2014/main" id="{FAAFC002-C7FD-4302-8788-299E8A360B16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4" name="Acento superior 3 S25">
            <a:extLst>
              <a:ext uri="{FF2B5EF4-FFF2-40B4-BE49-F238E27FC236}">
                <a16:creationId xmlns:a16="http://schemas.microsoft.com/office/drawing/2014/main" id="{F02B3237-D721-445A-A2CE-6911459D9D39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5" name="Título de sección S25">
            <a:extLst>
              <a:ext uri="{FF2B5EF4-FFF2-40B4-BE49-F238E27FC236}">
                <a16:creationId xmlns:a16="http://schemas.microsoft.com/office/drawing/2014/main" id="{9202EAD8-21A1-4D40-9DF6-BB0082D488D2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46" name="Título del contenido S25">
            <a:extLst>
              <a:ext uri="{FF2B5EF4-FFF2-40B4-BE49-F238E27FC236}">
                <a16:creationId xmlns:a16="http://schemas.microsoft.com/office/drawing/2014/main" id="{33B885D6-0964-4F60-B871-681AB08C9F0B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MVC en Android</a:t>
            </a:r>
          </a:p>
        </p:txBody>
      </p:sp>
      <p:sp>
        <p:nvSpPr>
          <p:cNvPr id="447" name="Texto del contenido S25">
            <a:extLst>
              <a:ext uri="{FF2B5EF4-FFF2-40B4-BE49-F238E27FC236}">
                <a16:creationId xmlns:a16="http://schemas.microsoft.com/office/drawing/2014/main" id="{7DC4677D-4F3C-4637-A507-A0E20EE78668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modelo contiene sesión y respuestas. Las Activities presentan las vistas; los controladores coordinan acceso, catálogo y conversiones.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D2AFBE1-C7AB-34C5-22AE-DE4159B492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445" y="2119129"/>
            <a:ext cx="3403368" cy="323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803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2d624313899_0_172">
            <a:extLst>
              <a:ext uri="{FF2B5EF4-FFF2-40B4-BE49-F238E27FC236}">
                <a16:creationId xmlns:a16="http://schemas.microsoft.com/office/drawing/2014/main" id="{2E9E6797-8BB8-47D4-B50D-F423DED0EFF0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9" name="Fondo blanco del contenido S26">
            <a:extLst>
              <a:ext uri="{FF2B5EF4-FFF2-40B4-BE49-F238E27FC236}">
                <a16:creationId xmlns:a16="http://schemas.microsoft.com/office/drawing/2014/main" id="{D971DC92-B8DC-4031-B20C-58FDF04B92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0" name="Franja superior azul S26">
            <a:extLst>
              <a:ext uri="{FF2B5EF4-FFF2-40B4-BE49-F238E27FC236}">
                <a16:creationId xmlns:a16="http://schemas.microsoft.com/office/drawing/2014/main" id="{49C14951-6456-42BC-B3FD-775AA79B139A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1" name="Acento superior 1 S26">
            <a:extLst>
              <a:ext uri="{FF2B5EF4-FFF2-40B4-BE49-F238E27FC236}">
                <a16:creationId xmlns:a16="http://schemas.microsoft.com/office/drawing/2014/main" id="{DD5859FA-BAAD-4CA9-908C-C31A2C22F3B1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2" name="Acento superior 2 S26">
            <a:extLst>
              <a:ext uri="{FF2B5EF4-FFF2-40B4-BE49-F238E27FC236}">
                <a16:creationId xmlns:a16="http://schemas.microsoft.com/office/drawing/2014/main" id="{B44B3B89-C150-49FE-82DB-5B9527E5747F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3" name="Acento superior 3 S26">
            <a:extLst>
              <a:ext uri="{FF2B5EF4-FFF2-40B4-BE49-F238E27FC236}">
                <a16:creationId xmlns:a16="http://schemas.microsoft.com/office/drawing/2014/main" id="{8CD2E941-4D9A-423C-B53E-E2547F6C9586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4" name="Título de sección S26">
            <a:extLst>
              <a:ext uri="{FF2B5EF4-FFF2-40B4-BE49-F238E27FC236}">
                <a16:creationId xmlns:a16="http://schemas.microsoft.com/office/drawing/2014/main" id="{BE158337-47F4-43DE-815A-F1FE4355834B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55" name="Título del contenido S26">
            <a:extLst>
              <a:ext uri="{FF2B5EF4-FFF2-40B4-BE49-F238E27FC236}">
                <a16:creationId xmlns:a16="http://schemas.microsoft.com/office/drawing/2014/main" id="{9A76324D-3B57-4E4D-AB20-6DD0AAACD84B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REST para Android</a:t>
            </a:r>
          </a:p>
        </p:txBody>
      </p:sp>
      <p:sp>
        <p:nvSpPr>
          <p:cNvPr id="456" name="Texto del contenido S26">
            <a:extLst>
              <a:ext uri="{FF2B5EF4-FFF2-40B4-BE49-F238E27FC236}">
                <a16:creationId xmlns:a16="http://schemas.microsoft.com/office/drawing/2014/main" id="{50725EFB-17BE-494F-AD97-D16F71C1459F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ClienteRest usa HttpURLConnection y org.json, incluidos en Android. EjecutorAndroid realiza las llamadas fuera del hilo de interfaz.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A28F7C0-35AE-D039-B969-146DC9DE6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339" y="4008785"/>
            <a:ext cx="3627749" cy="2588218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D3A4F403-2635-CFA9-0BDB-81E33767F0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5911" y="2209800"/>
            <a:ext cx="4718069" cy="3077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6810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g2d624313899_0_193">
            <a:extLst>
              <a:ext uri="{FF2B5EF4-FFF2-40B4-BE49-F238E27FC236}">
                <a16:creationId xmlns:a16="http://schemas.microsoft.com/office/drawing/2014/main" id="{20FDCADB-3D8C-4387-AB11-ED3102F1724C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9" name="Fondo blanco del contenido S27">
            <a:extLst>
              <a:ext uri="{FF2B5EF4-FFF2-40B4-BE49-F238E27FC236}">
                <a16:creationId xmlns:a16="http://schemas.microsoft.com/office/drawing/2014/main" id="{23DB77FC-2AAD-4775-B20D-E8D88D129D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0" name="Franja superior azul S27">
            <a:extLst>
              <a:ext uri="{FF2B5EF4-FFF2-40B4-BE49-F238E27FC236}">
                <a16:creationId xmlns:a16="http://schemas.microsoft.com/office/drawing/2014/main" id="{E2166A42-A45C-455E-8FFD-4EC468C6DE8B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1" name="Acento superior 1 S27">
            <a:extLst>
              <a:ext uri="{FF2B5EF4-FFF2-40B4-BE49-F238E27FC236}">
                <a16:creationId xmlns:a16="http://schemas.microsoft.com/office/drawing/2014/main" id="{40B81B91-6483-4BD7-815F-75F0F1F708A4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2" name="Acento superior 2 S27">
            <a:extLst>
              <a:ext uri="{FF2B5EF4-FFF2-40B4-BE49-F238E27FC236}">
                <a16:creationId xmlns:a16="http://schemas.microsoft.com/office/drawing/2014/main" id="{A1BE27F7-3D75-4519-ADBE-AD853C5E7D94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3" name="Acento superior 3 S27">
            <a:extLst>
              <a:ext uri="{FF2B5EF4-FFF2-40B4-BE49-F238E27FC236}">
                <a16:creationId xmlns:a16="http://schemas.microsoft.com/office/drawing/2014/main" id="{39393A65-58AC-4323-9C64-423C56600CEA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4" name="Título de sección S27">
            <a:extLst>
              <a:ext uri="{FF2B5EF4-FFF2-40B4-BE49-F238E27FC236}">
                <a16:creationId xmlns:a16="http://schemas.microsoft.com/office/drawing/2014/main" id="{AE7C23E2-BCDB-48DE-A7E8-64862E342E25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65" name="Título del contenido S27">
            <a:extLst>
              <a:ext uri="{FF2B5EF4-FFF2-40B4-BE49-F238E27FC236}">
                <a16:creationId xmlns:a16="http://schemas.microsoft.com/office/drawing/2014/main" id="{B9A9886D-99C8-4CEF-B216-8A526E51ED0A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Pantallas Android</a:t>
            </a:r>
          </a:p>
        </p:txBody>
      </p:sp>
      <p:sp>
        <p:nvSpPr>
          <p:cNvPr id="466" name="Texto del contenido S27">
            <a:extLst>
              <a:ext uri="{FF2B5EF4-FFF2-40B4-BE49-F238E27FC236}">
                <a16:creationId xmlns:a16="http://schemas.microsoft.com/office/drawing/2014/main" id="{3AA67702-DF98-438B-ACFC-57DF882775FC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LoginActivity permite acceder y recuperar la clave. ConversionesActivity muestra el catálogo y el resultado de la operación.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F6D66632-B1CE-8BFE-47B6-74645381D2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0238" y="1920588"/>
            <a:ext cx="2161162" cy="481704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737DE230-B7B7-F147-6473-A165477968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986" y="1857375"/>
            <a:ext cx="2175527" cy="4825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9490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2d6d00c5bd2_3_16">
            <a:extLst>
              <a:ext uri="{FF2B5EF4-FFF2-40B4-BE49-F238E27FC236}">
                <a16:creationId xmlns:a16="http://schemas.microsoft.com/office/drawing/2014/main" id="{4DB5DEDD-91A5-4E5C-9887-A1A8A0CE634C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6" name="Fondo blanco del contenido S28">
            <a:extLst>
              <a:ext uri="{FF2B5EF4-FFF2-40B4-BE49-F238E27FC236}">
                <a16:creationId xmlns:a16="http://schemas.microsoft.com/office/drawing/2014/main" id="{0F8F7A9A-1844-4C9F-B713-F2B985E163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97" name="Franja superior azul S28">
            <a:extLst>
              <a:ext uri="{FF2B5EF4-FFF2-40B4-BE49-F238E27FC236}">
                <a16:creationId xmlns:a16="http://schemas.microsoft.com/office/drawing/2014/main" id="{FB4CF74C-F1D6-431F-A9FF-E666C8BC9423}"/>
              </a:ext>
            </a:extLst>
          </p:cNvPr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98" name="Acento superior 1 S28">
            <a:extLst>
              <a:ext uri="{FF2B5EF4-FFF2-40B4-BE49-F238E27FC236}">
                <a16:creationId xmlns:a16="http://schemas.microsoft.com/office/drawing/2014/main" id="{4F034B58-AD51-445B-80BA-3F077058760F}"/>
              </a:ext>
            </a:extLst>
          </p:cNvPr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99" name="Acento superior 2 S28">
            <a:extLst>
              <a:ext uri="{FF2B5EF4-FFF2-40B4-BE49-F238E27FC236}">
                <a16:creationId xmlns:a16="http://schemas.microsoft.com/office/drawing/2014/main" id="{018701D4-EC3C-4D19-96B8-15621E90109C}"/>
              </a:ext>
            </a:extLst>
          </p:cNvPr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00" name="Acento superior 3 S28">
            <a:extLst>
              <a:ext uri="{FF2B5EF4-FFF2-40B4-BE49-F238E27FC236}">
                <a16:creationId xmlns:a16="http://schemas.microsoft.com/office/drawing/2014/main" id="{ED3511A2-3B59-4F5E-9C04-72D25F2CC752}"/>
              </a:ext>
            </a:extLst>
          </p:cNvPr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01" name="Título de sección S28">
            <a:extLst>
              <a:ext uri="{FF2B5EF4-FFF2-40B4-BE49-F238E27FC236}">
                <a16:creationId xmlns:a16="http://schemas.microsoft.com/office/drawing/2014/main" id="{D87B2D20-5A02-4B88-96F7-53558BBA22BB}"/>
              </a:ext>
            </a:extLst>
          </p:cNvPr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502" name="Título del contenido S28">
            <a:extLst>
              <a:ext uri="{FF2B5EF4-FFF2-40B4-BE49-F238E27FC236}">
                <a16:creationId xmlns:a16="http://schemas.microsoft.com/office/drawing/2014/main" id="{D2BEE5D1-4017-4B39-BFD7-64096248020C}"/>
              </a:ext>
            </a:extLst>
          </p:cNvPr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Ejecución en emulador o teléfono</a:t>
            </a:r>
          </a:p>
        </p:txBody>
      </p:sp>
      <p:sp>
        <p:nvSpPr>
          <p:cNvPr id="503" name="Texto del contenido S28">
            <a:extLst>
              <a:ext uri="{FF2B5EF4-FFF2-40B4-BE49-F238E27FC236}">
                <a16:creationId xmlns:a16="http://schemas.microsoft.com/office/drawing/2014/main" id="{A8D77F2B-F7D9-495C-B797-C2356D4C639B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emulador accede al API mediante 10.0.2.2:8080. Un teléfono usa la IP local del computador en la misma red o una URL de ngrok.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E0B2950-DCF0-D840-AFE9-4D40612B3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450" y="2000250"/>
            <a:ext cx="1911089" cy="423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501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1">
            <a:extLst>
              <a:ext uri="{FF2B5EF4-FFF2-40B4-BE49-F238E27FC236}">
                <a16:creationId xmlns:a16="http://schemas.microsoft.com/office/drawing/2014/main" id="{283F3EE5-FC96-4487-B185-340D6D319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CONCLUSIONES</a:t>
            </a:r>
          </a:p>
        </p:txBody>
      </p:sp>
      <p:sp>
        <p:nvSpPr>
          <p:cNvPr id="503" name="Google Shape;503;p41">
            <a:extLst>
              <a:ext uri="{FF2B5EF4-FFF2-40B4-BE49-F238E27FC236}">
                <a16:creationId xmlns:a16="http://schemas.microsoft.com/office/drawing/2014/main" id="{681336E7-660A-4C0A-86FC-7A20E4909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/>
                <a:ea typeface="Cambria"/>
                <a:cs typeface="Cambria"/>
              </a:rPr>
              <a:t>La misma API REST sirve a cuatro clientes Java: consola, escritorio, web y Android. El servicio centraliza las reglas de autenticación, catálogo y conversión, por lo que los cálculos se ejecutan en el servidor y no se duplican en cada interfaz.</a:t>
            </a:r>
            <a:endParaRPr sz="1900"/>
          </a:p>
          <a:p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900"/>
          </a:p>
          <a:p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/>
                <a:ea typeface="Cambria"/>
                <a:cs typeface="Cambria"/>
              </a:rPr>
              <a:t>El proyecto funciona sin base de datos: las credenciales, las sesiones y el catálogo viven en memoria. Las sesiones vencen a los 15 minutos y un reinicio del servidor invalida los tokens.</a:t>
            </a:r>
            <a:endParaRPr sz="1900"/>
          </a:p>
        </p:txBody>
      </p:sp>
      <p:sp>
        <p:nvSpPr>
          <p:cNvPr id="504" name="Google Shape;504;p41">
            <a:extLst>
              <a:ext uri="{FF2B5EF4-FFF2-40B4-BE49-F238E27FC236}">
                <a16:creationId xmlns:a16="http://schemas.microsoft.com/office/drawing/2014/main" id="{777D9E80-39BB-4C10-8B65-DBA15BBB2A9C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746925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">
            <a:extLst>
              <a:ext uri="{FF2B5EF4-FFF2-40B4-BE49-F238E27FC236}">
                <a16:creationId xmlns:a16="http://schemas.microsoft.com/office/drawing/2014/main" id="{04C8B163-DCCF-4FDD-9F6C-649F6077C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RECOMENDACIONES</a:t>
            </a:r>
          </a:p>
        </p:txBody>
      </p:sp>
      <p:sp>
        <p:nvSpPr>
          <p:cNvPr id="510" name="Google Shape;510;p42">
            <a:extLst>
              <a:ext uri="{FF2B5EF4-FFF2-40B4-BE49-F238E27FC236}">
                <a16:creationId xmlns:a16="http://schemas.microsoft.com/office/drawing/2014/main" id="{6CA3BCC0-3724-43D6-A0BB-5BAB9A53E1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Configurar la URL base y las credenciales mediante propiedades JVM o archivos de configuración para cada entorno.</a:t>
            </a:r>
          </a:p>
          <a:p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endParaRPr sz="1900"/>
          </a:p>
          <a:p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Usar HTTPS cuando el servicio salga de la red de laboratorio, porque el token Bearer viaja en cada petición.</a:t>
            </a:r>
          </a:p>
          <a:p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endParaRPr sz="1900"/>
          </a:p>
          <a:p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Documentar la API con OpenAPI para mantener alineados el servidor y los clientes cuando cambien las rutas.</a:t>
            </a:r>
          </a:p>
          <a:p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endParaRPr sz="1900"/>
          </a:p>
          <a:p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Ampliar las pruebas de integración para verificar los cuatro clientes contra el mismo servidor antes de cada entrega.</a:t>
            </a:r>
          </a:p>
        </p:txBody>
      </p:sp>
      <p:sp>
        <p:nvSpPr>
          <p:cNvPr id="511" name="Google Shape;511;p42">
            <a:extLst>
              <a:ext uri="{FF2B5EF4-FFF2-40B4-BE49-F238E27FC236}">
                <a16:creationId xmlns:a16="http://schemas.microsoft.com/office/drawing/2014/main" id="{27026B6E-6479-4996-9769-C4319FDF0B01}"/>
              </a:ext>
            </a:extLst>
          </p:cNvPr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8637806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2506</Words>
  <Application>Microsoft Office PowerPoint</Application>
  <DocSecurity>0</DocSecurity>
  <PresentationFormat>Panorámica</PresentationFormat>
  <Paragraphs>424</Paragraphs>
  <Slides>30</Slides>
  <Notes>30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1" baseType="lpstr">
      <vt:lpstr>Dividendo</vt:lpstr>
      <vt:lpstr>MANUAL TÉCNICO CONVERSOR DE UNIDADES REST JAVA</vt:lpstr>
      <vt:lpstr>Presentación de PowerPoint</vt:lpstr>
      <vt:lpstr>DESARROLLO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Sebastián Parra</cp:lastModifiedBy>
  <cp:revision>8</cp:revision>
  <dcterms:created xsi:type="dcterms:W3CDTF">2026-10-23T21:16:53Z</dcterms:created>
  <dcterms:modified xsi:type="dcterms:W3CDTF">2026-10-26T22:45:45Z</dcterms:modified>
</cp:coreProperties>
</file>